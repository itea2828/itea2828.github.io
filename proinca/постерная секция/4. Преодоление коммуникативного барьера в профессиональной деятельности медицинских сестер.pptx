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3"/>
  </p:notesMasterIdLst>
  <p:handoutMasterIdLst>
    <p:handoutMasterId r:id="rId4"/>
  </p:handoutMasterIdLst>
  <p:sldIdLst>
    <p:sldId id="262" r:id="rId2"/>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76" userDrawn="1">
          <p15:clr>
            <a:srgbClr val="A4A3A4"/>
          </p15:clr>
        </p15:guide>
        <p15:guide id="2" orient="horz" pos="288">
          <p15:clr>
            <a:srgbClr val="A4A3A4"/>
          </p15:clr>
        </p15:guide>
        <p15:guide id="3" orient="horz" pos="19656" userDrawn="1">
          <p15:clr>
            <a:srgbClr val="A4A3A4"/>
          </p15:clr>
        </p15:guide>
        <p15:guide id="4" orient="horz">
          <p15:clr>
            <a:srgbClr val="A4A3A4"/>
          </p15:clr>
        </p15:guide>
        <p15:guide id="5" pos="744" userDrawn="1">
          <p15:clr>
            <a:srgbClr val="A4A3A4"/>
          </p15:clr>
        </p15:guide>
        <p15:guide id="6" pos="270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0FA5"/>
    <a:srgbClr val="241197"/>
    <a:srgbClr val="2F199B"/>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Средний стиль 3 — акцент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C2FFA5D-87B4-456A-9821-1D502468CF0F}" styleName="Стиль из темы 1 - акцент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Стиль из темы 2 - акцент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966" autoAdjust="0"/>
    <p:restoredTop sz="94249" autoAdjust="0"/>
  </p:normalViewPr>
  <p:slideViewPr>
    <p:cSldViewPr snapToGrid="0" snapToObjects="1" showGuides="1">
      <p:cViewPr varScale="1">
        <p:scale>
          <a:sx n="24" d="100"/>
          <a:sy n="24" d="100"/>
        </p:scale>
        <p:origin x="1926" y="126"/>
      </p:cViewPr>
      <p:guideLst>
        <p:guide orient="horz" pos="2976"/>
        <p:guide orient="horz" pos="288"/>
        <p:guide orient="horz" pos="19656"/>
        <p:guide orient="horz"/>
        <p:guide pos="744"/>
        <p:guide pos="2700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79" d="100"/>
          <a:sy n="79" d="100"/>
        </p:scale>
        <p:origin x="-37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12/15/2020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12/15/2020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32500" lnSpcReduction="20000"/>
          </a:bodyPr>
          <a:lstStyle/>
          <a:p>
            <a:pPr marL="0" indent="0" algn="l" rtl="0">
              <a:buFont typeface="Arial" panose="020B0604020202020204" pitchFamily="34" charset="0"/>
              <a:buNone/>
            </a:pPr>
            <a:r>
              <a:rPr lang="en-US" b="1" dirty="0"/>
              <a:t>Прочти меня:</a:t>
            </a:r>
          </a:p>
          <a:p>
            <a:pPr marL="0" indent="0" algn="l" rtl="0">
              <a:buFont typeface="Arial" panose="020B0604020202020204" pitchFamily="34" charset="0"/>
              <a:buNone/>
            </a:pPr>
            <a:endParaRPr lang="en-US" b="1" dirty="0"/>
          </a:p>
          <a:p>
            <a:pPr marL="0" indent="0" algn="l" rtl="0">
              <a:buFont typeface="Arial" panose="020B0604020202020204" pitchFamily="34" charset="0"/>
              <a:buNone/>
            </a:pPr>
            <a:r>
              <a:rPr lang="en-US" dirty="0"/>
              <a:t>* </a:t>
            </a:r>
            <a:r>
              <a:rPr lang="ru-RU" dirty="0"/>
              <a:t>Используйте </a:t>
            </a:r>
            <a:r>
              <a:rPr lang="en-US" dirty="0" err="1"/>
              <a:t>этот</a:t>
            </a:r>
            <a:r>
              <a:rPr lang="en-US" dirty="0"/>
              <a:t> шаблон соответствующим образом. </a:t>
            </a:r>
            <a:endParaRPr lang="ru-RU" dirty="0"/>
          </a:p>
          <a:p>
            <a:pPr marL="0" indent="0" algn="l" rtl="0">
              <a:buFont typeface="Arial" panose="020B0604020202020204" pitchFamily="34" charset="0"/>
              <a:buNone/>
            </a:pPr>
            <a:endParaRPr lang="ru-RU" dirty="0"/>
          </a:p>
          <a:p>
            <a:pPr marL="0" indent="0" algn="l" rtl="0">
              <a:buFont typeface="Arial" panose="020B0604020202020204" pitchFamily="34" charset="0"/>
              <a:buNone/>
            </a:pPr>
            <a:r>
              <a:rPr lang="en-US" dirty="0"/>
              <a:t>* </a:t>
            </a:r>
            <a:r>
              <a:rPr lang="en-US" dirty="0" err="1"/>
              <a:t>Заголовки</a:t>
            </a:r>
            <a:r>
              <a:rPr lang="en-US" dirty="0"/>
              <a:t> могут меняться в зависимости от типа вашего исследования. Пожалуйста, сохраните тип шрифта и размер шрифта, так как это повлияет на его внешний вид в Zoom. (</a:t>
            </a:r>
            <a:r>
              <a:rPr lang="ru-RU" b="1" dirty="0"/>
              <a:t>З</a:t>
            </a:r>
            <a:r>
              <a:rPr lang="en-US" b="1" dirty="0" err="1"/>
              <a:t>аглавие</a:t>
            </a:r>
            <a:r>
              <a:rPr lang="en-US" dirty="0"/>
              <a:t>, Calibri, жирный, 80; </a:t>
            </a:r>
            <a:r>
              <a:rPr lang="en-US" b="1" dirty="0"/>
              <a:t>Автор</a:t>
            </a:r>
            <a:r>
              <a:rPr lang="en-US" dirty="0"/>
              <a:t>, Calibri, 66; </a:t>
            </a:r>
            <a:r>
              <a:rPr lang="ru-RU" b="1" dirty="0"/>
              <a:t>Место работы</a:t>
            </a:r>
            <a:r>
              <a:rPr lang="en-US" dirty="0"/>
              <a:t>, Calibri, 44; </a:t>
            </a:r>
            <a:r>
              <a:rPr lang="en-US" b="1" dirty="0"/>
              <a:t>Подзаголовок</a:t>
            </a:r>
            <a:r>
              <a:rPr lang="en-US" dirty="0"/>
              <a:t>, Calibri, все заглавные, жирный, подчеркивание, 60; </a:t>
            </a:r>
            <a:r>
              <a:rPr lang="en-US" b="1" dirty="0"/>
              <a:t>Текст</a:t>
            </a:r>
            <a:r>
              <a:rPr lang="en-US" dirty="0"/>
              <a:t>, Calibri, 54; </a:t>
            </a:r>
            <a:r>
              <a:rPr lang="en-US" b="1" dirty="0"/>
              <a:t>Контакты</a:t>
            </a:r>
            <a:r>
              <a:rPr lang="en-US" dirty="0"/>
              <a:t>, Calibri, подчеркивание, 40, текст Calibri, 40) </a:t>
            </a:r>
            <a:endParaRPr lang="ru-RU" dirty="0"/>
          </a:p>
          <a:p>
            <a:pPr marL="0" indent="0" algn="l" rtl="0">
              <a:buFont typeface="Arial" panose="020B0604020202020204" pitchFamily="34" charset="0"/>
              <a:buNone/>
            </a:pPr>
            <a:endParaRPr lang="en-US" dirty="0"/>
          </a:p>
          <a:p>
            <a:pPr algn="l" rtl="0"/>
            <a:r>
              <a:rPr lang="en-US" dirty="0"/>
              <a:t>* Рекомендуется во время </a:t>
            </a:r>
            <a:r>
              <a:rPr lang="en-US" dirty="0" err="1"/>
              <a:t>презентации</a:t>
            </a:r>
            <a:r>
              <a:rPr lang="en-US" dirty="0"/>
              <a:t> </a:t>
            </a:r>
            <a:r>
              <a:rPr lang="ru-RU" dirty="0"/>
              <a:t>показать </a:t>
            </a:r>
            <a:r>
              <a:rPr lang="en-US" dirty="0" err="1"/>
              <a:t>ваш</a:t>
            </a:r>
            <a:r>
              <a:rPr lang="en-US" dirty="0"/>
              <a:t> </a:t>
            </a:r>
            <a:r>
              <a:rPr lang="en-US" b="1" dirty="0"/>
              <a:t>п</a:t>
            </a:r>
            <a:r>
              <a:rPr lang="ru-RU" b="1" dirty="0"/>
              <a:t>остер</a:t>
            </a:r>
            <a:r>
              <a:rPr lang="en-US" b="1" dirty="0"/>
              <a:t> и </a:t>
            </a:r>
            <a:r>
              <a:rPr lang="en-US" dirty="0"/>
              <a:t> </a:t>
            </a:r>
            <a:r>
              <a:rPr lang="en-US" b="1" dirty="0"/>
              <a:t>Zoom</a:t>
            </a:r>
            <a:r>
              <a:rPr lang="en-US" b="1" baseline="0" dirty="0"/>
              <a:t> </a:t>
            </a:r>
            <a:r>
              <a:rPr lang="ru-RU" b="0" baseline="0" dirty="0"/>
              <a:t>в</a:t>
            </a:r>
            <a:r>
              <a:rPr lang="en-US" dirty="0"/>
              <a:t> </a:t>
            </a:r>
            <a:r>
              <a:rPr lang="en-US" b="1" dirty="0"/>
              <a:t>ПОЛНОЭКРАНН</a:t>
            </a:r>
            <a:r>
              <a:rPr lang="ru-RU" b="1" dirty="0"/>
              <a:t>ОМ </a:t>
            </a:r>
            <a:r>
              <a:rPr lang="ru-RU" b="0" dirty="0"/>
              <a:t>режиме</a:t>
            </a:r>
            <a:r>
              <a:rPr lang="en-US" b="0" dirty="0"/>
              <a:t>. </a:t>
            </a:r>
          </a:p>
        </p:txBody>
      </p:sp>
      <p:sp>
        <p:nvSpPr>
          <p:cNvPr id="4" name="Slide Number Placeholder 3"/>
          <p:cNvSpPr>
            <a:spLocks noGrp="1"/>
          </p:cNvSpPr>
          <p:nvPr>
            <p:ph type="sldNum" sz="quarter" idx="5"/>
          </p:nvPr>
        </p:nvSpPr>
        <p:spPr/>
        <p:txBody>
          <a:bodyPr/>
          <a:lstStyle/>
          <a:p>
            <a:pPr algn="l" rtl="0"/>
            <a:fld id="{26A1A87D-CAF7-4BDC-A0D3-C0DBEDE81619}" type="slidenum">
              <a:rPr lang="en-US" smtClean="0"/>
              <a:pPr algn="l" rtl="0"/>
              <a:t>1</a:t>
            </a:fld>
            <a:endParaRPr lang="en-US" dirty="0"/>
          </a:p>
        </p:txBody>
      </p:sp>
    </p:spTree>
    <p:extLst>
      <p:ext uri="{BB962C8B-B14F-4D97-AF65-F5344CB8AC3E}">
        <p14:creationId xmlns:p14="http://schemas.microsoft.com/office/powerpoint/2010/main" val="2492326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36x48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1148074" y="5966815"/>
            <a:ext cx="10056813"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1148074" y="5109837"/>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1090242" y="14181956"/>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OBJECTIVES</a:t>
            </a:r>
          </a:p>
        </p:txBody>
      </p:sp>
      <p:sp>
        <p:nvSpPr>
          <p:cNvPr id="21" name="Text Placeholder 3"/>
          <p:cNvSpPr>
            <a:spLocks noGrp="1"/>
          </p:cNvSpPr>
          <p:nvPr>
            <p:ph type="body" sz="quarter" idx="21" hasCustomPrompt="1"/>
          </p:nvPr>
        </p:nvSpPr>
        <p:spPr>
          <a:xfrm>
            <a:off x="11681570" y="5939569"/>
            <a:ext cx="10048874"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681569" y="5146225"/>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207127" y="5939569"/>
            <a:ext cx="10048874"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215064" y="5146225"/>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RESULTS</a:t>
            </a:r>
          </a:p>
        </p:txBody>
      </p:sp>
      <p:sp>
        <p:nvSpPr>
          <p:cNvPr id="25" name="Text Placeholder 5"/>
          <p:cNvSpPr>
            <a:spLocks noGrp="1"/>
          </p:cNvSpPr>
          <p:nvPr>
            <p:ph type="body" sz="quarter" idx="25" hasCustomPrompt="1"/>
          </p:nvPr>
        </p:nvSpPr>
        <p:spPr>
          <a:xfrm>
            <a:off x="32763535" y="5146225"/>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32763535" y="5966815"/>
            <a:ext cx="10047018"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2763535" y="14265455"/>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32761019" y="15067976"/>
            <a:ext cx="10052050"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2763535"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2761019" y="26433446"/>
            <a:ext cx="10052050"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1083891" y="14995183"/>
            <a:ext cx="10056813"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2947817"/>
            <a:ext cx="31998968" cy="1280160"/>
          </a:xfrm>
          <a:prstGeom prst="rect">
            <a:avLst/>
          </a:prstGeom>
        </p:spPr>
        <p:txBody>
          <a:bodyPr>
            <a:normAutofit/>
          </a:bodyPr>
          <a:lstStyle>
            <a:lvl1pPr marL="0" indent="0" algn="ctr">
              <a:buFontTx/>
              <a:buNone/>
              <a:defRPr sz="4400">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1628358"/>
            <a:ext cx="31998968" cy="1280160"/>
          </a:xfrm>
          <a:prstGeom prst="rect">
            <a:avLst/>
          </a:prstGeom>
        </p:spPr>
        <p:txBody>
          <a:bodyPr anchor="t" anchorCtr="1">
            <a:normAutofit/>
          </a:bodyPr>
          <a:lstStyle>
            <a:lvl1pPr marL="0" indent="0" algn="ctr">
              <a:buFontTx/>
              <a:buNone/>
              <a:defRPr sz="6600">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209782"/>
            <a:ext cx="31998968" cy="1359394"/>
          </a:xfrm>
          <a:prstGeom prst="rect">
            <a:avLst/>
          </a:prstGeom>
        </p:spPr>
        <p:txBody>
          <a:bodyPr anchor="t" anchorCtr="1">
            <a:normAutofit/>
          </a:bodyPr>
          <a:lstStyle>
            <a:lvl1pPr marL="0" indent="0" algn="ctr">
              <a:buFontTx/>
              <a:buNone/>
              <a:defRPr sz="8000" b="1">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3545458512"/>
      </p:ext>
    </p:extLst>
  </p:cSld>
  <p:clrMapOvr>
    <a:masterClrMapping/>
  </p:clrMapOvr>
  <p:extLst>
    <p:ext uri="{DCECCB84-F9BA-43D5-87BE-67443E8EF086}">
      <p15:sldGuideLst xmlns:p15="http://schemas.microsoft.com/office/powerpoint/2012/main">
        <p15:guide id="1" orient="horz" pos="3216">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6"/>
        </a:solidFill>
        <a:effectLst/>
      </p:bgPr>
    </p:bg>
    <p:spTree>
      <p:nvGrpSpPr>
        <p:cNvPr id="1" name=""/>
        <p:cNvGrpSpPr/>
        <p:nvPr/>
      </p:nvGrpSpPr>
      <p:grpSpPr>
        <a:xfrm>
          <a:off x="0" y="0"/>
          <a:ext cx="0" cy="0"/>
          <a:chOff x="0" y="0"/>
          <a:chExt cx="0" cy="0"/>
        </a:xfrm>
      </p:grpSpPr>
      <p:sp>
        <p:nvSpPr>
          <p:cNvPr id="3" name="Rectangle 36">
            <a:extLst>
              <a:ext uri="{FF2B5EF4-FFF2-40B4-BE49-F238E27FC236}">
                <a16:creationId xmlns:a16="http://schemas.microsoft.com/office/drawing/2014/main" xmlns="" id="{946E5B6B-C0EB-774F-84E6-DB70C1B05BBB}"/>
              </a:ext>
            </a:extLst>
          </p:cNvPr>
          <p:cNvSpPr>
            <a:spLocks noChangeArrowheads="1"/>
          </p:cNvSpPr>
          <p:nvPr userDrawn="1"/>
        </p:nvSpPr>
        <p:spPr bwMode="auto">
          <a:xfrm>
            <a:off x="0" y="31191530"/>
            <a:ext cx="43891200" cy="1726870"/>
          </a:xfrm>
          <a:prstGeom prst="rect">
            <a:avLst/>
          </a:prstGeom>
          <a:solidFill>
            <a:schemeClr val="accent1">
              <a:lumMod val="50000"/>
            </a:schemeClr>
          </a:solidFill>
          <a:ln w="9525">
            <a:noFill/>
            <a:miter lim="800000"/>
            <a:headEnd/>
            <a:tailEnd/>
          </a:ln>
          <a:effectLst/>
        </p:spPr>
        <p:txBody>
          <a:bodyPr wrap="none" lIns="260086" tIns="130043" rIns="260086" bIns="130043" anchor="ctr"/>
          <a:lstStyle/>
          <a:p>
            <a:pPr>
              <a:defRPr/>
            </a:pPr>
            <a:endParaRPr lang="en-US" sz="13978" dirty="0"/>
          </a:p>
        </p:txBody>
      </p:sp>
      <p:sp>
        <p:nvSpPr>
          <p:cNvPr id="4" name="Rectangle 36">
            <a:extLst>
              <a:ext uri="{FF2B5EF4-FFF2-40B4-BE49-F238E27FC236}">
                <a16:creationId xmlns:a16="http://schemas.microsoft.com/office/drawing/2014/main" xmlns="" id="{630A12C4-97F8-4F40-B1A5-92179D7A776E}"/>
              </a:ext>
            </a:extLst>
          </p:cNvPr>
          <p:cNvSpPr>
            <a:spLocks noChangeArrowheads="1"/>
          </p:cNvSpPr>
          <p:nvPr userDrawn="1"/>
        </p:nvSpPr>
        <p:spPr bwMode="auto">
          <a:xfrm>
            <a:off x="0" y="-15834"/>
            <a:ext cx="43891200" cy="5186922"/>
          </a:xfrm>
          <a:prstGeom prst="rect">
            <a:avLst/>
          </a:prstGeom>
          <a:solidFill>
            <a:schemeClr val="accent1">
              <a:lumMod val="50000"/>
            </a:schemeClr>
          </a:solidFill>
          <a:ln w="9525">
            <a:noFill/>
            <a:miter lim="800000"/>
            <a:headEnd/>
            <a:tailEnd/>
          </a:ln>
          <a:effectLst/>
        </p:spPr>
        <p:txBody>
          <a:bodyPr wrap="none" lIns="260086" tIns="130043" rIns="260086" bIns="130043" anchor="ctr"/>
          <a:lstStyle/>
          <a:p>
            <a:pPr>
              <a:defRPr/>
            </a:pPr>
            <a:endParaRPr lang="en-US" sz="13978" dirty="0"/>
          </a:p>
        </p:txBody>
      </p:sp>
      <p:sp>
        <p:nvSpPr>
          <p:cNvPr id="5" name="Rounded Rectangle 4">
            <a:extLst>
              <a:ext uri="{FF2B5EF4-FFF2-40B4-BE49-F238E27FC236}">
                <a16:creationId xmlns:a16="http://schemas.microsoft.com/office/drawing/2014/main" xmlns="" id="{F0E3A844-C1E6-A44D-8098-DA3E856EA7D8}"/>
              </a:ext>
            </a:extLst>
          </p:cNvPr>
          <p:cNvSpPr/>
          <p:nvPr userDrawn="1"/>
        </p:nvSpPr>
        <p:spPr>
          <a:xfrm>
            <a:off x="731517" y="4135663"/>
            <a:ext cx="42428163" cy="27683945"/>
          </a:xfrm>
          <a:prstGeom prst="roundRect">
            <a:avLst>
              <a:gd name="adj" fmla="val 0"/>
            </a:avLst>
          </a:prstGeom>
          <a:solidFill>
            <a:schemeClr val="bg1"/>
          </a:solidFill>
          <a:ln w="19050">
            <a:solidFill>
              <a:schemeClr val="accent1">
                <a:lumMod val="50000"/>
              </a:schemeClr>
            </a:solidFill>
          </a:ln>
          <a:effectLst>
            <a:outerShdw blurRad="355600" sx="101000" sy="101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978"/>
          </a:p>
        </p:txBody>
      </p:sp>
      <p:sp>
        <p:nvSpPr>
          <p:cNvPr id="6" name="Text Box 14">
            <a:extLst>
              <a:ext uri="{FF2B5EF4-FFF2-40B4-BE49-F238E27FC236}">
                <a16:creationId xmlns:a16="http://schemas.microsoft.com/office/drawing/2014/main" xmlns="" id="{D39F7EEB-85E1-AB4C-AFD9-37B035A830F0}"/>
              </a:ext>
            </a:extLst>
          </p:cNvPr>
          <p:cNvSpPr txBox="1">
            <a:spLocks noChangeArrowheads="1"/>
          </p:cNvSpPr>
          <p:nvPr userDrawn="1"/>
        </p:nvSpPr>
        <p:spPr bwMode="auto">
          <a:xfrm>
            <a:off x="731517" y="32054965"/>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extLst>
      <p:ext uri="{BB962C8B-B14F-4D97-AF65-F5344CB8AC3E}">
        <p14:creationId xmlns:p14="http://schemas.microsoft.com/office/powerpoint/2010/main" val="717728416"/>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F1530E01-B262-B047-951C-9A1F3925E675}"/>
              </a:ext>
            </a:extLst>
          </p:cNvPr>
          <p:cNvSpPr>
            <a:spLocks noGrp="1"/>
          </p:cNvSpPr>
          <p:nvPr>
            <p:ph type="body" sz="quarter" idx="10"/>
          </p:nvPr>
        </p:nvSpPr>
        <p:spPr>
          <a:xfrm>
            <a:off x="1173690" y="5517745"/>
            <a:ext cx="10056813" cy="27219737"/>
          </a:xfrm>
          <a:ln>
            <a:noFill/>
          </a:ln>
        </p:spPr>
        <p:txBody>
          <a:bodyPr/>
          <a:lstStyle/>
          <a:p>
            <a:pPr marL="285750" indent="-285750">
              <a:buFont typeface="Arial" panose="020B0604020202020204" pitchFamily="34" charset="0"/>
              <a:buChar char="•"/>
            </a:pPr>
            <a:r>
              <a:rPr lang="ru-RU" sz="5400" dirty="0">
                <a:effectLst/>
                <a:latin typeface="Calibri" panose="020F0502020204030204" pitchFamily="34" charset="0"/>
                <a:ea typeface="Times New Roman" panose="02020603050405020304" pitchFamily="18" charset="0"/>
                <a:cs typeface="Calibri" panose="020F0502020204030204" pitchFamily="34" charset="0"/>
              </a:rPr>
              <a:t>Эффективная Коммуникация приводит к удовлетворенности пациентов и их здоровью (Norouzinia et al. 2016)</a:t>
            </a:r>
          </a:p>
          <a:p>
            <a:pPr marL="285750" indent="-285750">
              <a:buFont typeface="Arial" panose="020B0604020202020204" pitchFamily="34" charset="0"/>
              <a:buChar char="•"/>
            </a:pPr>
            <a:r>
              <a:rPr lang="ru-RU" sz="5400" dirty="0">
                <a:latin typeface="Calibri" panose="020F0502020204030204" pitchFamily="34" charset="0"/>
                <a:ea typeface="Times New Roman" panose="02020603050405020304" pitchFamily="18" charset="0"/>
                <a:cs typeface="Calibri" panose="020F0502020204030204" pitchFamily="34" charset="0"/>
              </a:rPr>
              <a:t>Ч</a:t>
            </a:r>
            <a:r>
              <a:rPr lang="ru-RU" sz="5400" dirty="0">
                <a:effectLst/>
                <a:latin typeface="Calibri" panose="020F0502020204030204" pitchFamily="34" charset="0"/>
                <a:ea typeface="Times New Roman" panose="02020603050405020304" pitchFamily="18" charset="0"/>
                <a:cs typeface="Calibri" panose="020F0502020204030204" pitchFamily="34" charset="0"/>
              </a:rPr>
              <a:t>асто возникают барьеры в поддержании эффективной коммуникации между медсестрами и пациентами и их семьями (Bullington et al. 2019)</a:t>
            </a:r>
          </a:p>
          <a:p>
            <a:pPr marL="285750" indent="-285750">
              <a:buFont typeface="Arial" panose="020B0604020202020204" pitchFamily="34" charset="0"/>
              <a:buChar char="•"/>
            </a:pPr>
            <a:r>
              <a:rPr lang="ru-RU" sz="5400" dirty="0">
                <a:effectLst/>
                <a:latin typeface="Calibri" panose="020F0502020204030204" pitchFamily="34" charset="0"/>
                <a:ea typeface="Times New Roman" panose="02020603050405020304" pitchFamily="18" charset="0"/>
                <a:cs typeface="Calibri" panose="020F0502020204030204" pitchFamily="34" charset="0"/>
              </a:rPr>
              <a:t>Основные области коммуникативных компетенций: мотивация, знания и навыки общения (Włoszczak-Szubzda et al. 2012)</a:t>
            </a:r>
          </a:p>
          <a:p>
            <a:pPr algn="l" rtl="0"/>
            <a:endParaRPr lang="ru-RU" sz="5400" dirty="0"/>
          </a:p>
          <a:p>
            <a:pPr algn="l" rtl="0"/>
            <a:r>
              <a:rPr lang="ru-RU" sz="5400" b="1" kern="0" dirty="0">
                <a:solidFill>
                  <a:srgbClr val="345A8A"/>
                </a:solidFill>
                <a:effectLst/>
                <a:latin typeface="Calibri" panose="020F0502020204030204" pitchFamily="34" charset="0"/>
                <a:cs typeface="Calibri" panose="020F0502020204030204" pitchFamily="34" charset="0"/>
              </a:rPr>
              <a:t>Цель исследования</a:t>
            </a:r>
            <a:r>
              <a:rPr lang="ru-KZ" sz="4000" b="1" kern="0" dirty="0">
                <a:solidFill>
                  <a:srgbClr val="345A8A"/>
                </a:solidFill>
                <a:effectLst/>
                <a:latin typeface="Calibri" panose="020F0502020204030204" pitchFamily="34" charset="0"/>
                <a:cs typeface="Calibri" panose="020F0502020204030204" pitchFamily="34" charset="0"/>
              </a:rPr>
              <a:t/>
            </a:r>
            <a:br>
              <a:rPr lang="ru-KZ" sz="4000" b="1" kern="0" dirty="0">
                <a:solidFill>
                  <a:srgbClr val="345A8A"/>
                </a:solidFill>
                <a:effectLst/>
                <a:latin typeface="Calibri" panose="020F0502020204030204" pitchFamily="34" charset="0"/>
                <a:cs typeface="Calibri" panose="020F0502020204030204" pitchFamily="34" charset="0"/>
              </a:rPr>
            </a:br>
            <a:r>
              <a:rPr lang="ru-RU" sz="5400" b="0" i="0" dirty="0">
                <a:effectLst/>
                <a:latin typeface="+mn-lt"/>
              </a:rPr>
              <a:t>Определить рекомендации для улучшения коммуникативных навыков медсестер и развить эффективное взаимодействие с медсестрами, пациентами и их семьями.</a:t>
            </a:r>
            <a:endParaRPr lang="ru-RU" sz="5400" dirty="0">
              <a:effectLst/>
              <a:latin typeface="+mn-lt"/>
              <a:ea typeface="Times New Roman" panose="02020603050405020304" pitchFamily="18" charset="0"/>
              <a:cs typeface="Calibri" panose="020F0502020204030204" pitchFamily="34" charset="0"/>
            </a:endParaRPr>
          </a:p>
          <a:p>
            <a:pPr algn="l" rtl="0"/>
            <a:r>
              <a:rPr lang="ru-RU" sz="5400" dirty="0">
                <a:effectLst/>
                <a:latin typeface="Calibri" panose="020F0502020204030204" pitchFamily="34" charset="0"/>
                <a:ea typeface="Times New Roman" panose="02020603050405020304" pitchFamily="18" charset="0"/>
                <a:cs typeface="Calibri" panose="020F0502020204030204" pitchFamily="34" charset="0"/>
              </a:rPr>
              <a:t/>
            </a:r>
            <a:br>
              <a:rPr lang="ru-RU" sz="5400" dirty="0">
                <a:effectLst/>
                <a:latin typeface="Calibri" panose="020F0502020204030204" pitchFamily="34" charset="0"/>
                <a:ea typeface="Times New Roman" panose="02020603050405020304" pitchFamily="18" charset="0"/>
                <a:cs typeface="Calibri" panose="020F0502020204030204" pitchFamily="34" charset="0"/>
              </a:rPr>
            </a:br>
            <a:r>
              <a:rPr lang="ru-RU" sz="5400" b="1" dirty="0">
                <a:solidFill>
                  <a:srgbClr val="345A8A"/>
                </a:solidFill>
                <a:effectLst/>
                <a:latin typeface="Calibri" panose="020F0502020204030204" pitchFamily="34" charset="0"/>
                <a:ea typeface="Times New Roman" panose="02020603050405020304" pitchFamily="18" charset="0"/>
                <a:cs typeface="Calibri" panose="020F0502020204030204" pitchFamily="34" charset="0"/>
              </a:rPr>
              <a:t>Исследовательский вопрос</a:t>
            </a:r>
            <a:r>
              <a:rPr lang="ru-KZ" sz="60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r>
            <a:br>
              <a:rPr lang="ru-KZ" sz="60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r>
              <a:rPr lang="ru-RU" sz="5400" b="0" i="0" dirty="0">
                <a:effectLst/>
                <a:latin typeface="+mn-lt"/>
              </a:rPr>
              <a:t>Какие коммуникативные барьеры в профессиональной деятельности медсестер препятствуют эффективной коммуникации</a:t>
            </a:r>
            <a:r>
              <a:rPr lang="ru-RU" sz="5400" dirty="0">
                <a:latin typeface="+mn-lt"/>
              </a:rPr>
              <a:t>?</a:t>
            </a:r>
            <a:endParaRPr lang="en-US" sz="5400" dirty="0">
              <a:latin typeface="+mn-lt"/>
            </a:endParaRPr>
          </a:p>
          <a:p>
            <a:pPr algn="l" rtl="0"/>
            <a:endParaRPr lang="en-US" sz="5400" dirty="0"/>
          </a:p>
        </p:txBody>
      </p:sp>
      <p:sp>
        <p:nvSpPr>
          <p:cNvPr id="3" name="Text Placeholder 2">
            <a:extLst>
              <a:ext uri="{FF2B5EF4-FFF2-40B4-BE49-F238E27FC236}">
                <a16:creationId xmlns:a16="http://schemas.microsoft.com/office/drawing/2014/main" xmlns="" id="{5670D40C-5BD0-FC47-BDCE-BDE48A160F35}"/>
              </a:ext>
            </a:extLst>
          </p:cNvPr>
          <p:cNvSpPr>
            <a:spLocks noGrp="1"/>
          </p:cNvSpPr>
          <p:nvPr>
            <p:ph type="body" sz="quarter" idx="11"/>
          </p:nvPr>
        </p:nvSpPr>
        <p:spPr>
          <a:xfrm>
            <a:off x="1204542" y="4511042"/>
            <a:ext cx="10048875" cy="1107988"/>
          </a:xfrm>
        </p:spPr>
        <p:txBody>
          <a:bodyPr/>
          <a:lstStyle/>
          <a:p>
            <a:pPr algn="l" rtl="0"/>
            <a:r>
              <a:rPr lang="en-US" sz="6000" dirty="0"/>
              <a:t>ВВЕДЕНИЕ И ЦЕЛИ </a:t>
            </a:r>
          </a:p>
        </p:txBody>
      </p:sp>
      <p:sp>
        <p:nvSpPr>
          <p:cNvPr id="5" name="Text Placeholder 4">
            <a:extLst>
              <a:ext uri="{FF2B5EF4-FFF2-40B4-BE49-F238E27FC236}">
                <a16:creationId xmlns:a16="http://schemas.microsoft.com/office/drawing/2014/main" xmlns="" id="{37463DA4-FC08-CE4D-9DCC-0E2B3981D8B6}"/>
              </a:ext>
            </a:extLst>
          </p:cNvPr>
          <p:cNvSpPr>
            <a:spLocks noGrp="1"/>
          </p:cNvSpPr>
          <p:nvPr>
            <p:ph type="body" sz="quarter" idx="21"/>
          </p:nvPr>
        </p:nvSpPr>
        <p:spPr>
          <a:xfrm>
            <a:off x="11324719" y="5517744"/>
            <a:ext cx="10366252" cy="24726747"/>
          </a:xfrm>
          <a:ln>
            <a:noFill/>
          </a:ln>
        </p:spPr>
        <p:txBody>
          <a:bodyPr/>
          <a:lstStyle/>
          <a:p>
            <a:pPr marL="0" lvl="0" indent="0" rtl="0">
              <a:spcBef>
                <a:spcPts val="0"/>
              </a:spcBef>
              <a:spcAft>
                <a:spcPts val="0"/>
              </a:spcAft>
              <a:buClr>
                <a:srgbClr val="333333"/>
              </a:buClr>
              <a:buSzPts val="2400"/>
              <a:buNone/>
            </a:pPr>
            <a:r>
              <a:rPr lang="ru-RU" sz="5400" b="1" dirty="0">
                <a:solidFill>
                  <a:srgbClr val="345A8A"/>
                </a:solidFill>
                <a:latin typeface="Calibri" panose="020F0502020204030204" pitchFamily="34" charset="0"/>
                <a:cs typeface="Calibri" panose="020F0502020204030204" pitchFamily="34" charset="0"/>
              </a:rPr>
              <a:t>Место проведения: </a:t>
            </a:r>
            <a:r>
              <a:rPr lang="ru-RU" sz="5400" dirty="0">
                <a:solidFill>
                  <a:srgbClr val="000000"/>
                </a:solidFill>
                <a:latin typeface="Calibri" panose="020F0502020204030204" pitchFamily="34" charset="0"/>
                <a:cs typeface="Calibri" panose="020F0502020204030204" pitchFamily="34" charset="0"/>
              </a:rPr>
              <a:t>Национальный научный центр материнства и детства КФ «UMC»</a:t>
            </a:r>
          </a:p>
          <a:p>
            <a:pPr marL="0" lvl="0" indent="0" rtl="0">
              <a:spcBef>
                <a:spcPts val="0"/>
              </a:spcBef>
              <a:spcAft>
                <a:spcPts val="0"/>
              </a:spcAft>
              <a:buClr>
                <a:srgbClr val="333333"/>
              </a:buClr>
              <a:buSzPts val="2400"/>
              <a:buNone/>
            </a:pPr>
            <a:endParaRPr lang="ru-RU" sz="5400" dirty="0">
              <a:latin typeface="Calibri" panose="020F0502020204030204" pitchFamily="34" charset="0"/>
              <a:cs typeface="Calibri" panose="020F0502020204030204" pitchFamily="34" charset="0"/>
            </a:endParaRPr>
          </a:p>
          <a:p>
            <a:pPr marL="0" lvl="0" indent="0" rtl="0">
              <a:spcBef>
                <a:spcPts val="0"/>
              </a:spcBef>
              <a:spcAft>
                <a:spcPts val="0"/>
              </a:spcAft>
              <a:buClr>
                <a:srgbClr val="333333"/>
              </a:buClr>
              <a:buSzPts val="2400"/>
              <a:buNone/>
            </a:pPr>
            <a:r>
              <a:rPr lang="ru-RU" sz="5400" b="1" dirty="0">
                <a:solidFill>
                  <a:srgbClr val="345A8A"/>
                </a:solidFill>
                <a:latin typeface="Calibri" panose="020F0502020204030204" pitchFamily="34" charset="0"/>
                <a:cs typeface="Calibri" panose="020F0502020204030204" pitchFamily="34" charset="0"/>
              </a:rPr>
              <a:t>Респонденты:</a:t>
            </a:r>
            <a:r>
              <a:rPr lang="ru-RU" sz="5400" dirty="0">
                <a:solidFill>
                  <a:srgbClr val="000000"/>
                </a:solidFill>
                <a:latin typeface="Calibri" panose="020F0502020204030204" pitchFamily="34" charset="0"/>
                <a:cs typeface="Calibri" panose="020F0502020204030204" pitchFamily="34" charset="0"/>
              </a:rPr>
              <a:t> </a:t>
            </a:r>
          </a:p>
          <a:p>
            <a:pPr marL="0" lvl="0" indent="0" rtl="0">
              <a:spcBef>
                <a:spcPts val="0"/>
              </a:spcBef>
              <a:spcAft>
                <a:spcPts val="0"/>
              </a:spcAft>
              <a:buClr>
                <a:srgbClr val="333333"/>
              </a:buClr>
              <a:buSzPts val="2400"/>
              <a:buNone/>
            </a:pPr>
            <a:r>
              <a:rPr lang="ru-RU" sz="5400" dirty="0">
                <a:solidFill>
                  <a:srgbClr val="000000"/>
                </a:solidFill>
                <a:latin typeface="Calibri" panose="020F0502020204030204" pitchFamily="34" charset="0"/>
                <a:cs typeface="Calibri" panose="020F0502020204030204" pitchFamily="34" charset="0"/>
              </a:rPr>
              <a:t>83 медсестры клинических отделений</a:t>
            </a:r>
          </a:p>
          <a:p>
            <a:pPr marL="0" lvl="0" indent="0" rtl="0">
              <a:spcBef>
                <a:spcPts val="0"/>
              </a:spcBef>
              <a:spcAft>
                <a:spcPts val="0"/>
              </a:spcAft>
              <a:buClr>
                <a:srgbClr val="333333"/>
              </a:buClr>
              <a:buSzPts val="2400"/>
              <a:buNone/>
            </a:pPr>
            <a:endParaRPr lang="ru-RU" sz="5400" dirty="0">
              <a:latin typeface="Calibri" panose="020F0502020204030204" pitchFamily="34" charset="0"/>
              <a:cs typeface="Calibri" panose="020F0502020204030204" pitchFamily="34" charset="0"/>
            </a:endParaRPr>
          </a:p>
          <a:p>
            <a:pPr marL="0" lvl="0" indent="0" rtl="0">
              <a:spcBef>
                <a:spcPts val="0"/>
              </a:spcBef>
              <a:spcAft>
                <a:spcPts val="0"/>
              </a:spcAft>
              <a:buClr>
                <a:srgbClr val="333333"/>
              </a:buClr>
              <a:buSzPts val="2400"/>
              <a:buNone/>
            </a:pPr>
            <a:r>
              <a:rPr lang="ru-RU" sz="5400" b="1" dirty="0">
                <a:solidFill>
                  <a:srgbClr val="345A8A"/>
                </a:solidFill>
                <a:latin typeface="Calibri" panose="020F0502020204030204" pitchFamily="34" charset="0"/>
                <a:cs typeface="Calibri" panose="020F0502020204030204" pitchFamily="34" charset="0"/>
              </a:rPr>
              <a:t>Метод исследования: </a:t>
            </a:r>
            <a:r>
              <a:rPr lang="ru-RU" sz="5400" dirty="0">
                <a:solidFill>
                  <a:srgbClr val="000000"/>
                </a:solidFill>
                <a:latin typeface="Calibri" panose="020F0502020204030204" pitchFamily="34" charset="0"/>
                <a:cs typeface="Calibri" panose="020F0502020204030204" pitchFamily="34" charset="0"/>
              </a:rPr>
              <a:t>количественное исследование</a:t>
            </a:r>
          </a:p>
          <a:p>
            <a:pPr marL="0" lvl="0" indent="0" rtl="0">
              <a:spcBef>
                <a:spcPts val="0"/>
              </a:spcBef>
              <a:spcAft>
                <a:spcPts val="0"/>
              </a:spcAft>
              <a:buClr>
                <a:srgbClr val="333333"/>
              </a:buClr>
              <a:buSzPts val="2400"/>
              <a:buNone/>
            </a:pPr>
            <a:endParaRPr lang="ru-RU" sz="5400" dirty="0">
              <a:solidFill>
                <a:srgbClr val="000000"/>
              </a:solidFill>
              <a:latin typeface="Calibri" panose="020F0502020204030204" pitchFamily="34" charset="0"/>
              <a:cs typeface="Calibri" panose="020F0502020204030204" pitchFamily="34" charset="0"/>
            </a:endParaRPr>
          </a:p>
          <a:p>
            <a:pPr marL="0" lvl="0" indent="0" rtl="0">
              <a:spcBef>
                <a:spcPts val="0"/>
              </a:spcBef>
              <a:spcAft>
                <a:spcPts val="0"/>
              </a:spcAft>
              <a:buClr>
                <a:srgbClr val="333333"/>
              </a:buClr>
              <a:buSzPts val="2400"/>
              <a:buNone/>
            </a:pPr>
            <a:r>
              <a:rPr lang="ru-RU" sz="5400" b="1" dirty="0">
                <a:solidFill>
                  <a:srgbClr val="345A8A"/>
                </a:solidFill>
                <a:latin typeface="Calibri" panose="020F0502020204030204" pitchFamily="34" charset="0"/>
                <a:cs typeface="Calibri" panose="020F0502020204030204" pitchFamily="34" charset="0"/>
              </a:rPr>
              <a:t>Сбор данных: </a:t>
            </a:r>
          </a:p>
          <a:p>
            <a:pPr marL="0" lvl="0" indent="0" rtl="0">
              <a:spcBef>
                <a:spcPts val="0"/>
              </a:spcBef>
              <a:spcAft>
                <a:spcPts val="0"/>
              </a:spcAft>
              <a:buClr>
                <a:srgbClr val="333333"/>
              </a:buClr>
              <a:buSzPts val="2400"/>
              <a:buNone/>
            </a:pPr>
            <a:r>
              <a:rPr lang="ru-RU" sz="5400" dirty="0">
                <a:solidFill>
                  <a:schemeClr val="tx1"/>
                </a:solidFill>
                <a:latin typeface="Calibri" panose="020F0502020204030204" pitchFamily="34" charset="0"/>
                <a:cs typeface="Calibri" panose="020F0502020204030204" pitchFamily="34" charset="0"/>
              </a:rPr>
              <a:t>онлайн </a:t>
            </a:r>
            <a:r>
              <a:rPr lang="ru-RU" sz="5400" dirty="0">
                <a:solidFill>
                  <a:srgbClr val="000000"/>
                </a:solidFill>
                <a:latin typeface="Calibri" panose="020F0502020204030204" pitchFamily="34" charset="0"/>
                <a:cs typeface="Calibri" panose="020F0502020204030204" pitchFamily="34" charset="0"/>
              </a:rPr>
              <a:t>анкетирование медсестер</a:t>
            </a:r>
          </a:p>
          <a:p>
            <a:pPr marL="0" lvl="0" indent="0" rtl="0">
              <a:spcBef>
                <a:spcPts val="0"/>
              </a:spcBef>
              <a:spcAft>
                <a:spcPts val="0"/>
              </a:spcAft>
              <a:buClr>
                <a:srgbClr val="333333"/>
              </a:buClr>
              <a:buSzPts val="2400"/>
              <a:buNone/>
            </a:pPr>
            <a:endParaRPr lang="ru-RU" sz="5400" dirty="0">
              <a:latin typeface="Calibri" panose="020F0502020204030204" pitchFamily="34" charset="0"/>
              <a:cs typeface="Calibri" panose="020F0502020204030204" pitchFamily="34" charset="0"/>
            </a:endParaRPr>
          </a:p>
          <a:p>
            <a:pPr marL="0" lvl="0" indent="-457200" rtl="0">
              <a:spcBef>
                <a:spcPts val="0"/>
              </a:spcBef>
              <a:spcAft>
                <a:spcPts val="0"/>
              </a:spcAft>
              <a:buClr>
                <a:srgbClr val="333333"/>
              </a:buClr>
              <a:buSzPts val="2400"/>
              <a:buNone/>
            </a:pPr>
            <a:r>
              <a:rPr lang="ru-RU" sz="5400" b="1" dirty="0">
                <a:solidFill>
                  <a:srgbClr val="345A8A"/>
                </a:solidFill>
                <a:latin typeface="Calibri" panose="020F0502020204030204" pitchFamily="34" charset="0"/>
                <a:cs typeface="Calibri" panose="020F0502020204030204" pitchFamily="34" charset="0"/>
              </a:rPr>
              <a:t>Этические вопросы: </a:t>
            </a:r>
            <a:r>
              <a:rPr lang="ru-RU" sz="5400" dirty="0">
                <a:solidFill>
                  <a:srgbClr val="000000"/>
                </a:solidFill>
                <a:latin typeface="Calibri" panose="020F0502020204030204" pitchFamily="34" charset="0"/>
                <a:cs typeface="Calibri" panose="020F0502020204030204" pitchFamily="34" charset="0"/>
              </a:rPr>
              <a:t>информированное согласие и письмо, конфиденциальность, анонимность</a:t>
            </a:r>
          </a:p>
          <a:p>
            <a:pPr marL="0" lvl="0" indent="-457200" rtl="0">
              <a:spcBef>
                <a:spcPts val="0"/>
              </a:spcBef>
              <a:spcAft>
                <a:spcPts val="0"/>
              </a:spcAft>
              <a:buClr>
                <a:srgbClr val="333333"/>
              </a:buClr>
              <a:buSzPts val="2400"/>
              <a:buNone/>
            </a:pPr>
            <a:endParaRPr lang="ru-RU" sz="5400" dirty="0">
              <a:latin typeface="Calibri" panose="020F0502020204030204" pitchFamily="34" charset="0"/>
              <a:cs typeface="Calibri" panose="020F0502020204030204" pitchFamily="34" charset="0"/>
            </a:endParaRPr>
          </a:p>
          <a:p>
            <a:pPr marL="0" lvl="0" indent="0" rtl="0">
              <a:spcBef>
                <a:spcPts val="0"/>
              </a:spcBef>
              <a:spcAft>
                <a:spcPts val="0"/>
              </a:spcAft>
              <a:buClr>
                <a:srgbClr val="333333"/>
              </a:buClr>
              <a:buSzPts val="2400"/>
              <a:buNone/>
            </a:pPr>
            <a:r>
              <a:rPr lang="ru-RU" sz="5400" b="1" dirty="0">
                <a:solidFill>
                  <a:srgbClr val="345A8A"/>
                </a:solidFill>
                <a:latin typeface="Calibri" panose="020F0502020204030204" pitchFamily="34" charset="0"/>
                <a:cs typeface="Calibri" panose="020F0502020204030204" pitchFamily="34" charset="0"/>
              </a:rPr>
              <a:t>Анализ данных: </a:t>
            </a:r>
          </a:p>
          <a:p>
            <a:pPr marL="0" lvl="0" indent="0" rtl="0">
              <a:spcBef>
                <a:spcPts val="0"/>
              </a:spcBef>
              <a:spcAft>
                <a:spcPts val="0"/>
              </a:spcAft>
              <a:buClr>
                <a:srgbClr val="333333"/>
              </a:buClr>
              <a:buSzPts val="2400"/>
              <a:buNone/>
            </a:pPr>
            <a:r>
              <a:rPr lang="ru-RU" sz="5400" dirty="0">
                <a:solidFill>
                  <a:schemeClr val="tx1"/>
                </a:solidFill>
                <a:latin typeface="Calibri" panose="020F0502020204030204" pitchFamily="34" charset="0"/>
                <a:cs typeface="Calibri" panose="020F0502020204030204" pitchFamily="34" charset="0"/>
              </a:rPr>
              <a:t>описательные </a:t>
            </a:r>
            <a:r>
              <a:rPr lang="ru-RU" sz="5400" dirty="0">
                <a:solidFill>
                  <a:srgbClr val="000000"/>
                </a:solidFill>
                <a:latin typeface="Calibri" panose="020F0502020204030204" pitchFamily="34" charset="0"/>
                <a:cs typeface="Calibri" panose="020F0502020204030204" pitchFamily="34" charset="0"/>
              </a:rPr>
              <a:t>статистические методы</a:t>
            </a:r>
          </a:p>
          <a:p>
            <a:pPr marL="0" lvl="0" indent="0" rtl="0">
              <a:spcBef>
                <a:spcPts val="0"/>
              </a:spcBef>
              <a:spcAft>
                <a:spcPts val="0"/>
              </a:spcAft>
              <a:buClr>
                <a:srgbClr val="333333"/>
              </a:buClr>
              <a:buSzPts val="2400"/>
              <a:buNone/>
            </a:pPr>
            <a:endParaRPr lang="ru-RU" sz="5400" b="1" dirty="0">
              <a:solidFill>
                <a:srgbClr val="000000"/>
              </a:solidFill>
              <a:latin typeface="Calibri" panose="020F0502020204030204" pitchFamily="34" charset="0"/>
              <a:cs typeface="Calibri" panose="020F0502020204030204" pitchFamily="34" charset="0"/>
            </a:endParaRPr>
          </a:p>
          <a:p>
            <a:pPr marL="0" lvl="0" indent="0" rtl="0">
              <a:spcBef>
                <a:spcPts val="0"/>
              </a:spcBef>
              <a:spcAft>
                <a:spcPts val="0"/>
              </a:spcAft>
              <a:buClr>
                <a:srgbClr val="333333"/>
              </a:buClr>
              <a:buSzPts val="2400"/>
              <a:buNone/>
            </a:pPr>
            <a:r>
              <a:rPr lang="ru-RU" sz="5400" b="1" dirty="0">
                <a:solidFill>
                  <a:srgbClr val="345A8A"/>
                </a:solidFill>
                <a:latin typeface="Calibri" panose="020F0502020204030204" pitchFamily="34" charset="0"/>
                <a:cs typeface="Calibri" panose="020F0502020204030204" pitchFamily="34" charset="0"/>
              </a:rPr>
              <a:t>Надежность и достоверность: </a:t>
            </a:r>
            <a:r>
              <a:rPr lang="ru-RU" sz="5400" dirty="0">
                <a:effectLst/>
                <a:latin typeface="Calibri" panose="020F0502020204030204" pitchFamily="34" charset="0"/>
                <a:ea typeface="Times New Roman" panose="02020603050405020304" pitchFamily="18" charset="0"/>
                <a:cs typeface="Calibri" panose="020F0502020204030204" pitchFamily="34" charset="0"/>
              </a:rPr>
              <a:t>утвержденная </a:t>
            </a:r>
            <a:r>
              <a:rPr lang="ru-RU" sz="54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и адаптированная </a:t>
            </a:r>
            <a:r>
              <a:rPr lang="ru-RU" sz="5400" dirty="0">
                <a:effectLst/>
                <a:latin typeface="Calibri" panose="020F0502020204030204" pitchFamily="34" charset="0"/>
                <a:ea typeface="Times New Roman" panose="02020603050405020304" pitchFamily="18" charset="0"/>
                <a:cs typeface="Calibri" panose="020F0502020204030204" pitchFamily="34" charset="0"/>
              </a:rPr>
              <a:t>к нашему исследованию а</a:t>
            </a:r>
            <a:r>
              <a:rPr lang="ru-RU" sz="5400" dirty="0">
                <a:solidFill>
                  <a:srgbClr val="000000"/>
                </a:solidFill>
                <a:latin typeface="Calibri" panose="020F0502020204030204" pitchFamily="34" charset="0"/>
                <a:cs typeface="Calibri" panose="020F0502020204030204" pitchFamily="34" charset="0"/>
              </a:rPr>
              <a:t>нкета </a:t>
            </a:r>
            <a:r>
              <a:rPr lang="ru-RU" sz="54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r>
              <a:rPr lang="ru-RU" sz="5400" dirty="0">
                <a:solidFill>
                  <a:srgbClr val="222222"/>
                </a:solidFill>
                <a:effectLst/>
                <a:latin typeface="Calibri" panose="020F0502020204030204" pitchFamily="34" charset="0"/>
                <a:ea typeface="Times New Roman" panose="02020603050405020304" pitchFamily="18" charset="0"/>
                <a:cs typeface="Calibri" panose="020F0502020204030204" pitchFamily="34" charset="0"/>
              </a:rPr>
              <a:t>Aghabarary et al</a:t>
            </a:r>
            <a:r>
              <a:rPr lang="ru-RU" sz="54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2009)</a:t>
            </a:r>
            <a:r>
              <a:rPr lang="ru-RU" sz="5400" dirty="0">
                <a:solidFill>
                  <a:srgbClr val="000000"/>
                </a:solidFill>
                <a:latin typeface="Calibri" panose="020F0502020204030204" pitchFamily="34" charset="0"/>
                <a:cs typeface="Calibri" panose="020F0502020204030204" pitchFamily="34" charset="0"/>
              </a:rPr>
              <a:t> </a:t>
            </a:r>
            <a:endParaRPr lang="ru-KZ" sz="5400" dirty="0">
              <a:latin typeface="Calibri" panose="020F0502020204030204" pitchFamily="34" charset="0"/>
              <a:cs typeface="Calibri" panose="020F0502020204030204" pitchFamily="34" charset="0"/>
            </a:endParaRPr>
          </a:p>
          <a:p>
            <a:pPr rtl="0"/>
            <a:r>
              <a:rPr lang="en-US" sz="5400" dirty="0"/>
              <a:t> </a:t>
            </a:r>
          </a:p>
        </p:txBody>
      </p:sp>
      <p:sp>
        <p:nvSpPr>
          <p:cNvPr id="6" name="Text Placeholder 5">
            <a:extLst>
              <a:ext uri="{FF2B5EF4-FFF2-40B4-BE49-F238E27FC236}">
                <a16:creationId xmlns:a16="http://schemas.microsoft.com/office/drawing/2014/main" xmlns="" id="{46B6BEA9-4297-E841-A5DF-3FC5A8689F40}"/>
              </a:ext>
            </a:extLst>
          </p:cNvPr>
          <p:cNvSpPr>
            <a:spLocks noGrp="1"/>
          </p:cNvSpPr>
          <p:nvPr>
            <p:ph type="body" sz="quarter" idx="22"/>
          </p:nvPr>
        </p:nvSpPr>
        <p:spPr>
          <a:xfrm>
            <a:off x="11483407" y="4547430"/>
            <a:ext cx="10048875" cy="1107988"/>
          </a:xfrm>
        </p:spPr>
        <p:txBody>
          <a:bodyPr/>
          <a:lstStyle/>
          <a:p>
            <a:pPr algn="l" rtl="0"/>
            <a:r>
              <a:rPr lang="ru-RU" sz="6000" dirty="0"/>
              <a:t>ДАННЫЕ ИССЛЕДОВАНИЯ</a:t>
            </a:r>
            <a:endParaRPr lang="en-US" sz="6000" dirty="0"/>
          </a:p>
        </p:txBody>
      </p:sp>
      <p:sp>
        <p:nvSpPr>
          <p:cNvPr id="8" name="Text Placeholder 7">
            <a:extLst>
              <a:ext uri="{FF2B5EF4-FFF2-40B4-BE49-F238E27FC236}">
                <a16:creationId xmlns:a16="http://schemas.microsoft.com/office/drawing/2014/main" xmlns="" id="{B143406A-EFD5-2E42-865D-A4660751CC04}"/>
              </a:ext>
            </a:extLst>
          </p:cNvPr>
          <p:cNvSpPr>
            <a:spLocks noGrp="1"/>
          </p:cNvSpPr>
          <p:nvPr>
            <p:ph type="body" sz="quarter" idx="24"/>
          </p:nvPr>
        </p:nvSpPr>
        <p:spPr>
          <a:xfrm>
            <a:off x="22271532" y="4547430"/>
            <a:ext cx="10058400" cy="1107988"/>
          </a:xfrm>
        </p:spPr>
        <p:txBody>
          <a:bodyPr/>
          <a:lstStyle/>
          <a:p>
            <a:pPr algn="l" rtl="0"/>
            <a:r>
              <a:rPr lang="en-US" sz="6000" dirty="0"/>
              <a:t>ПОЛУЧЕННЫЕ РЕЗУЛЬТАТЫ</a:t>
            </a:r>
          </a:p>
        </p:txBody>
      </p:sp>
      <p:sp>
        <p:nvSpPr>
          <p:cNvPr id="9" name="Text Placeholder 8">
            <a:extLst>
              <a:ext uri="{FF2B5EF4-FFF2-40B4-BE49-F238E27FC236}">
                <a16:creationId xmlns:a16="http://schemas.microsoft.com/office/drawing/2014/main" xmlns="" id="{C386760F-A20B-7F49-9C12-75A6EA2EB5FA}"/>
              </a:ext>
            </a:extLst>
          </p:cNvPr>
          <p:cNvSpPr>
            <a:spLocks noGrp="1"/>
          </p:cNvSpPr>
          <p:nvPr>
            <p:ph type="body" sz="quarter" idx="25"/>
          </p:nvPr>
        </p:nvSpPr>
        <p:spPr>
          <a:xfrm>
            <a:off x="33911894" y="4543492"/>
            <a:ext cx="10047018" cy="1107988"/>
          </a:xfrm>
        </p:spPr>
        <p:txBody>
          <a:bodyPr/>
          <a:lstStyle/>
          <a:p>
            <a:pPr algn="l" rtl="0"/>
            <a:r>
              <a:rPr lang="en-US" sz="6000" dirty="0"/>
              <a:t>ВЫВОДЫ </a:t>
            </a:r>
          </a:p>
        </p:txBody>
      </p:sp>
      <p:sp>
        <p:nvSpPr>
          <p:cNvPr id="10" name="Text Placeholder 9">
            <a:extLst>
              <a:ext uri="{FF2B5EF4-FFF2-40B4-BE49-F238E27FC236}">
                <a16:creationId xmlns:a16="http://schemas.microsoft.com/office/drawing/2014/main" xmlns="" id="{D765487B-6201-6645-A16D-3E0C337F590E}"/>
              </a:ext>
            </a:extLst>
          </p:cNvPr>
          <p:cNvSpPr>
            <a:spLocks noGrp="1"/>
          </p:cNvSpPr>
          <p:nvPr>
            <p:ph type="body" sz="quarter" idx="26"/>
          </p:nvPr>
        </p:nvSpPr>
        <p:spPr>
          <a:xfrm>
            <a:off x="33616212" y="5517744"/>
            <a:ext cx="10047018" cy="16250580"/>
          </a:xfrm>
          <a:ln>
            <a:noFill/>
          </a:ln>
        </p:spPr>
        <p:txBody>
          <a:bodyPr/>
          <a:lstStyle/>
          <a:p>
            <a:pPr marL="285750" indent="-285750">
              <a:buFont typeface="Arial" panose="020B0604020202020204" pitchFamily="34" charset="0"/>
              <a:buChar char="•"/>
            </a:pPr>
            <a:r>
              <a:rPr lang="ru-RU" sz="5400" dirty="0">
                <a:effectLst/>
                <a:latin typeface="Calibri" panose="020F0502020204030204" pitchFamily="34" charset="0"/>
                <a:ea typeface="Times New Roman" panose="02020603050405020304" pitchFamily="18" charset="0"/>
                <a:cs typeface="Calibri" panose="020F0502020204030204" pitchFamily="34" charset="0"/>
              </a:rPr>
              <a:t>Эффективная коммуникация- ключевой элемент в предоставлении высококачественных медицинских услуг</a:t>
            </a:r>
          </a:p>
          <a:p>
            <a:pPr marL="285750" indent="-285750">
              <a:buFont typeface="Arial" panose="020B0604020202020204" pitchFamily="34" charset="0"/>
              <a:buChar char="•"/>
            </a:pPr>
            <a:r>
              <a:rPr lang="ru-RU" sz="5400" dirty="0">
                <a:latin typeface="Calibri" panose="020F0502020204030204" pitchFamily="34" charset="0"/>
                <a:ea typeface="Times New Roman" panose="02020603050405020304" pitchFamily="18" charset="0"/>
                <a:cs typeface="Calibri" panose="020F0502020204030204" pitchFamily="34" charset="0"/>
              </a:rPr>
              <a:t>Н</a:t>
            </a:r>
            <a:r>
              <a:rPr lang="ru-RU" sz="5400" dirty="0">
                <a:effectLst/>
                <a:latin typeface="Calibri" panose="020F0502020204030204" pitchFamily="34" charset="0"/>
                <a:ea typeface="Times New Roman" panose="02020603050405020304" pitchFamily="18" charset="0"/>
                <a:cs typeface="Calibri" panose="020F0502020204030204" pitchFamily="34" charset="0"/>
              </a:rPr>
              <a:t>еобходимость регулярного непрерывного обучения коммуникативным навыкам</a:t>
            </a:r>
            <a:endParaRPr lang="ru-RU" sz="5400" dirty="0">
              <a:latin typeface="Calibri" panose="020F0502020204030204" pitchFamily="34" charset="0"/>
              <a:ea typeface="Times New Roman" panose="02020603050405020304" pitchFamily="18" charset="0"/>
              <a:cs typeface="Calibri" panose="020F0502020204030204" pitchFamily="34" charset="0"/>
            </a:endParaRPr>
          </a:p>
          <a:p>
            <a:pPr marL="285750" indent="-285750">
              <a:buFont typeface="Arial" panose="020B0604020202020204" pitchFamily="34" charset="0"/>
              <a:buChar char="•"/>
            </a:pPr>
            <a:r>
              <a:rPr lang="ru-RU" sz="5400" dirty="0">
                <a:latin typeface="Calibri" panose="020F0502020204030204" pitchFamily="34" charset="0"/>
                <a:ea typeface="Times New Roman" panose="02020603050405020304" pitchFamily="18" charset="0"/>
                <a:cs typeface="Calibri" panose="020F0502020204030204" pitchFamily="34" charset="0"/>
              </a:rPr>
              <a:t>П</a:t>
            </a:r>
            <a:r>
              <a:rPr lang="ru-RU" sz="5400" dirty="0">
                <a:effectLst/>
                <a:latin typeface="Calibri" panose="020F0502020204030204" pitchFamily="34" charset="0"/>
                <a:ea typeface="Times New Roman" panose="02020603050405020304" pitchFamily="18" charset="0"/>
                <a:cs typeface="Calibri" panose="020F0502020204030204" pitchFamily="34" charset="0"/>
              </a:rPr>
              <a:t>роведение периодических семинаров</a:t>
            </a:r>
            <a:endParaRPr lang="ru-RU" sz="5400" dirty="0">
              <a:latin typeface="Calibri" panose="020F0502020204030204" pitchFamily="34" charset="0"/>
              <a:ea typeface="Times New Roman" panose="02020603050405020304" pitchFamily="18" charset="0"/>
              <a:cs typeface="Calibri" panose="020F0502020204030204" pitchFamily="34" charset="0"/>
            </a:endParaRPr>
          </a:p>
          <a:p>
            <a:pPr marL="285750" indent="-285750">
              <a:buFont typeface="Arial" panose="020B0604020202020204" pitchFamily="34" charset="0"/>
              <a:buChar char="•"/>
            </a:pPr>
            <a:r>
              <a:rPr lang="ru-RU" sz="5400" dirty="0">
                <a:effectLst/>
                <a:latin typeface="Calibri" panose="020F0502020204030204" pitchFamily="34" charset="0"/>
                <a:ea typeface="Times New Roman" panose="02020603050405020304" pitchFamily="18" charset="0"/>
                <a:cs typeface="Calibri" panose="020F0502020204030204" pitchFamily="34" charset="0"/>
              </a:rPr>
              <a:t>Проведение мониторинга эффективности навыков общения</a:t>
            </a:r>
          </a:p>
          <a:p>
            <a:pPr marL="285750" indent="-285750">
              <a:buFont typeface="Arial" panose="020B0604020202020204" pitchFamily="34" charset="0"/>
              <a:buChar char="•"/>
            </a:pPr>
            <a:r>
              <a:rPr lang="ru-RU" sz="5400" dirty="0">
                <a:effectLst/>
                <a:latin typeface="Calibri" panose="020F0502020204030204" pitchFamily="34" charset="0"/>
                <a:ea typeface="Times New Roman" panose="02020603050405020304" pitchFamily="18" charset="0"/>
                <a:cs typeface="Calibri" panose="020F0502020204030204" pitchFamily="34" charset="0"/>
              </a:rPr>
              <a:t>Четкое определения роли медсестры в команде</a:t>
            </a:r>
          </a:p>
          <a:p>
            <a:pPr marL="285750" indent="-285750">
              <a:buFont typeface="Arial" panose="020B0604020202020204" pitchFamily="34" charset="0"/>
              <a:buChar char="•"/>
            </a:pPr>
            <a:r>
              <a:rPr lang="ru-RU" sz="5400" dirty="0">
                <a:effectLst/>
                <a:latin typeface="Calibri" panose="020F0502020204030204" pitchFamily="34" charset="0"/>
                <a:ea typeface="Times New Roman" panose="02020603050405020304" pitchFamily="18" charset="0"/>
                <a:cs typeface="Calibri" panose="020F0502020204030204" pitchFamily="34" charset="0"/>
              </a:rPr>
              <a:t>Мотивирование медсестер к обеспечению качественного медицинского обслуживания</a:t>
            </a:r>
            <a:endParaRPr lang="ru-RU" sz="5400" dirty="0">
              <a:latin typeface="Calibri" panose="020F0502020204030204" pitchFamily="34" charset="0"/>
              <a:ea typeface="Times New Roman" panose="02020603050405020304" pitchFamily="18" charset="0"/>
              <a:cs typeface="Calibri" panose="020F0502020204030204" pitchFamily="34" charset="0"/>
            </a:endParaRPr>
          </a:p>
        </p:txBody>
      </p:sp>
      <p:sp>
        <p:nvSpPr>
          <p:cNvPr id="13" name="Text Placeholder 12">
            <a:extLst>
              <a:ext uri="{FF2B5EF4-FFF2-40B4-BE49-F238E27FC236}">
                <a16:creationId xmlns:a16="http://schemas.microsoft.com/office/drawing/2014/main" xmlns="" id="{AFE1A4CF-366C-A74D-90FE-5ACBD4F9943B}"/>
              </a:ext>
            </a:extLst>
          </p:cNvPr>
          <p:cNvSpPr>
            <a:spLocks noGrp="1"/>
          </p:cNvSpPr>
          <p:nvPr>
            <p:ph type="body" sz="quarter" idx="29"/>
          </p:nvPr>
        </p:nvSpPr>
        <p:spPr>
          <a:xfrm>
            <a:off x="34599455" y="26828470"/>
            <a:ext cx="2760269" cy="800211"/>
          </a:xfrm>
        </p:spPr>
        <p:txBody>
          <a:bodyPr/>
          <a:lstStyle/>
          <a:p>
            <a:pPr rtl="0"/>
            <a:r>
              <a:rPr lang="en-US" sz="4000" b="0" dirty="0"/>
              <a:t>КОНТАКТЫ</a:t>
            </a:r>
          </a:p>
        </p:txBody>
      </p:sp>
      <p:sp>
        <p:nvSpPr>
          <p:cNvPr id="17" name="Text Placeholder 16">
            <a:extLst>
              <a:ext uri="{FF2B5EF4-FFF2-40B4-BE49-F238E27FC236}">
                <a16:creationId xmlns:a16="http://schemas.microsoft.com/office/drawing/2014/main" xmlns="" id="{9AAB1BB2-2685-9042-9343-90636A19089C}"/>
              </a:ext>
            </a:extLst>
          </p:cNvPr>
          <p:cNvSpPr>
            <a:spLocks noGrp="1"/>
          </p:cNvSpPr>
          <p:nvPr>
            <p:ph type="body" sz="quarter" idx="151"/>
          </p:nvPr>
        </p:nvSpPr>
        <p:spPr>
          <a:xfrm>
            <a:off x="616484" y="2928305"/>
            <a:ext cx="42658232" cy="1103480"/>
          </a:xfrm>
        </p:spPr>
        <p:txBody>
          <a:bodyPr>
            <a:noAutofit/>
          </a:bodyPr>
          <a:lstStyle/>
          <a:p>
            <a:pPr algn="l"/>
            <a:r>
              <a:rPr lang="ru-RU" sz="5400" dirty="0"/>
              <a:t>Руководитель: </a:t>
            </a:r>
            <a:r>
              <a:rPr lang="en-US" sz="5400" dirty="0"/>
              <a:t>Sari </a:t>
            </a:r>
            <a:r>
              <a:rPr lang="ru-RU" sz="5400" dirty="0" err="1">
                <a:solidFill>
                  <a:schemeClr val="lt1"/>
                </a:solidFill>
              </a:rPr>
              <a:t>Järvinen</a:t>
            </a:r>
            <a:r>
              <a:rPr lang="ru-RU" sz="5400" dirty="0">
                <a:solidFill>
                  <a:schemeClr val="lt1"/>
                </a:solidFill>
              </a:rPr>
              <a:t> (JAMK) </a:t>
            </a:r>
            <a:r>
              <a:rPr lang="ru-RU" sz="5400" dirty="0"/>
              <a:t>Исследователи: Эльнара Епрева, Ольга Катаева, Айнагуль Ботаева, Анар Байкасинова (ННЦМД КФ «</a:t>
            </a:r>
            <a:r>
              <a:rPr lang="en-US" sz="5400" dirty="0"/>
              <a:t>UMC</a:t>
            </a:r>
            <a:r>
              <a:rPr lang="ru-RU" sz="5400" dirty="0"/>
              <a:t>») </a:t>
            </a:r>
            <a:endParaRPr lang="en-US" sz="5400" dirty="0"/>
          </a:p>
        </p:txBody>
      </p:sp>
      <p:sp>
        <p:nvSpPr>
          <p:cNvPr id="18" name="Text Placeholder 17">
            <a:extLst>
              <a:ext uri="{FF2B5EF4-FFF2-40B4-BE49-F238E27FC236}">
                <a16:creationId xmlns:a16="http://schemas.microsoft.com/office/drawing/2014/main" xmlns="" id="{9FFCC562-221F-8240-980C-DCE8D467C705}"/>
              </a:ext>
            </a:extLst>
          </p:cNvPr>
          <p:cNvSpPr>
            <a:spLocks noGrp="1"/>
          </p:cNvSpPr>
          <p:nvPr>
            <p:ph type="body" sz="quarter" idx="153"/>
          </p:nvPr>
        </p:nvSpPr>
        <p:spPr>
          <a:xfrm>
            <a:off x="4778504" y="343672"/>
            <a:ext cx="34843453" cy="2466470"/>
          </a:xfrm>
        </p:spPr>
        <p:txBody>
          <a:bodyPr>
            <a:noAutofit/>
          </a:bodyPr>
          <a:lstStyle/>
          <a:p>
            <a:pPr rtl="0"/>
            <a:r>
              <a:rPr lang="ru-RU" dirty="0"/>
              <a:t>Преодоление коммуникативного барьера в профессиональной деятельности медицинских сестер</a:t>
            </a:r>
            <a:endParaRPr lang="en-US" dirty="0"/>
          </a:p>
        </p:txBody>
      </p:sp>
      <p:sp>
        <p:nvSpPr>
          <p:cNvPr id="24" name="Text Placeholder 9">
            <a:extLst>
              <a:ext uri="{FF2B5EF4-FFF2-40B4-BE49-F238E27FC236}">
                <a16:creationId xmlns:a16="http://schemas.microsoft.com/office/drawing/2014/main" xmlns="" id="{331FCF4F-5A5A-744C-B561-0958FFB80594}"/>
              </a:ext>
            </a:extLst>
          </p:cNvPr>
          <p:cNvSpPr txBox="1">
            <a:spLocks/>
          </p:cNvSpPr>
          <p:nvPr/>
        </p:nvSpPr>
        <p:spPr>
          <a:xfrm>
            <a:off x="34599455" y="27528533"/>
            <a:ext cx="6085137" cy="1692749"/>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tx1"/>
                </a:solidFill>
                <a:latin typeface="Calibri" panose="020F0502020204030204" pitchFamily="34" charset="0"/>
                <a:ea typeface="+mn-ea"/>
                <a:cs typeface="Calibri" panose="020F0502020204030204" pitchFamily="34"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algn="l" rtl="0"/>
            <a:r>
              <a:rPr lang="ru-RU" sz="4000" dirty="0"/>
              <a:t>Эльнара Епрева </a:t>
            </a:r>
            <a:r>
              <a:rPr lang="en-US" sz="4000" dirty="0"/>
              <a:t>elnara.yepreva@gmail.com</a:t>
            </a:r>
          </a:p>
        </p:txBody>
      </p:sp>
      <p:pic>
        <p:nvPicPr>
          <p:cNvPr id="19" name="Google Shape;91;p1">
            <a:extLst>
              <a:ext uri="{FF2B5EF4-FFF2-40B4-BE49-F238E27FC236}">
                <a16:creationId xmlns:a16="http://schemas.microsoft.com/office/drawing/2014/main" xmlns="" id="{C3056474-0F0B-4EB8-9DD9-77AF67381D3A}"/>
              </a:ext>
            </a:extLst>
          </p:cNvPr>
          <p:cNvPicPr preferRelativeResize="0"/>
          <p:nvPr/>
        </p:nvPicPr>
        <p:blipFill rotWithShape="1">
          <a:blip r:embed="rId3">
            <a:alphaModFix/>
            <a:duotone>
              <a:prstClr val="black"/>
              <a:srgbClr val="160FA5">
                <a:tint val="45000"/>
                <a:satMod val="400000"/>
              </a:srgbClr>
            </a:duotone>
            <a:extLst>
              <a:ext uri="{BEBA8EAE-BF5A-486C-A8C5-ECC9F3942E4B}">
                <a14:imgProps xmlns:a14="http://schemas.microsoft.com/office/drawing/2010/main">
                  <a14:imgLayer r:embed="rId4">
                    <a14:imgEffect>
                      <a14:colorTemperature colorTemp="4700"/>
                    </a14:imgEffect>
                    <a14:imgEffect>
                      <a14:saturation sat="386000"/>
                    </a14:imgEffect>
                  </a14:imgLayer>
                </a14:imgProps>
              </a:ext>
            </a:extLst>
          </a:blip>
          <a:srcRect/>
          <a:stretch/>
        </p:blipFill>
        <p:spPr>
          <a:xfrm>
            <a:off x="33911895" y="29221282"/>
            <a:ext cx="8805615" cy="2410010"/>
          </a:xfrm>
          <a:prstGeom prst="rect">
            <a:avLst/>
          </a:prstGeom>
          <a:noFill/>
          <a:ln>
            <a:noFill/>
          </a:ln>
        </p:spPr>
      </p:pic>
      <p:sp>
        <p:nvSpPr>
          <p:cNvPr id="20" name="TextBox 19">
            <a:extLst>
              <a:ext uri="{FF2B5EF4-FFF2-40B4-BE49-F238E27FC236}">
                <a16:creationId xmlns:a16="http://schemas.microsoft.com/office/drawing/2014/main" xmlns="" id="{6405D7D5-C5FF-4701-A2AF-670F32E5324D}"/>
              </a:ext>
            </a:extLst>
          </p:cNvPr>
          <p:cNvSpPr txBox="1"/>
          <p:nvPr/>
        </p:nvSpPr>
        <p:spPr>
          <a:xfrm>
            <a:off x="33911894" y="22364172"/>
            <a:ext cx="8805616" cy="3416320"/>
          </a:xfrm>
          <a:prstGeom prst="rect">
            <a:avLst/>
          </a:prstGeom>
          <a:noFill/>
        </p:spPr>
        <p:txBody>
          <a:bodyPr wrap="square" rtlCol="0">
            <a:spAutoFit/>
          </a:bodyPr>
          <a:lstStyle/>
          <a:p>
            <a:pPr marL="285750" indent="-285750">
              <a:buFont typeface="Arial" panose="020B0604020202020204" pitchFamily="34" charset="0"/>
              <a:buChar char="•"/>
            </a:pPr>
            <a:r>
              <a:rPr lang="ru-RU" sz="5400" dirty="0">
                <a:effectLst/>
                <a:latin typeface="Calibri" panose="020F0502020204030204" pitchFamily="34" charset="0"/>
                <a:ea typeface="Times New Roman" panose="02020603050405020304" pitchFamily="18" charset="0"/>
                <a:cs typeface="Calibri" panose="020F0502020204030204" pitchFamily="34" charset="0"/>
              </a:rPr>
              <a:t>Разработать рекомендации для обучающих программ</a:t>
            </a:r>
          </a:p>
          <a:p>
            <a:pPr marL="285750" indent="-285750">
              <a:buFont typeface="Arial" panose="020B0604020202020204" pitchFamily="34" charset="0"/>
              <a:buChar char="•"/>
            </a:pPr>
            <a:r>
              <a:rPr lang="ru-RU" sz="5400" dirty="0">
                <a:latin typeface="Calibri" panose="020F0502020204030204" pitchFamily="34" charset="0"/>
                <a:ea typeface="Times New Roman" panose="02020603050405020304" pitchFamily="18" charset="0"/>
                <a:cs typeface="Calibri" panose="020F0502020204030204" pitchFamily="34" charset="0"/>
              </a:rPr>
              <a:t>Проведение дальнейших </a:t>
            </a:r>
            <a:r>
              <a:rPr lang="ru-RU" sz="54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исследований</a:t>
            </a:r>
            <a:endParaRPr lang="ru-KZ" sz="4400" dirty="0">
              <a:latin typeface="Calibri" panose="020F0502020204030204" pitchFamily="34" charset="0"/>
              <a:cs typeface="Calibri" panose="020F0502020204030204" pitchFamily="34" charset="0"/>
            </a:endParaRPr>
          </a:p>
        </p:txBody>
      </p:sp>
      <p:sp>
        <p:nvSpPr>
          <p:cNvPr id="22" name="Text Placeholder 8">
            <a:extLst>
              <a:ext uri="{FF2B5EF4-FFF2-40B4-BE49-F238E27FC236}">
                <a16:creationId xmlns:a16="http://schemas.microsoft.com/office/drawing/2014/main" xmlns="" id="{AFCF21EC-65BF-4823-A959-2E92E46C1E86}"/>
              </a:ext>
            </a:extLst>
          </p:cNvPr>
          <p:cNvSpPr txBox="1">
            <a:spLocks/>
          </p:cNvSpPr>
          <p:nvPr/>
        </p:nvSpPr>
        <p:spPr>
          <a:xfrm>
            <a:off x="33911894" y="21256184"/>
            <a:ext cx="10047018" cy="1107988"/>
          </a:xfrm>
          <a:prstGeom prst="rect">
            <a:avLst/>
          </a:prstGeom>
          <a:noFill/>
        </p:spPr>
        <p:txBody>
          <a:bodyPr wrap="square" lIns="91436" tIns="91436" rIns="91436" bIns="91436" anchor="ctr" anchorCtr="0">
            <a:spAutoFit/>
          </a:bodyPr>
          <a:lstStyle>
            <a:lvl1pPr marL="0" indent="0" algn="ctr" defTabSz="4388900" rtl="0" eaLnBrk="1" latinLnBrk="0" hangingPunct="1">
              <a:spcBef>
                <a:spcPct val="20000"/>
              </a:spcBef>
              <a:buFont typeface="Arial" pitchFamily="34" charset="0"/>
              <a:buNone/>
              <a:defRPr sz="3700" b="1" u="sng" kern="1200" baseline="0">
                <a:solidFill>
                  <a:schemeClr val="accent1">
                    <a:lumMod val="50000"/>
                  </a:schemeClr>
                </a:solidFill>
                <a:latin typeface="Calibri" panose="020F0502020204030204" pitchFamily="34" charset="0"/>
                <a:ea typeface="+mn-ea"/>
                <a:cs typeface="Calibri" panose="020F0502020204030204" pitchFamily="34" charset="0"/>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algn="l"/>
            <a:r>
              <a:rPr lang="ru-RU" sz="6000" dirty="0"/>
              <a:t>РЕКОМЕНДАЦИИ</a:t>
            </a:r>
            <a:endParaRPr lang="en-US" sz="6000" dirty="0"/>
          </a:p>
        </p:txBody>
      </p:sp>
      <p:graphicFrame>
        <p:nvGraphicFramePr>
          <p:cNvPr id="4" name="Таблица 3">
            <a:extLst>
              <a:ext uri="{FF2B5EF4-FFF2-40B4-BE49-F238E27FC236}">
                <a16:creationId xmlns:a16="http://schemas.microsoft.com/office/drawing/2014/main" xmlns="" id="{8BA0651A-DAD7-430D-A2ED-AB017D94772F}"/>
              </a:ext>
            </a:extLst>
          </p:cNvPr>
          <p:cNvGraphicFramePr>
            <a:graphicFrameLocks noGrp="1"/>
          </p:cNvGraphicFramePr>
          <p:nvPr>
            <p:extLst>
              <p:ext uri="{D42A27DB-BD31-4B8C-83A1-F6EECF244321}">
                <p14:modId xmlns:p14="http://schemas.microsoft.com/office/powerpoint/2010/main" val="1555387237"/>
              </p:ext>
            </p:extLst>
          </p:nvPr>
        </p:nvGraphicFramePr>
        <p:xfrm>
          <a:off x="22200230" y="5679690"/>
          <a:ext cx="10366252" cy="25951602"/>
        </p:xfrm>
        <a:graphic>
          <a:graphicData uri="http://schemas.openxmlformats.org/drawingml/2006/table">
            <a:tbl>
              <a:tblPr firstRow="1" firstCol="1">
                <a:tableStyleId>{3C2FFA5D-87B4-456A-9821-1D502468CF0F}</a:tableStyleId>
              </a:tblPr>
              <a:tblGrid>
                <a:gridCol w="7988330">
                  <a:extLst>
                    <a:ext uri="{9D8B030D-6E8A-4147-A177-3AD203B41FA5}">
                      <a16:colId xmlns:a16="http://schemas.microsoft.com/office/drawing/2014/main" xmlns="" val="3679426168"/>
                    </a:ext>
                  </a:extLst>
                </a:gridCol>
                <a:gridCol w="2377922">
                  <a:extLst>
                    <a:ext uri="{9D8B030D-6E8A-4147-A177-3AD203B41FA5}">
                      <a16:colId xmlns:a16="http://schemas.microsoft.com/office/drawing/2014/main" xmlns="" val="2273204972"/>
                    </a:ext>
                  </a:extLst>
                </a:gridCol>
              </a:tblGrid>
              <a:tr h="581991">
                <a:tc>
                  <a:txBody>
                    <a:bodyPr/>
                    <a:lstStyle/>
                    <a:p>
                      <a:pPr algn="ctr" fontAlgn="t"/>
                      <a:r>
                        <a:rPr lang="ru-RU" sz="4800" u="none" strike="noStrike" dirty="0">
                          <a:effectLst/>
                        </a:rPr>
                        <a:t>Барьеры (</a:t>
                      </a:r>
                      <a:r>
                        <a:rPr lang="en-US" sz="4800" u="none" strike="noStrike" dirty="0">
                          <a:effectLst/>
                        </a:rPr>
                        <a:t>n</a:t>
                      </a:r>
                      <a:r>
                        <a:rPr lang="ru-RU" sz="4800" u="none" strike="noStrike" dirty="0">
                          <a:effectLst/>
                        </a:rPr>
                        <a:t>=44)</a:t>
                      </a:r>
                      <a:endParaRPr lang="ru-RU" sz="4800" b="0" i="0" u="none" strike="noStrike" dirty="0">
                        <a:solidFill>
                          <a:srgbClr val="000000"/>
                        </a:solidFill>
                        <a:effectLst/>
                        <a:latin typeface="Calibri" panose="020F0502020204030204" pitchFamily="34" charset="0"/>
                      </a:endParaRPr>
                    </a:p>
                  </a:txBody>
                  <a:tcPr marL="9525" marR="9525" marT="9525"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4800" u="none" strike="noStrike" dirty="0">
                          <a:effectLst/>
                        </a:rPr>
                        <a:t>% </a:t>
                      </a:r>
                      <a:endParaRPr lang="ru-RU" sz="4800" b="0" i="0" u="none" strike="noStrike" dirty="0">
                        <a:solidFill>
                          <a:srgbClr val="000000"/>
                        </a:solidFill>
                        <a:effectLst/>
                        <a:latin typeface="Calibri" panose="020F0502020204030204" pitchFamily="34" charset="0"/>
                      </a:endParaRPr>
                    </a:p>
                  </a:txBody>
                  <a:tcPr marL="9525" marR="9525" marT="9525"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44192281"/>
                  </a:ext>
                </a:extLst>
              </a:tr>
              <a:tr h="1154049">
                <a:tc>
                  <a:txBody>
                    <a:bodyPr/>
                    <a:lstStyle/>
                    <a:p>
                      <a:pPr algn="ctr" fontAlgn="t"/>
                      <a:r>
                        <a:rPr lang="ru-RU" sz="4200" b="0" u="none" strike="noStrike" dirty="0">
                          <a:effectLst/>
                        </a:rPr>
                        <a:t>Перегруженность работой во время смены</a:t>
                      </a:r>
                      <a:endParaRPr lang="ru-RU" sz="4200" b="0" i="0" u="none" strike="noStrike" dirty="0">
                        <a:solidFill>
                          <a:srgbClr val="000000"/>
                        </a:solidFill>
                        <a:effectLst/>
                        <a:latin typeface="Calibri" panose="020F0502020204030204" pitchFamily="34" charset="0"/>
                      </a:endParaRPr>
                    </a:p>
                  </a:txBody>
                  <a:tcPr marL="9525" marR="9525" marT="9525"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KZ" sz="4200" u="none" strike="noStrike" dirty="0">
                          <a:effectLst/>
                        </a:rPr>
                        <a:t>90,36</a:t>
                      </a:r>
                      <a:endParaRPr lang="ru-KZ" sz="4200" b="0"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135193542"/>
                  </a:ext>
                </a:extLst>
              </a:tr>
              <a:tr h="581991">
                <a:tc>
                  <a:txBody>
                    <a:bodyPr/>
                    <a:lstStyle/>
                    <a:p>
                      <a:pPr algn="ctr" fontAlgn="t"/>
                      <a:r>
                        <a:rPr lang="ru-RU" sz="4200" b="0" u="none" strike="noStrike" dirty="0">
                          <a:effectLst/>
                        </a:rPr>
                        <a:t>Недостаток времени</a:t>
                      </a:r>
                      <a:endParaRPr lang="ru-RU" sz="4200" b="0" i="0" u="none" strike="noStrike" dirty="0">
                        <a:solidFill>
                          <a:srgbClr val="000000"/>
                        </a:solidFill>
                        <a:effectLst/>
                        <a:latin typeface="Calibri" panose="020F0502020204030204" pitchFamily="34" charset="0"/>
                      </a:endParaRPr>
                    </a:p>
                  </a:txBody>
                  <a:tcPr marL="9525" marR="9525" marT="9525"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KZ" sz="4200" u="none" strike="noStrike" dirty="0">
                          <a:effectLst/>
                        </a:rPr>
                        <a:t>87,95</a:t>
                      </a:r>
                      <a:endParaRPr lang="ru-KZ" sz="4200" b="0"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443180422"/>
                  </a:ext>
                </a:extLst>
              </a:tr>
              <a:tr h="581991">
                <a:tc>
                  <a:txBody>
                    <a:bodyPr/>
                    <a:lstStyle/>
                    <a:p>
                      <a:pPr algn="ctr" fontAlgn="t"/>
                      <a:r>
                        <a:rPr lang="ru-RU" sz="4200" b="0" u="none" strike="noStrike" dirty="0">
                          <a:effectLst/>
                        </a:rPr>
                        <a:t>Нехватка медсестер</a:t>
                      </a:r>
                      <a:endParaRPr lang="ru-RU" sz="4200" b="0" i="0" u="none" strike="noStrike" dirty="0">
                        <a:solidFill>
                          <a:srgbClr val="000000"/>
                        </a:solidFill>
                        <a:effectLst/>
                        <a:latin typeface="Calibri" panose="020F0502020204030204" pitchFamily="34" charset="0"/>
                      </a:endParaRPr>
                    </a:p>
                  </a:txBody>
                  <a:tcPr marL="9525" marR="9525" marT="9525"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KZ" sz="4200" u="none" strike="noStrike" dirty="0">
                          <a:effectLst/>
                        </a:rPr>
                        <a:t>85,54</a:t>
                      </a:r>
                      <a:endParaRPr lang="ru-KZ" sz="4200" b="0"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904049780"/>
                  </a:ext>
                </a:extLst>
              </a:tr>
              <a:tr h="1154049">
                <a:tc>
                  <a:txBody>
                    <a:bodyPr/>
                    <a:lstStyle/>
                    <a:p>
                      <a:pPr algn="ctr" fontAlgn="t"/>
                      <a:r>
                        <a:rPr lang="ru-RU" sz="4200" b="0" u="none" strike="noStrike" dirty="0">
                          <a:effectLst/>
                        </a:rPr>
                        <a:t>Плохое финансовое положение медсестры</a:t>
                      </a:r>
                      <a:endParaRPr lang="ru-RU" sz="4200" b="0" i="0" u="none" strike="noStrike" dirty="0">
                        <a:solidFill>
                          <a:srgbClr val="000000"/>
                        </a:solidFill>
                        <a:effectLst/>
                        <a:latin typeface="Calibri" panose="020F0502020204030204" pitchFamily="34" charset="0"/>
                      </a:endParaRPr>
                    </a:p>
                  </a:txBody>
                  <a:tcPr marL="9525" marR="9525" marT="9525"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KZ" sz="4200" u="none" strike="noStrike" dirty="0">
                          <a:effectLst/>
                        </a:rPr>
                        <a:t>80,72</a:t>
                      </a:r>
                      <a:endParaRPr lang="ru-KZ" sz="4200" b="0"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81682616"/>
                  </a:ext>
                </a:extLst>
              </a:tr>
              <a:tr h="1154049">
                <a:tc>
                  <a:txBody>
                    <a:bodyPr/>
                    <a:lstStyle/>
                    <a:p>
                      <a:pPr algn="ctr" fontAlgn="t"/>
                      <a:r>
                        <a:rPr lang="ru-RU" sz="4200" b="0" u="none" strike="noStrike" dirty="0">
                          <a:effectLst/>
                        </a:rPr>
                        <a:t>Оживленная обстановка в отделении (шум и движение)</a:t>
                      </a:r>
                      <a:endParaRPr lang="ru-RU" sz="4200" b="0" i="0" u="none" strike="noStrike" dirty="0">
                        <a:solidFill>
                          <a:srgbClr val="000000"/>
                        </a:solidFill>
                        <a:effectLst/>
                        <a:latin typeface="Calibri" panose="020F0502020204030204" pitchFamily="34" charset="0"/>
                      </a:endParaRPr>
                    </a:p>
                  </a:txBody>
                  <a:tcPr marL="9525" marR="9525" marT="9525"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KZ" sz="4200" u="none" strike="noStrike" dirty="0">
                          <a:effectLst/>
                        </a:rPr>
                        <a:t>74,71</a:t>
                      </a:r>
                      <a:endParaRPr lang="ru-KZ" sz="4200" b="0"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174675698"/>
                  </a:ext>
                </a:extLst>
              </a:tr>
              <a:tr h="1154049">
                <a:tc>
                  <a:txBody>
                    <a:bodyPr/>
                    <a:lstStyle/>
                    <a:p>
                      <a:pPr algn="ctr" fontAlgn="t"/>
                      <a:r>
                        <a:rPr lang="ru-RU" sz="4200" b="0" u="none" strike="noStrike" dirty="0">
                          <a:effectLst/>
                        </a:rPr>
                        <a:t>График смен против пожеланий медсестры</a:t>
                      </a:r>
                      <a:endParaRPr lang="ru-RU" sz="4200" b="0" i="0" u="none" strike="noStrike" dirty="0">
                        <a:solidFill>
                          <a:srgbClr val="000000"/>
                        </a:solidFill>
                        <a:effectLst/>
                        <a:latin typeface="Calibri" panose="020F0502020204030204" pitchFamily="34" charset="0"/>
                      </a:endParaRPr>
                    </a:p>
                  </a:txBody>
                  <a:tcPr marL="9525" marR="9525" marT="9525"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KZ" sz="4200" u="none" strike="noStrike" dirty="0">
                          <a:effectLst/>
                        </a:rPr>
                        <a:t>73,5</a:t>
                      </a:r>
                      <a:endParaRPr lang="ru-KZ" sz="4200" b="0"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14535948"/>
                  </a:ext>
                </a:extLst>
              </a:tr>
              <a:tr h="1317044">
                <a:tc>
                  <a:txBody>
                    <a:bodyPr/>
                    <a:lstStyle/>
                    <a:p>
                      <a:pPr algn="ctr" fontAlgn="t"/>
                      <a:r>
                        <a:rPr lang="ru-RU" sz="4200" b="0" u="none" strike="noStrike" dirty="0">
                          <a:effectLst/>
                        </a:rPr>
                        <a:t>Тревожность, боль и физический дискомфорт пациента </a:t>
                      </a:r>
                      <a:endParaRPr lang="ru-RU" sz="4200" b="0" i="0" u="none" strike="noStrike" dirty="0">
                        <a:solidFill>
                          <a:srgbClr val="000000"/>
                        </a:solidFill>
                        <a:effectLst/>
                        <a:latin typeface="Calibri" panose="020F0502020204030204" pitchFamily="34" charset="0"/>
                      </a:endParaRPr>
                    </a:p>
                  </a:txBody>
                  <a:tcPr marL="9525" marR="9525" marT="9525"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KZ" sz="4200" u="none" strike="noStrike" dirty="0">
                          <a:effectLst/>
                        </a:rPr>
                        <a:t>72,29</a:t>
                      </a:r>
                      <a:endParaRPr lang="ru-KZ" sz="4200" b="0"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734960188"/>
                  </a:ext>
                </a:extLst>
              </a:tr>
              <a:tr h="2257274">
                <a:tc>
                  <a:txBody>
                    <a:bodyPr/>
                    <a:lstStyle/>
                    <a:p>
                      <a:pPr algn="ctr" fontAlgn="t"/>
                      <a:r>
                        <a:rPr lang="ru-RU" sz="4200" b="0" u="none" strike="noStrike" dirty="0">
                          <a:effectLst/>
                        </a:rPr>
                        <a:t>Неподходящие условия окружающей среды (плохие вентиляция, отопление, охлаждение и освещение)</a:t>
                      </a:r>
                      <a:endParaRPr lang="ru-RU" sz="4200" b="0" i="0" u="none" strike="noStrike" dirty="0">
                        <a:solidFill>
                          <a:srgbClr val="000000"/>
                        </a:solidFill>
                        <a:effectLst/>
                        <a:latin typeface="Calibri" panose="020F0502020204030204" pitchFamily="34" charset="0"/>
                      </a:endParaRPr>
                    </a:p>
                  </a:txBody>
                  <a:tcPr marL="9525" marR="9525" marT="9525"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KZ" sz="4200" u="none" strike="noStrike" dirty="0">
                          <a:effectLst/>
                        </a:rPr>
                        <a:t>71,09</a:t>
                      </a:r>
                      <a:endParaRPr lang="ru-KZ" sz="4200" b="0"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070262796"/>
                  </a:ext>
                </a:extLst>
              </a:tr>
              <a:tr h="2298167">
                <a:tc>
                  <a:txBody>
                    <a:bodyPr/>
                    <a:lstStyle/>
                    <a:p>
                      <a:pPr algn="ctr" fontAlgn="t"/>
                      <a:r>
                        <a:rPr lang="ru-RU" sz="4200" b="0" u="none" strike="noStrike" dirty="0">
                          <a:effectLst/>
                        </a:rPr>
                        <a:t>Беспринципное отношение к медсестрам со стороны высокопоставленных лиц в области сестринского дела</a:t>
                      </a:r>
                      <a:endParaRPr lang="ru-RU" sz="4200" b="0" i="0" u="none" strike="noStrike" dirty="0">
                        <a:solidFill>
                          <a:srgbClr val="000000"/>
                        </a:solidFill>
                        <a:effectLst/>
                        <a:latin typeface="Calibri" panose="020F0502020204030204" pitchFamily="34" charset="0"/>
                      </a:endParaRPr>
                    </a:p>
                  </a:txBody>
                  <a:tcPr marL="9525" marR="9525" marT="9525"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KZ" sz="4200" u="none" strike="noStrike" dirty="0">
                          <a:effectLst/>
                        </a:rPr>
                        <a:t>71,09</a:t>
                      </a:r>
                      <a:endParaRPr lang="ru-KZ" sz="4200" b="0"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441265523"/>
                  </a:ext>
                </a:extLst>
              </a:tr>
              <a:tr h="1154049">
                <a:tc>
                  <a:txBody>
                    <a:bodyPr/>
                    <a:lstStyle/>
                    <a:p>
                      <a:pPr algn="ctr" fontAlgn="t"/>
                      <a:r>
                        <a:rPr lang="ru-RU" sz="4200" b="0" u="none" strike="noStrike" dirty="0">
                          <a:effectLst/>
                        </a:rPr>
                        <a:t>Уход за критически больными пациентами в отделении</a:t>
                      </a:r>
                      <a:endParaRPr lang="ru-RU" sz="4200" b="0" i="0" u="none" strike="noStrike" dirty="0">
                        <a:solidFill>
                          <a:srgbClr val="000000"/>
                        </a:solidFill>
                        <a:effectLst/>
                        <a:latin typeface="Calibri" panose="020F0502020204030204" pitchFamily="34" charset="0"/>
                      </a:endParaRPr>
                    </a:p>
                  </a:txBody>
                  <a:tcPr marL="9525" marR="9525" marT="9525"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KZ" sz="4200" u="none" strike="noStrike" dirty="0">
                          <a:effectLst/>
                        </a:rPr>
                        <a:t>68,68</a:t>
                      </a:r>
                      <a:endParaRPr lang="ru-KZ" sz="4200" b="0"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097768120"/>
                  </a:ext>
                </a:extLst>
              </a:tr>
              <a:tr h="1154049">
                <a:tc>
                  <a:txBody>
                    <a:bodyPr/>
                    <a:lstStyle/>
                    <a:p>
                      <a:pPr algn="ctr" fontAlgn="t"/>
                      <a:r>
                        <a:rPr lang="ru-RU" sz="4200" b="0" u="none" strike="noStrike" dirty="0">
                          <a:effectLst/>
                        </a:rPr>
                        <a:t>Сопротивление и нежелание пациента общаться</a:t>
                      </a:r>
                      <a:endParaRPr lang="ru-RU" sz="4200" b="0" i="0" u="none" strike="noStrike" dirty="0">
                        <a:solidFill>
                          <a:srgbClr val="000000"/>
                        </a:solidFill>
                        <a:effectLst/>
                        <a:latin typeface="Calibri" panose="020F0502020204030204" pitchFamily="34" charset="0"/>
                      </a:endParaRPr>
                    </a:p>
                  </a:txBody>
                  <a:tcPr marL="9525" marR="9525" marT="9525"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KZ" sz="4200" u="none" strike="noStrike" dirty="0">
                          <a:effectLst/>
                        </a:rPr>
                        <a:t>67,47</a:t>
                      </a:r>
                      <a:endParaRPr lang="ru-KZ" sz="4200" b="0"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171643351"/>
                  </a:ext>
                </a:extLst>
              </a:tr>
              <a:tr h="1338313">
                <a:tc>
                  <a:txBody>
                    <a:bodyPr/>
                    <a:lstStyle/>
                    <a:p>
                      <a:pPr algn="ctr" fontAlgn="t"/>
                      <a:r>
                        <a:rPr lang="ru-RU" sz="4200" b="0" u="none" strike="noStrike" dirty="0">
                          <a:effectLst/>
                        </a:rPr>
                        <a:t>Неосведомленность пациента о статусе и обязанностях медсестры  </a:t>
                      </a:r>
                      <a:endParaRPr lang="ru-RU" sz="4200" b="0" i="0" u="none" strike="noStrike" dirty="0">
                        <a:solidFill>
                          <a:srgbClr val="000000"/>
                        </a:solidFill>
                        <a:effectLst/>
                        <a:latin typeface="Calibri" panose="020F0502020204030204" pitchFamily="34" charset="0"/>
                      </a:endParaRPr>
                    </a:p>
                  </a:txBody>
                  <a:tcPr marL="9525" marR="9525" marT="9525"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KZ" sz="4200" u="none" strike="noStrike" dirty="0">
                          <a:effectLst/>
                        </a:rPr>
                        <a:t>66,27</a:t>
                      </a:r>
                      <a:endParaRPr lang="ru-KZ" sz="4200" b="0"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38867909"/>
                  </a:ext>
                </a:extLst>
              </a:tr>
              <a:tr h="1828800">
                <a:tc>
                  <a:txBody>
                    <a:bodyPr/>
                    <a:lstStyle/>
                    <a:p>
                      <a:pPr algn="ctr" fontAlgn="t"/>
                      <a:r>
                        <a:rPr lang="ru-RU" sz="4200" b="0" u="none" strike="noStrike" dirty="0">
                          <a:effectLst/>
                        </a:rPr>
                        <a:t>Недостаточная осведомленность медсестер о вербальном и не вербальном поведении</a:t>
                      </a:r>
                      <a:endParaRPr lang="ru-RU" sz="4200" b="0" i="0" u="none" strike="noStrike" dirty="0">
                        <a:solidFill>
                          <a:srgbClr val="000000"/>
                        </a:solidFill>
                        <a:effectLst/>
                        <a:latin typeface="Calibri" panose="020F0502020204030204" pitchFamily="34" charset="0"/>
                      </a:endParaRPr>
                    </a:p>
                  </a:txBody>
                  <a:tcPr marL="9525" marR="9525" marT="9525"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KZ" sz="4200" u="none" strike="noStrike" dirty="0">
                          <a:effectLst/>
                        </a:rPr>
                        <a:t>66,27</a:t>
                      </a:r>
                      <a:endParaRPr lang="ru-KZ" sz="4200" b="0"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165246068"/>
                  </a:ext>
                </a:extLst>
              </a:tr>
              <a:tr h="1154049">
                <a:tc>
                  <a:txBody>
                    <a:bodyPr/>
                    <a:lstStyle/>
                    <a:p>
                      <a:pPr algn="ctr" fontAlgn="t"/>
                      <a:r>
                        <a:rPr lang="ru-RU" sz="4200" b="0" u="none" strike="noStrike" dirty="0">
                          <a:effectLst/>
                        </a:rPr>
                        <a:t>Физические проблемы и заболевания медсестры</a:t>
                      </a:r>
                      <a:endParaRPr lang="ru-RU" sz="4200" b="0" i="0" u="none" strike="noStrike" dirty="0">
                        <a:solidFill>
                          <a:srgbClr val="000000"/>
                        </a:solidFill>
                        <a:effectLst/>
                        <a:latin typeface="Calibri" panose="020F0502020204030204" pitchFamily="34" charset="0"/>
                      </a:endParaRPr>
                    </a:p>
                  </a:txBody>
                  <a:tcPr marL="9525" marR="9525" marT="9525"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KZ" sz="4200" u="none" strike="noStrike" dirty="0">
                          <a:effectLst/>
                        </a:rPr>
                        <a:t>66,27</a:t>
                      </a:r>
                      <a:endParaRPr lang="ru-KZ" sz="4200" b="0"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78676550"/>
                  </a:ext>
                </a:extLst>
              </a:tr>
              <a:tr h="2257274">
                <a:tc>
                  <a:txBody>
                    <a:bodyPr/>
                    <a:lstStyle/>
                    <a:p>
                      <a:pPr algn="ctr" fontAlgn="t"/>
                      <a:r>
                        <a:rPr lang="ru-RU" sz="4200" b="0" u="none" strike="noStrike" dirty="0">
                          <a:effectLst/>
                        </a:rPr>
                        <a:t>Отсутствие повышения квалификации по месту работы по вопросам коммуникации и навыков медсестер</a:t>
                      </a:r>
                      <a:endParaRPr lang="ru-RU" sz="4200" b="0" i="0" u="none" strike="noStrike" dirty="0">
                        <a:solidFill>
                          <a:srgbClr val="000000"/>
                        </a:solidFill>
                        <a:effectLst/>
                        <a:latin typeface="Calibri" panose="020F0502020204030204" pitchFamily="34" charset="0"/>
                      </a:endParaRPr>
                    </a:p>
                  </a:txBody>
                  <a:tcPr marL="9525" marR="9525" marT="9525"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KZ" sz="4200" u="none" strike="noStrike" dirty="0">
                          <a:effectLst/>
                        </a:rPr>
                        <a:t>66,26</a:t>
                      </a:r>
                      <a:endParaRPr lang="ru-KZ" sz="4200" b="0"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557553676"/>
                  </a:ext>
                </a:extLst>
              </a:tr>
              <a:tr h="1154049">
                <a:tc>
                  <a:txBody>
                    <a:bodyPr/>
                    <a:lstStyle/>
                    <a:p>
                      <a:pPr algn="ctr" fontAlgn="t"/>
                      <a:r>
                        <a:rPr lang="ru-RU" sz="4200" b="0" u="none" strike="noStrike" dirty="0">
                          <a:effectLst/>
                        </a:rPr>
                        <a:t>Незнакомая для пациента больничная среда  </a:t>
                      </a:r>
                      <a:endParaRPr lang="ru-RU" sz="4200" b="0" i="0" u="none" strike="noStrike" dirty="0">
                        <a:solidFill>
                          <a:srgbClr val="000000"/>
                        </a:solidFill>
                        <a:effectLst/>
                        <a:latin typeface="Calibri" panose="020F0502020204030204" pitchFamily="34" charset="0"/>
                      </a:endParaRPr>
                    </a:p>
                  </a:txBody>
                  <a:tcPr marL="9525" marR="9525" marT="9525"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KZ" sz="4200" u="none" strike="noStrike" dirty="0">
                          <a:effectLst/>
                        </a:rPr>
                        <a:t>63,86</a:t>
                      </a:r>
                      <a:endParaRPr lang="ru-KZ" sz="4200" b="0"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092465944"/>
                  </a:ext>
                </a:extLst>
              </a:tr>
              <a:tr h="581991">
                <a:tc>
                  <a:txBody>
                    <a:bodyPr/>
                    <a:lstStyle/>
                    <a:p>
                      <a:pPr algn="ctr" fontAlgn="t"/>
                      <a:r>
                        <a:rPr lang="ru-RU" sz="4200" b="0" u="none" strike="noStrike" dirty="0">
                          <a:effectLst/>
                        </a:rPr>
                        <a:t>Разговорные/языковые</a:t>
                      </a:r>
                      <a:endParaRPr lang="ru-RU" sz="4200" b="0" i="0" u="none" strike="noStrike" dirty="0">
                        <a:solidFill>
                          <a:srgbClr val="000000"/>
                        </a:solidFill>
                        <a:effectLst/>
                        <a:latin typeface="Calibri" panose="020F0502020204030204" pitchFamily="34" charset="0"/>
                      </a:endParaRPr>
                    </a:p>
                  </a:txBody>
                  <a:tcPr marL="9525" marR="9525" marT="9525"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KZ" sz="4200" u="none" strike="noStrike" dirty="0">
                          <a:effectLst/>
                        </a:rPr>
                        <a:t>62,66</a:t>
                      </a:r>
                      <a:endParaRPr lang="ru-KZ" sz="4200" b="0"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27875695"/>
                  </a:ext>
                </a:extLst>
              </a:tr>
              <a:tr h="581991">
                <a:tc>
                  <a:txBody>
                    <a:bodyPr/>
                    <a:lstStyle/>
                    <a:p>
                      <a:pPr algn="ctr" fontAlgn="t"/>
                      <a:r>
                        <a:rPr lang="ru-RU" sz="4200" b="0" u="none" strike="noStrike" dirty="0">
                          <a:effectLst/>
                        </a:rPr>
                        <a:t>Культурные</a:t>
                      </a:r>
                      <a:endParaRPr lang="ru-RU" sz="4200" b="0" i="0" u="none" strike="noStrike" dirty="0">
                        <a:solidFill>
                          <a:srgbClr val="000000"/>
                        </a:solidFill>
                        <a:effectLst/>
                        <a:latin typeface="Calibri" panose="020F0502020204030204" pitchFamily="34" charset="0"/>
                      </a:endParaRPr>
                    </a:p>
                  </a:txBody>
                  <a:tcPr marL="9525" marR="9525" marT="9525"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KZ" sz="4200" u="none" strike="noStrike" dirty="0">
                          <a:effectLst/>
                        </a:rPr>
                        <a:t>60,24</a:t>
                      </a:r>
                      <a:endParaRPr lang="ru-KZ" sz="4200" b="0"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277011653"/>
                  </a:ext>
                </a:extLst>
              </a:tr>
            </a:tbl>
          </a:graphicData>
        </a:graphic>
      </p:graphicFrame>
    </p:spTree>
    <p:extLst>
      <p:ext uri="{BB962C8B-B14F-4D97-AF65-F5344CB8AC3E}">
        <p14:creationId xmlns:p14="http://schemas.microsoft.com/office/powerpoint/2010/main" val="1213778265"/>
      </p:ext>
    </p:extLst>
  </p:cSld>
  <p:clrMapOvr>
    <a:masterClrMapping/>
  </p:clrMapOvr>
  <p:timing>
    <p:tnLst>
      <p:par>
        <p:cTn id="1" dur="indefinite" restart="never" nodeType="tmRoot"/>
      </p:par>
    </p:tnLst>
  </p:timing>
</p:sld>
</file>

<file path=ppt/theme/theme1.xml><?xml version="1.0" encoding="utf-8"?>
<a:theme xmlns:a="http://schemas.openxmlformats.org/drawingml/2006/main" name="Without guides">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1818</TotalTime>
  <Words>463</Words>
  <Application>Microsoft Office PowerPoint</Application>
  <PresentationFormat>Произвольный</PresentationFormat>
  <Paragraphs>86</Paragraphs>
  <Slides>1</Slides>
  <Notes>1</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vt:i4>
      </vt:variant>
    </vt:vector>
  </HeadingPairs>
  <TitlesOfParts>
    <vt:vector size="6" baseType="lpstr">
      <vt:lpstr>Arial</vt:lpstr>
      <vt:lpstr>Calibri</vt:lpstr>
      <vt:lpstr>Times New Roman</vt:lpstr>
      <vt:lpstr>Trebuchet MS</vt:lpstr>
      <vt:lpstr>Without guides</vt:lpstr>
      <vt:lpstr>Презентация PowerPoint</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PowerPoint Presentation</dc:title>
  <dc:subject>Research poster presentation template</dc:subject>
  <dc:creator>PosterPresentations.com</dc:creator>
  <cp:keywords>36x48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Сыздыкова Алма Алибековна</cp:lastModifiedBy>
  <cp:revision>118</cp:revision>
  <dcterms:created xsi:type="dcterms:W3CDTF">2012-02-03T19:11:35Z</dcterms:created>
  <dcterms:modified xsi:type="dcterms:W3CDTF">2020-12-15T09:54:31Z</dcterms:modified>
  <cp:category>Research poster templates</cp:category>
</cp:coreProperties>
</file>