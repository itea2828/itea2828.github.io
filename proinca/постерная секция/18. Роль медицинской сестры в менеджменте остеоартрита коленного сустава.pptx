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66" autoAdjust="0"/>
    <p:restoredTop sz="94291" autoAdjust="0"/>
  </p:normalViewPr>
  <p:slideViewPr>
    <p:cSldViewPr snapToGrid="0" snapToObjects="1" showGuides="1">
      <p:cViewPr varScale="1">
        <p:scale>
          <a:sx n="24" d="100"/>
          <a:sy n="24" d="100"/>
        </p:scale>
        <p:origin x="1926" y="30"/>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11/25/2020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a:t>* </a:t>
            </a:r>
            <a:r>
              <a:rPr lang="ru-RU" dirty="0"/>
              <a:t>Используйте </a:t>
            </a:r>
            <a:r>
              <a:rPr lang="en-US" dirty="0" err="1"/>
              <a:t>этот</a:t>
            </a:r>
            <a:r>
              <a:rPr lang="en-US" dirty="0"/>
              <a:t> шаблон соответствующим образом. </a:t>
            </a:r>
            <a:endParaRPr lang="ru-RU" dirty="0"/>
          </a:p>
          <a:p>
            <a:pPr marL="0" indent="0" algn="l" rtl="0">
              <a:buFont typeface="Arial" panose="020B0604020202020204" pitchFamily="34" charset="0"/>
              <a:buNone/>
            </a:pPr>
            <a:endParaRPr lang="ru-RU" dirty="0"/>
          </a:p>
          <a:p>
            <a:pPr marL="0" indent="0" algn="l" rtl="0">
              <a:buFont typeface="Arial" panose="020B0604020202020204" pitchFamily="34" charset="0"/>
              <a:buNone/>
            </a:pPr>
            <a:r>
              <a:rPr lang="en-US" dirty="0"/>
              <a:t>* </a:t>
            </a:r>
            <a:r>
              <a:rPr lang="en-US" dirty="0" err="1"/>
              <a:t>Заголовки</a:t>
            </a:r>
            <a:r>
              <a:rPr lang="en-US" dirty="0"/>
              <a:t> 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ru-RU" b="1" dirty="0"/>
              <a:t>З</a:t>
            </a:r>
            <a:r>
              <a:rPr lang="en-US" b="1" dirty="0" err="1"/>
              <a:t>аглавие</a:t>
            </a:r>
            <a:r>
              <a:rPr lang="en-US" dirty="0"/>
              <a:t>, Calibri, жирный, 80; </a:t>
            </a:r>
            <a:r>
              <a:rPr lang="en-US" b="1" dirty="0"/>
              <a:t>Автор</a:t>
            </a:r>
            <a:r>
              <a:rPr lang="en-US" dirty="0"/>
              <a:t>, Calibri, 66; </a:t>
            </a:r>
            <a:r>
              <a:rPr lang="ru-RU" b="1" dirty="0"/>
              <a:t>Место работы</a:t>
            </a:r>
            <a:r>
              <a:rPr lang="en-US" dirty="0"/>
              <a:t>, Calibri, 44; </a:t>
            </a:r>
            <a:r>
              <a:rPr lang="en-US" b="1" dirty="0"/>
              <a:t>Подзаголовок</a:t>
            </a:r>
            <a:r>
              <a:rPr lang="en-US" dirty="0"/>
              <a:t>, Calibri, все заглавные, жирный, подчеркивание, 60; </a:t>
            </a:r>
            <a:r>
              <a:rPr lang="en-US" b="1" dirty="0"/>
              <a:t>Текст</a:t>
            </a:r>
            <a:r>
              <a:rPr lang="en-US" dirty="0"/>
              <a:t>, Calibri, 54; </a:t>
            </a:r>
            <a:r>
              <a:rPr lang="en-US" b="1" dirty="0"/>
              <a:t>Контакты</a:t>
            </a:r>
            <a:r>
              <a:rPr lang="en-US" dirty="0"/>
              <a:t>, Calibri, подчеркивание, 40, текст Calibri, 40) </a:t>
            </a:r>
            <a:endParaRPr lang="ru-RU" dirty="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a:t>показать </a:t>
            </a:r>
            <a:r>
              <a:rPr lang="en-US" dirty="0" err="1"/>
              <a:t>ваш</a:t>
            </a:r>
            <a:r>
              <a:rPr lang="en-US" dirty="0"/>
              <a:t> </a:t>
            </a:r>
            <a:r>
              <a:rPr lang="en-US" b="1" dirty="0"/>
              <a:t>п</a:t>
            </a:r>
            <a:r>
              <a:rPr lang="ru-RU" b="1" dirty="0"/>
              <a:t>остер</a:t>
            </a:r>
            <a:r>
              <a:rPr lang="en-US" b="1" dirty="0"/>
              <a:t> и </a:t>
            </a:r>
            <a:r>
              <a:rPr lang="en-US" dirty="0"/>
              <a:t> </a:t>
            </a:r>
            <a:r>
              <a:rPr lang="en-US" b="1" dirty="0"/>
              <a:t>Zoom</a:t>
            </a:r>
            <a:r>
              <a:rPr lang="en-US" b="1" baseline="0" dirty="0"/>
              <a:t> </a:t>
            </a:r>
            <a:r>
              <a:rPr lang="ru-RU" b="0" baseline="0" dirty="0"/>
              <a:t>в</a:t>
            </a:r>
            <a:r>
              <a:rPr lang="en-US" dirty="0"/>
              <a:t> </a:t>
            </a:r>
            <a:r>
              <a:rPr lang="en-US" b="1" dirty="0"/>
              <a:t>ПОЛНОЭКРАНН</a:t>
            </a:r>
            <a:r>
              <a:rPr lang="ru-RU" b="1" dirty="0"/>
              <a:t>ОМ </a:t>
            </a:r>
            <a:r>
              <a:rPr lang="ru-RU" b="0" dirty="0"/>
              <a:t>режиме</a:t>
            </a:r>
            <a:r>
              <a:rPr lang="en-US" b="0" dirty="0"/>
              <a:t>. </a:t>
            </a:r>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ursilaz@mail.r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3"/>
            <a:ext cx="10263130" cy="30211325"/>
          </a:xfrm>
          <a:ln>
            <a:noFill/>
          </a:ln>
        </p:spPr>
        <p:txBody>
          <a:bodyPr/>
          <a:lstStyle/>
          <a:p>
            <a:r>
              <a:rPr lang="ru-RU" sz="5400" dirty="0"/>
              <a:t>Остеоартрит коленного сустава (КС) распространённая проблема, растущая с возрастом. Заболевание серьёзно нарушает двигательную активность, вызывает хронический болевой синдром, приводит к снижению качества жизни и экономическим потерям. Более 16,7% людей старше 45 лет страдают от остеоартрита КС в мире. Роль первичного звена здравоохранения, в особенности среднего звена, медсестер общей практики и младших медсестер по уходу играет большую роль в обучении пациента навыкам реабилитации, возможностях управления заболеванием и снижении модифицируемых факторов риска.</a:t>
            </a:r>
          </a:p>
          <a:p>
            <a:r>
              <a:rPr lang="ru-RU" sz="5400" b="1" i="1" dirty="0"/>
              <a:t>Целью</a:t>
            </a:r>
            <a:r>
              <a:rPr lang="ru-RU" sz="5400" dirty="0"/>
              <a:t> нашего исследования было охарактеризовать компетенции медицинской сестры общей практики, применяемые в наблюдении за пациентами с остеоартритом КС и оценить эффективность усиления сестринских навыков в амбулаторных условиях.</a:t>
            </a:r>
          </a:p>
          <a:p>
            <a:pPr algn="l" rtl="0"/>
            <a:endParaRPr lang="en-US" sz="5400" dirty="0"/>
          </a:p>
          <a:p>
            <a:pPr algn="l" rtl="0"/>
            <a:endParaRPr lang="en-US" sz="5400" dirty="0"/>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738038" y="5517745"/>
            <a:ext cx="10048874" cy="9905616"/>
          </a:xfrm>
          <a:ln>
            <a:noFill/>
          </a:ln>
        </p:spPr>
        <p:txBody>
          <a:bodyPr/>
          <a:lstStyle/>
          <a:p>
            <a:r>
              <a:rPr lang="ru-RU" sz="4700" dirty="0"/>
              <a:t>Нами было проведено поперечное исследование, включившее данные анкетного опроса 86 врачей ревматологов, травматологов и врачей общей практики (ВОП), 10 медицинских сестер, ассистирующих ревматологам на уровне ПМСП </a:t>
            </a:r>
            <a:r>
              <a:rPr lang="ru-RU" sz="4700" dirty="0" err="1"/>
              <a:t>г.Семей</a:t>
            </a:r>
            <a:r>
              <a:rPr lang="ru-RU" sz="4700" dirty="0"/>
              <a:t>; 212 медицинских сестер, ассистирующих ВОП на уровне ПМСП </a:t>
            </a:r>
            <a:r>
              <a:rPr lang="ru-RU" sz="4700" dirty="0" err="1"/>
              <a:t>г.Семей</a:t>
            </a:r>
            <a:r>
              <a:rPr lang="ru-RU" sz="4700" dirty="0"/>
              <a:t>, а также 56 пациентов с остеоартритом КС терминальных степеней. Статобработка выполнена в SPSS 20.0.</a:t>
            </a:r>
          </a:p>
          <a:p>
            <a:endParaRPr lang="en-US" sz="5400" dirty="0"/>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22263595" y="5517744"/>
            <a:ext cx="10048874" cy="26499540"/>
          </a:xfrm>
          <a:ln>
            <a:noFill/>
          </a:ln>
        </p:spPr>
        <p:txBody>
          <a:bodyPr/>
          <a:lstStyle/>
          <a:p>
            <a:r>
              <a:rPr lang="ru-RU" sz="4700" dirty="0"/>
              <a:t>Только 27% медсестер на приеме заполняют опросники WOMAC и SF-36. Наиболее часто применяемыми компетенциями при работе с пациентами с остеоартритом КС, как в поликлинике, так и на дому являются заполнение общей медицинской документации и обезболивание. 85,5% медсестер готовы пройти дополнительное обучение для освоения навыков работы с пациентами с остеоартритом КС и 61,8% готовы использовать с своей практике SF-36 и WOMAC. Большая часть врачей готовы делегировать медсестрам сбор анамнеза пациентов – 37,6%, обучение реабилитации пациентов – 44,7% и обучение навыкам лечебной физкультуры – 29,4%. При этом, пациенты, получившие регулярное обучение ЛФК, тренинги и мониторинг состояния медсестрами на дому демонстрируют более высокий уровень качества жизни SF-36 – </a:t>
            </a:r>
            <a:r>
              <a:rPr lang="ru-RU" sz="4700" dirty="0" err="1"/>
              <a:t>MeC</a:t>
            </a:r>
            <a:r>
              <a:rPr lang="ru-RU" sz="4700" dirty="0"/>
              <a:t>=68,76; </a:t>
            </a:r>
            <a:r>
              <a:rPr lang="ru-RU" sz="4700" dirty="0" err="1"/>
              <a:t>PhC</a:t>
            </a:r>
            <a:r>
              <a:rPr lang="ru-RU" sz="4700" dirty="0"/>
              <a:t> =60,78 и WOMAC – 14,86  (p&lt;0,05 по сравнению с группой рутинной программы ведения), а количество тренингов по реабилитации, проведенных медсестрами на дому у пациентов прямо пропорционально числу баллов по оценке физического и психического компонентов качества жизни SF-36 (r=0,393; p=0,035 и r=0,431; p=0,04).</a:t>
            </a:r>
            <a:endParaRPr lang="en-US" sz="47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2639640" y="4581891"/>
            <a:ext cx="10047018" cy="1107988"/>
          </a:xfrm>
        </p:spPr>
        <p:txBody>
          <a:bodyPr/>
          <a:lstStyle/>
          <a:p>
            <a:pPr algn="l" rtl="0"/>
            <a:r>
              <a:rPr lang="en-US" sz="6000" dirty="0"/>
              <a:t>ВЫВОДЫ И </a:t>
            </a:r>
            <a:r>
              <a:rPr lang="ru-RU" sz="6000" dirty="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2639640" y="5948093"/>
            <a:ext cx="10047018" cy="8771610"/>
          </a:xfrm>
          <a:ln>
            <a:noFill/>
          </a:ln>
        </p:spPr>
        <p:txBody>
          <a:bodyPr/>
          <a:lstStyle/>
          <a:p>
            <a:r>
              <a:rPr lang="ru-RU" sz="5400" dirty="0"/>
              <a:t>Роль медицинской сестры в менеджменте пациентов с остеоартритом КС играет ключевую роль в улучшении качества жизни пациентов и возможностей их реабилитации. Необходимо проведение программ обучения для усиления компетенции данного направления.</a:t>
            </a:r>
            <a:endParaRPr lang="en-US" sz="5400" dirty="0"/>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5932593" y="3127915"/>
            <a:ext cx="31998968" cy="1140673"/>
          </a:xfrm>
        </p:spPr>
        <p:txBody>
          <a:bodyPr/>
          <a:lstStyle/>
          <a:p>
            <a:r>
              <a:rPr lang="ru-RU" b="1" dirty="0"/>
              <a:t>КГП на ПХВ «Государственный высший медицинский колледж им. Д. </a:t>
            </a:r>
            <a:r>
              <a:rPr lang="ru-RU" b="1" dirty="0" err="1"/>
              <a:t>Калматаева</a:t>
            </a:r>
            <a:r>
              <a:rPr lang="ru-RU" b="1" dirty="0"/>
              <a:t> г. Семей», Казахстан</a:t>
            </a:r>
            <a:endParaRPr lang="ru-RU" dirty="0"/>
          </a:p>
          <a:p>
            <a:pPr rtl="0"/>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5932593" y="1771555"/>
            <a:ext cx="31998968" cy="1280160"/>
          </a:xfrm>
        </p:spPr>
        <p:txBody>
          <a:bodyPr/>
          <a:lstStyle/>
          <a:p>
            <a:pPr algn="l"/>
            <a:r>
              <a:rPr lang="ru-RU" dirty="0" err="1"/>
              <a:t>Заманбекова</a:t>
            </a:r>
            <a:r>
              <a:rPr lang="ru-RU" dirty="0"/>
              <a:t> </a:t>
            </a:r>
            <a:r>
              <a:rPr lang="ru-RU" dirty="0" err="1"/>
              <a:t>Нурсила</a:t>
            </a:r>
            <a:r>
              <a:rPr lang="ru-RU" dirty="0"/>
              <a:t> </a:t>
            </a:r>
            <a:r>
              <a:rPr lang="ru-RU" dirty="0" err="1"/>
              <a:t>Максутовна</a:t>
            </a:r>
            <a:endParaRPr lang="en-US"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481262" y="209782"/>
            <a:ext cx="42686975" cy="1359394"/>
          </a:xfrm>
        </p:spPr>
        <p:txBody>
          <a:bodyPr>
            <a:noAutofit/>
          </a:bodyPr>
          <a:lstStyle/>
          <a:p>
            <a:pPr algn="l"/>
            <a:r>
              <a:rPr lang="ru-RU" dirty="0"/>
              <a:t>Роль медицинской сестры в менеджменте остеоартрита коленного сустава</a:t>
            </a:r>
            <a:endParaRPr lang="en-US" dirty="0"/>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3571948" y="28389675"/>
            <a:ext cx="9295073" cy="329318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en-US" sz="4000" dirty="0"/>
              <a:t>Контактные </a:t>
            </a:r>
            <a:r>
              <a:rPr lang="en-US" sz="4000" dirty="0" err="1"/>
              <a:t>данные</a:t>
            </a:r>
            <a:r>
              <a:rPr lang="en-US" sz="4000" dirty="0"/>
              <a:t> </a:t>
            </a:r>
            <a:r>
              <a:rPr lang="ru-RU" sz="4000" dirty="0"/>
              <a:t>докладчика</a:t>
            </a:r>
            <a:endParaRPr lang="en-US" sz="4000" dirty="0"/>
          </a:p>
          <a:p>
            <a:r>
              <a:rPr lang="en-US" sz="4000" dirty="0">
                <a:hlinkClick r:id="rId3"/>
              </a:rPr>
              <a:t>nursilaz@mail.ru</a:t>
            </a:r>
            <a:r>
              <a:rPr lang="ru-RU" sz="4000" dirty="0"/>
              <a:t> </a:t>
            </a:r>
          </a:p>
          <a:p>
            <a:r>
              <a:rPr lang="ru-RU" sz="4000" dirty="0"/>
              <a:t>+7 747 684 6402 </a:t>
            </a:r>
          </a:p>
          <a:p>
            <a:endParaRPr lang="en-US" sz="4000" dirty="0"/>
          </a:p>
        </p:txBody>
      </p:sp>
      <p:pic>
        <p:nvPicPr>
          <p:cNvPr id="19" name="Picture 2" descr="http://gsmk.kz/assets/templates/site/images/logo.png">
            <a:extLst>
              <a:ext uri="{FF2B5EF4-FFF2-40B4-BE49-F238E27FC236}">
                <a16:creationId xmlns:a16="http://schemas.microsoft.com/office/drawing/2014/main" xmlns="" id="{4A5B6C30-90A6-4EC3-8182-3950E9F9A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4729" y="29189886"/>
            <a:ext cx="2406317" cy="2406317"/>
          </a:xfrm>
          <a:prstGeom prst="rect">
            <a:avLst/>
          </a:prstGeom>
          <a:noFill/>
          <a:extLst>
            <a:ext uri="{909E8E84-426E-40DD-AFC4-6F175D3DCCD1}">
              <a14:hiddenFill xmlns:a14="http://schemas.microsoft.com/office/drawing/2010/main">
                <a:solidFill>
                  <a:srgbClr val="FFFFFF"/>
                </a:solidFill>
              </a14:hiddenFill>
            </a:ext>
          </a:extLst>
        </p:spPr>
      </p:pic>
      <p:pic>
        <p:nvPicPr>
          <p:cNvPr id="21" name="Объект 6">
            <a:extLst>
              <a:ext uri="{FF2B5EF4-FFF2-40B4-BE49-F238E27FC236}">
                <a16:creationId xmlns:a16="http://schemas.microsoft.com/office/drawing/2014/main" xmlns="" id="{7DE8A483-C9A7-46FC-807C-A0A453807086}"/>
              </a:ext>
            </a:extLst>
          </p:cNvPr>
          <p:cNvPicPr>
            <a:picLocks noChangeAspect="1"/>
          </p:cNvPicPr>
          <p:nvPr/>
        </p:nvPicPr>
        <p:blipFill>
          <a:blip r:embed="rId5"/>
          <a:stretch>
            <a:fillRect/>
          </a:stretch>
        </p:blipFill>
        <p:spPr>
          <a:xfrm>
            <a:off x="11913502" y="15359109"/>
            <a:ext cx="9873410" cy="7926461"/>
          </a:xfrm>
          <a:prstGeom prst="rect">
            <a:avLst/>
          </a:prstGeom>
        </p:spPr>
      </p:pic>
      <p:pic>
        <p:nvPicPr>
          <p:cNvPr id="22" name="Рисунок 21">
            <a:extLst>
              <a:ext uri="{FF2B5EF4-FFF2-40B4-BE49-F238E27FC236}">
                <a16:creationId xmlns:a16="http://schemas.microsoft.com/office/drawing/2014/main" xmlns="" id="{3CEE8774-CB16-4A31-9308-F659BA9C0E56}"/>
              </a:ext>
            </a:extLst>
          </p:cNvPr>
          <p:cNvPicPr>
            <a:picLocks noChangeAspect="1"/>
          </p:cNvPicPr>
          <p:nvPr/>
        </p:nvPicPr>
        <p:blipFill>
          <a:blip r:embed="rId6"/>
          <a:stretch>
            <a:fillRect/>
          </a:stretch>
        </p:blipFill>
        <p:spPr>
          <a:xfrm>
            <a:off x="12096824" y="23623090"/>
            <a:ext cx="9845135" cy="7298025"/>
          </a:xfrm>
          <a:prstGeom prst="rect">
            <a:avLst/>
          </a:prstGeom>
        </p:spPr>
      </p:pic>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1425</TotalTime>
  <Words>537</Words>
  <Application>Microsoft Office PowerPoint</Application>
  <PresentationFormat>Произвольный</PresentationFormat>
  <Paragraphs>25</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89</cp:revision>
  <dcterms:created xsi:type="dcterms:W3CDTF">2012-02-03T19:11:35Z</dcterms:created>
  <dcterms:modified xsi:type="dcterms:W3CDTF">2020-11-25T04:56:19Z</dcterms:modified>
  <cp:category>Research poster templates</cp:category>
</cp:coreProperties>
</file>