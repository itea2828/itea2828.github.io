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E63B2-6FA0-4C0F-A99F-584EAE712C65}" type="datetimeFigureOut">
              <a:rPr lang="ru-RU" smtClean="0"/>
              <a:t>30.11.2020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644B8-3BC5-4120-B883-81AF8AE203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4073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E63B2-6FA0-4C0F-A99F-584EAE712C65}" type="datetimeFigureOut">
              <a:rPr lang="ru-RU" smtClean="0"/>
              <a:t>30.11.2020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644B8-3BC5-4120-B883-81AF8AE203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1269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E63B2-6FA0-4C0F-A99F-584EAE712C65}" type="datetimeFigureOut">
              <a:rPr lang="ru-RU" smtClean="0"/>
              <a:t>30.11.2020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644B8-3BC5-4120-B883-81AF8AE203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8652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E63B2-6FA0-4C0F-A99F-584EAE712C65}" type="datetimeFigureOut">
              <a:rPr lang="ru-RU" smtClean="0"/>
              <a:t>30.11.2020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644B8-3BC5-4120-B883-81AF8AE203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4232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E63B2-6FA0-4C0F-A99F-584EAE712C65}" type="datetimeFigureOut">
              <a:rPr lang="ru-RU" smtClean="0"/>
              <a:t>30.11.2020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644B8-3BC5-4120-B883-81AF8AE203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8667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E63B2-6FA0-4C0F-A99F-584EAE712C65}" type="datetimeFigureOut">
              <a:rPr lang="ru-RU" smtClean="0"/>
              <a:t>30.11.2020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644B8-3BC5-4120-B883-81AF8AE203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3192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E63B2-6FA0-4C0F-A99F-584EAE712C65}" type="datetimeFigureOut">
              <a:rPr lang="ru-RU" smtClean="0"/>
              <a:t>30.11.2020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644B8-3BC5-4120-B883-81AF8AE203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2030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E63B2-6FA0-4C0F-A99F-584EAE712C65}" type="datetimeFigureOut">
              <a:rPr lang="ru-RU" smtClean="0"/>
              <a:t>30.11.2020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644B8-3BC5-4120-B883-81AF8AE203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2040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E63B2-6FA0-4C0F-A99F-584EAE712C65}" type="datetimeFigureOut">
              <a:rPr lang="ru-RU" smtClean="0"/>
              <a:t>30.11.2020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644B8-3BC5-4120-B883-81AF8AE203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4357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E63B2-6FA0-4C0F-A99F-584EAE712C65}" type="datetimeFigureOut">
              <a:rPr lang="ru-RU" smtClean="0"/>
              <a:t>30.11.2020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644B8-3BC5-4120-B883-81AF8AE203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5865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E63B2-6FA0-4C0F-A99F-584EAE712C65}" type="datetimeFigureOut">
              <a:rPr lang="ru-RU" smtClean="0"/>
              <a:t>30.11.2020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644B8-3BC5-4120-B883-81AF8AE203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1855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FE63B2-6FA0-4C0F-A99F-584EAE712C65}" type="datetimeFigureOut">
              <a:rPr lang="ru-RU" smtClean="0"/>
              <a:t>30.11.2020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6644B8-3BC5-4120-B883-81AF8AE203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7281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Блок-схема: процесс 1"/>
          <p:cNvSpPr/>
          <p:nvPr/>
        </p:nvSpPr>
        <p:spPr>
          <a:xfrm>
            <a:off x="0" y="818748"/>
            <a:ext cx="6046276" cy="3004890"/>
          </a:xfrm>
          <a:prstGeom prst="flowChartProcess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>
              <a:lnSpc>
                <a:spcPct val="150000"/>
              </a:lnSpc>
              <a:spcBef>
                <a:spcPts val="1000"/>
              </a:spcBef>
              <a:buSzPts val="2400"/>
            </a:pPr>
            <a:endParaRPr lang="ru-RU" sz="1400" b="1" dirty="0" smtClean="0">
              <a:solidFill>
                <a:srgbClr val="000000"/>
              </a:solidFill>
            </a:endParaRPr>
          </a:p>
          <a:p>
            <a:pPr lvl="0" algn="just">
              <a:lnSpc>
                <a:spcPct val="150000"/>
              </a:lnSpc>
              <a:spcBef>
                <a:spcPts val="1000"/>
              </a:spcBef>
              <a:buSzPts val="2400"/>
            </a:pPr>
            <a:endParaRPr lang="ru-RU" sz="1400" b="1" dirty="0" smtClean="0">
              <a:solidFill>
                <a:srgbClr val="000000"/>
              </a:solidFill>
            </a:endParaRPr>
          </a:p>
          <a:p>
            <a:pPr lvl="0" algn="just">
              <a:lnSpc>
                <a:spcPts val="1500"/>
              </a:lnSpc>
              <a:buSzPts val="2400"/>
            </a:pPr>
            <a:endParaRPr lang="ru-RU" sz="1400" b="1" dirty="0" smtClean="0">
              <a:solidFill>
                <a:srgbClr val="000000"/>
              </a:solidFill>
            </a:endParaRPr>
          </a:p>
          <a:p>
            <a:pPr lvl="0" algn="just">
              <a:lnSpc>
                <a:spcPts val="1500"/>
              </a:lnSpc>
              <a:buSzPts val="2400"/>
            </a:pPr>
            <a:endParaRPr lang="ru-RU" sz="1400" b="1" dirty="0">
              <a:solidFill>
                <a:srgbClr val="000000"/>
              </a:solidFill>
            </a:endParaRPr>
          </a:p>
          <a:p>
            <a:pPr lvl="0" algn="just">
              <a:lnSpc>
                <a:spcPts val="1500"/>
              </a:lnSpc>
              <a:buSzPts val="2400"/>
            </a:pPr>
            <a:endParaRPr lang="ru-RU" sz="1400" b="1" dirty="0" smtClean="0">
              <a:solidFill>
                <a:srgbClr val="000000"/>
              </a:solidFill>
            </a:endParaRPr>
          </a:p>
          <a:p>
            <a:pPr lvl="0" algn="just">
              <a:lnSpc>
                <a:spcPts val="1500"/>
              </a:lnSpc>
              <a:buSzPts val="2400"/>
            </a:pPr>
            <a:r>
              <a:rPr lang="ru-RU" sz="1400" b="1" dirty="0" smtClean="0">
                <a:solidFill>
                  <a:srgbClr val="000000"/>
                </a:solidFill>
              </a:rPr>
              <a:t>Цель исследования</a:t>
            </a:r>
          </a:p>
          <a:p>
            <a:pPr lvl="0" algn="just">
              <a:lnSpc>
                <a:spcPts val="1500"/>
              </a:lnSpc>
              <a:buSzPts val="2400"/>
            </a:pPr>
            <a:endParaRPr lang="ru-RU" sz="1400" b="1" dirty="0" smtClean="0">
              <a:solidFill>
                <a:srgbClr val="000000"/>
              </a:solidFill>
            </a:endParaRPr>
          </a:p>
          <a:p>
            <a:pPr lvl="0" algn="just">
              <a:lnSpc>
                <a:spcPts val="1500"/>
              </a:lnSpc>
              <a:buSzPts val="2400"/>
            </a:pPr>
            <a:r>
              <a:rPr lang="ru-RU" sz="1050" b="1" dirty="0" smtClean="0">
                <a:solidFill>
                  <a:schemeClr val="tx1"/>
                </a:solidFill>
                <a:ea typeface="Times New Roman" panose="02020603050405020304" pitchFamily="18" charset="0"/>
              </a:rPr>
              <a:t>Оценка</a:t>
            </a:r>
            <a:r>
              <a:rPr lang="ru-RU" sz="1050" dirty="0" smtClean="0">
                <a:solidFill>
                  <a:srgbClr val="000000"/>
                </a:solidFill>
              </a:rPr>
              <a:t> роли медицинской сестринского ухода в Национальном сестры в </a:t>
            </a:r>
            <a:r>
              <a:rPr lang="ru-RU" sz="1050" dirty="0" smtClean="0">
                <a:solidFill>
                  <a:schemeClr val="tx1"/>
                </a:solidFill>
                <a:ea typeface="Times New Roman" panose="02020603050405020304" pitchFamily="18" charset="0"/>
              </a:rPr>
              <a:t>реабилитации</a:t>
            </a:r>
            <a:r>
              <a:rPr lang="ru-RU" sz="1050" dirty="0" smtClean="0">
                <a:solidFill>
                  <a:schemeClr val="tx1"/>
                </a:solidFill>
              </a:rPr>
              <a:t>  </a:t>
            </a:r>
          </a:p>
          <a:p>
            <a:pPr lvl="0" algn="just">
              <a:lnSpc>
                <a:spcPts val="1500"/>
              </a:lnSpc>
              <a:buSzPts val="2400"/>
            </a:pPr>
            <a:r>
              <a:rPr lang="ru-RU" sz="1050" dirty="0" smtClean="0">
                <a:solidFill>
                  <a:schemeClr val="tx1"/>
                </a:solidFill>
              </a:rPr>
              <a:t>пациентов с аутизмом (РАС) </a:t>
            </a:r>
            <a:r>
              <a:rPr lang="ru-RU" sz="1050" dirty="0" smtClean="0">
                <a:solidFill>
                  <a:srgbClr val="000000"/>
                </a:solidFill>
              </a:rPr>
              <a:t>для выявления слабых и сильных сторон центре детской </a:t>
            </a:r>
          </a:p>
          <a:p>
            <a:pPr lvl="0" algn="just">
              <a:lnSpc>
                <a:spcPts val="1500"/>
              </a:lnSpc>
              <a:buSzPts val="2400"/>
            </a:pPr>
            <a:r>
              <a:rPr lang="ru-RU" sz="1050" dirty="0" smtClean="0">
                <a:solidFill>
                  <a:srgbClr val="000000"/>
                </a:solidFill>
              </a:rPr>
              <a:t>реабилитации КФ “UMC”.     </a:t>
            </a:r>
          </a:p>
          <a:p>
            <a:pPr algn="just">
              <a:lnSpc>
                <a:spcPts val="1500"/>
              </a:lnSpc>
              <a:buSzPts val="2400"/>
            </a:pPr>
            <a:r>
              <a:rPr lang="ru-RU" sz="1050" b="1" dirty="0" smtClean="0">
                <a:solidFill>
                  <a:srgbClr val="000000"/>
                </a:solidFill>
              </a:rPr>
              <a:t>Исследовательский вопрос</a:t>
            </a:r>
          </a:p>
          <a:p>
            <a:pPr lvl="0" algn="just">
              <a:lnSpc>
                <a:spcPts val="1500"/>
              </a:lnSpc>
              <a:buSzPts val="2400"/>
            </a:pPr>
            <a:r>
              <a:rPr lang="ru-RU" sz="1050" dirty="0" smtClean="0">
                <a:solidFill>
                  <a:srgbClr val="000000"/>
                </a:solidFill>
              </a:rPr>
              <a:t>Какова роль медицинской сестры в реабилитации детей с диагнозом Аутизм, </a:t>
            </a:r>
          </a:p>
          <a:p>
            <a:pPr lvl="0" algn="just">
              <a:lnSpc>
                <a:spcPts val="1500"/>
              </a:lnSpc>
              <a:buSzPts val="2400"/>
            </a:pPr>
            <a:r>
              <a:rPr lang="ru-RU" sz="1050" dirty="0" smtClean="0">
                <a:solidFill>
                  <a:srgbClr val="000000"/>
                </a:solidFill>
              </a:rPr>
              <a:t>в предоставлении сестринского ухода в полном объеме?</a:t>
            </a:r>
          </a:p>
          <a:p>
            <a:pPr algn="just">
              <a:lnSpc>
                <a:spcPts val="1500"/>
              </a:lnSpc>
              <a:buSzPts val="2400"/>
            </a:pPr>
            <a:r>
              <a:rPr lang="ru-RU" sz="1050" b="1" dirty="0">
                <a:solidFill>
                  <a:srgbClr val="000000"/>
                </a:solidFill>
              </a:rPr>
              <a:t>Место проведения: </a:t>
            </a:r>
            <a:r>
              <a:rPr lang="ru-RU" sz="1050" dirty="0">
                <a:solidFill>
                  <a:srgbClr val="000000"/>
                </a:solidFill>
              </a:rPr>
              <a:t>Национальный центр детской реабилитации КФ «UMC»</a:t>
            </a:r>
          </a:p>
          <a:p>
            <a:pPr algn="just">
              <a:lnSpc>
                <a:spcPts val="1500"/>
              </a:lnSpc>
              <a:buSzPts val="2400"/>
            </a:pPr>
            <a:r>
              <a:rPr lang="ru-RU" sz="1050" b="1" dirty="0" smtClean="0">
                <a:solidFill>
                  <a:srgbClr val="000000"/>
                </a:solidFill>
              </a:rPr>
              <a:t>Методы </a:t>
            </a:r>
            <a:r>
              <a:rPr lang="ru-RU" sz="1050" b="1" dirty="0" err="1" smtClean="0">
                <a:solidFill>
                  <a:srgbClr val="000000"/>
                </a:solidFill>
              </a:rPr>
              <a:t>исследования:</a:t>
            </a:r>
            <a:r>
              <a:rPr lang="ru-RU" sz="1050" dirty="0" err="1" smtClean="0">
                <a:solidFill>
                  <a:srgbClr val="000000"/>
                </a:solidFill>
              </a:rPr>
              <a:t>Количественное</a:t>
            </a:r>
            <a:r>
              <a:rPr lang="ru-RU" sz="1050" dirty="0" smtClean="0">
                <a:solidFill>
                  <a:srgbClr val="000000"/>
                </a:solidFill>
              </a:rPr>
              <a:t> исследование, анкетирование </a:t>
            </a:r>
          </a:p>
          <a:p>
            <a:pPr algn="just">
              <a:lnSpc>
                <a:spcPts val="1500"/>
              </a:lnSpc>
              <a:buSzPts val="2400"/>
            </a:pPr>
            <a:r>
              <a:rPr lang="ru-RU" sz="1050" b="1" dirty="0" smtClean="0">
                <a:solidFill>
                  <a:srgbClr val="000000"/>
                </a:solidFill>
              </a:rPr>
              <a:t>Участники:</a:t>
            </a:r>
            <a:r>
              <a:rPr lang="ru-RU" sz="1050" dirty="0" smtClean="0">
                <a:solidFill>
                  <a:srgbClr val="000000"/>
                </a:solidFill>
              </a:rPr>
              <a:t> медицинские сестры (</a:t>
            </a:r>
            <a:r>
              <a:rPr lang="en-US" sz="1050" dirty="0" smtClean="0">
                <a:solidFill>
                  <a:srgbClr val="000000"/>
                </a:solidFill>
              </a:rPr>
              <a:t>n=30</a:t>
            </a:r>
            <a:r>
              <a:rPr lang="ru-RU" sz="1050" dirty="0" smtClean="0">
                <a:solidFill>
                  <a:srgbClr val="000000"/>
                </a:solidFill>
              </a:rPr>
              <a:t>), родители пациентов с РАС</a:t>
            </a:r>
            <a:r>
              <a:rPr lang="en-US" sz="1050" dirty="0" smtClean="0">
                <a:solidFill>
                  <a:srgbClr val="000000"/>
                </a:solidFill>
              </a:rPr>
              <a:t> </a:t>
            </a:r>
            <a:r>
              <a:rPr lang="ru-RU" sz="1050" dirty="0" smtClean="0">
                <a:solidFill>
                  <a:srgbClr val="000000"/>
                </a:solidFill>
              </a:rPr>
              <a:t>(</a:t>
            </a:r>
            <a:r>
              <a:rPr lang="en-US" sz="1050" dirty="0" smtClean="0">
                <a:solidFill>
                  <a:srgbClr val="000000"/>
                </a:solidFill>
              </a:rPr>
              <a:t>n=</a:t>
            </a:r>
            <a:r>
              <a:rPr lang="ru-RU" sz="1050" dirty="0" smtClean="0">
                <a:solidFill>
                  <a:srgbClr val="000000"/>
                </a:solidFill>
              </a:rPr>
              <a:t>24)</a:t>
            </a:r>
            <a:r>
              <a:rPr lang="ru-RU" sz="1050" dirty="0">
                <a:solidFill>
                  <a:schemeClr val="tx1"/>
                </a:solidFill>
                <a:ea typeface="Times New Roman" panose="02020603050405020304" pitchFamily="18" charset="0"/>
              </a:rPr>
              <a:t> </a:t>
            </a:r>
            <a:endParaRPr lang="ru-RU" sz="1050" dirty="0" smtClean="0">
              <a:solidFill>
                <a:schemeClr val="tx1"/>
              </a:solidFill>
              <a:ea typeface="Times New Roman" panose="02020603050405020304" pitchFamily="18" charset="0"/>
            </a:endParaRPr>
          </a:p>
          <a:p>
            <a:pPr>
              <a:lnSpc>
                <a:spcPts val="1500"/>
              </a:lnSpc>
              <a:buSzPts val="2400"/>
            </a:pPr>
            <a:r>
              <a:rPr lang="ru-RU" sz="1050" b="1" dirty="0" smtClean="0">
                <a:solidFill>
                  <a:schemeClr val="tx1"/>
                </a:solidFill>
                <a:ea typeface="Times New Roman" panose="02020603050405020304" pitchFamily="18" charset="0"/>
              </a:rPr>
              <a:t>Исследователи</a:t>
            </a:r>
            <a:r>
              <a:rPr lang="ru-RU" sz="1050" b="1" dirty="0">
                <a:solidFill>
                  <a:schemeClr val="tx1"/>
                </a:solidFill>
                <a:ea typeface="Times New Roman" panose="02020603050405020304" pitchFamily="18" charset="0"/>
              </a:rPr>
              <a:t>: </a:t>
            </a:r>
            <a:r>
              <a:rPr lang="ru-RU" sz="1050" dirty="0" smtClean="0">
                <a:solidFill>
                  <a:schemeClr val="tx1"/>
                </a:solidFill>
                <a:ea typeface="Times New Roman" panose="02020603050405020304" pitchFamily="18" charset="0"/>
              </a:rPr>
              <a:t>Молдагалиева Г.О</a:t>
            </a:r>
            <a:r>
              <a:rPr lang="ru-RU" sz="1050" dirty="0">
                <a:solidFill>
                  <a:schemeClr val="tx1"/>
                </a:solidFill>
                <a:ea typeface="Times New Roman" panose="02020603050405020304" pitchFamily="18" charset="0"/>
              </a:rPr>
              <a:t>, Руденко Л.Н., Баймуханбетова Б.М., </a:t>
            </a:r>
            <a:endParaRPr lang="ru-RU" sz="1050" dirty="0" smtClean="0">
              <a:solidFill>
                <a:schemeClr val="tx1"/>
              </a:solidFill>
              <a:ea typeface="Times New Roman" panose="02020603050405020304" pitchFamily="18" charset="0"/>
            </a:endParaRPr>
          </a:p>
          <a:p>
            <a:pPr>
              <a:lnSpc>
                <a:spcPts val="1500"/>
              </a:lnSpc>
              <a:buSzPts val="2400"/>
            </a:pPr>
            <a:r>
              <a:rPr lang="ru-RU" sz="1050" dirty="0" err="1" smtClean="0">
                <a:solidFill>
                  <a:schemeClr val="tx1"/>
                </a:solidFill>
                <a:ea typeface="Times New Roman" panose="02020603050405020304" pitchFamily="18" charset="0"/>
              </a:rPr>
              <a:t>Канкина</a:t>
            </a:r>
            <a:r>
              <a:rPr lang="ru-RU" sz="1050" dirty="0" smtClean="0">
                <a:solidFill>
                  <a:schemeClr val="tx1"/>
                </a:solidFill>
                <a:ea typeface="Times New Roman" panose="02020603050405020304" pitchFamily="18" charset="0"/>
              </a:rPr>
              <a:t> </a:t>
            </a:r>
            <a:r>
              <a:rPr lang="ru-RU" sz="1050" dirty="0">
                <a:solidFill>
                  <a:schemeClr val="tx1"/>
                </a:solidFill>
                <a:ea typeface="Times New Roman" panose="02020603050405020304" pitchFamily="18" charset="0"/>
              </a:rPr>
              <a:t>М.Д., </a:t>
            </a:r>
            <a:r>
              <a:rPr lang="ru-RU" sz="1050" dirty="0" smtClean="0">
                <a:solidFill>
                  <a:schemeClr val="tx1"/>
                </a:solidFill>
                <a:ea typeface="Times New Roman" panose="02020603050405020304" pitchFamily="18" charset="0"/>
              </a:rPr>
              <a:t>Булхаирова А.С</a:t>
            </a:r>
            <a:r>
              <a:rPr lang="ru-RU" sz="1050" dirty="0">
                <a:solidFill>
                  <a:schemeClr val="tx1"/>
                </a:solidFill>
                <a:ea typeface="Times New Roman" panose="02020603050405020304" pitchFamily="18" charset="0"/>
              </a:rPr>
              <a:t>., Аюпова </a:t>
            </a:r>
            <a:r>
              <a:rPr lang="ru-RU" sz="1050">
                <a:solidFill>
                  <a:schemeClr val="tx1"/>
                </a:solidFill>
                <a:ea typeface="Times New Roman" panose="02020603050405020304" pitchFamily="18" charset="0"/>
              </a:rPr>
              <a:t>А.С</a:t>
            </a:r>
            <a:r>
              <a:rPr lang="ru-RU" sz="1050" smtClean="0">
                <a:solidFill>
                  <a:schemeClr val="tx1"/>
                </a:solidFill>
                <a:ea typeface="Times New Roman" panose="02020603050405020304" pitchFamily="18" charset="0"/>
              </a:rPr>
              <a:t>.</a:t>
            </a:r>
            <a:endParaRPr lang="ru-RU" sz="1050" dirty="0" smtClean="0">
              <a:solidFill>
                <a:schemeClr val="tx1"/>
              </a:solidFill>
              <a:ea typeface="Times New Roman" panose="02020603050405020304" pitchFamily="18" charset="0"/>
            </a:endParaRPr>
          </a:p>
          <a:p>
            <a:pPr>
              <a:lnSpc>
                <a:spcPts val="1500"/>
              </a:lnSpc>
              <a:buSzPts val="2400"/>
            </a:pPr>
            <a:r>
              <a:rPr lang="ru-RU" sz="1050" dirty="0" smtClean="0">
                <a:solidFill>
                  <a:schemeClr val="tx1"/>
                </a:solidFill>
                <a:ea typeface="Times New Roman" panose="02020603050405020304" pitchFamily="18" charset="0"/>
              </a:rPr>
              <a:t>Куратор: </a:t>
            </a:r>
            <a:r>
              <a:rPr lang="fi-FI" sz="1050" dirty="0">
                <a:solidFill>
                  <a:schemeClr val="tx1"/>
                </a:solidFill>
                <a:ea typeface="Times New Roman" panose="02020603050405020304" pitchFamily="18" charset="0"/>
              </a:rPr>
              <a:t>Sari Järvinen, RN, PhD, </a:t>
            </a:r>
            <a:r>
              <a:rPr lang="en-US" sz="1050" dirty="0">
                <a:solidFill>
                  <a:schemeClr val="tx1"/>
                </a:solidFill>
                <a:ea typeface="Times New Roman" panose="02020603050405020304" pitchFamily="18" charset="0"/>
              </a:rPr>
              <a:t>JAMK University of Applied Sciences</a:t>
            </a:r>
            <a:endParaRPr lang="ru-RU" sz="1050" dirty="0">
              <a:solidFill>
                <a:schemeClr val="tx1"/>
              </a:solidFill>
              <a:ea typeface="Times New Roman" panose="02020603050405020304" pitchFamily="18" charset="0"/>
            </a:endParaRPr>
          </a:p>
          <a:p>
            <a:pPr>
              <a:lnSpc>
                <a:spcPts val="1500"/>
              </a:lnSpc>
              <a:buSzPts val="2400"/>
            </a:pPr>
            <a:endParaRPr lang="ru-RU" sz="1050" dirty="0">
              <a:solidFill>
                <a:schemeClr val="tx1"/>
              </a:solidFill>
              <a:ea typeface="Times New Roman" panose="02020603050405020304" pitchFamily="18" charset="0"/>
            </a:endParaRPr>
          </a:p>
          <a:p>
            <a:pPr algn="just">
              <a:lnSpc>
                <a:spcPts val="1500"/>
              </a:lnSpc>
              <a:buSzPts val="2400"/>
            </a:pPr>
            <a:endParaRPr lang="ru-RU" sz="1050" dirty="0" smtClean="0">
              <a:solidFill>
                <a:srgbClr val="000000"/>
              </a:solidFill>
            </a:endParaRPr>
          </a:p>
          <a:p>
            <a:pPr algn="just">
              <a:lnSpc>
                <a:spcPct val="150000"/>
              </a:lnSpc>
              <a:buSzPts val="2400"/>
            </a:pPr>
            <a:endParaRPr lang="ru-RU" sz="1050" b="1" dirty="0" smtClean="0">
              <a:solidFill>
                <a:srgbClr val="000000"/>
              </a:solidFill>
            </a:endParaRPr>
          </a:p>
          <a:p>
            <a:pPr lvl="0" algn="just">
              <a:lnSpc>
                <a:spcPct val="150000"/>
              </a:lnSpc>
              <a:spcBef>
                <a:spcPts val="1000"/>
              </a:spcBef>
              <a:buSzPts val="2400"/>
            </a:pPr>
            <a:r>
              <a:rPr lang="ru-RU" sz="1200" dirty="0" smtClean="0">
                <a:solidFill>
                  <a:srgbClr val="000000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lvl="0" algn="just">
              <a:lnSpc>
                <a:spcPct val="150000"/>
              </a:lnSpc>
              <a:spcBef>
                <a:spcPts val="1000"/>
              </a:spcBef>
              <a:buSzPts val="2400"/>
            </a:pPr>
            <a:endParaRPr lang="ru-RU" sz="1400" dirty="0">
              <a:solidFill>
                <a:srgbClr val="000000"/>
              </a:solidFill>
            </a:endParaRPr>
          </a:p>
        </p:txBody>
      </p:sp>
      <p:sp>
        <p:nvSpPr>
          <p:cNvPr id="3" name="Блок-схема: процесс 2"/>
          <p:cNvSpPr/>
          <p:nvPr/>
        </p:nvSpPr>
        <p:spPr>
          <a:xfrm>
            <a:off x="6046276" y="818748"/>
            <a:ext cx="6145724" cy="3046336"/>
          </a:xfrm>
          <a:prstGeom prst="flowChartProcess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500"/>
              </a:lnSpc>
            </a:pPr>
            <a:r>
              <a:rPr lang="ru-RU" sz="1400" b="1" dirty="0" smtClean="0">
                <a:solidFill>
                  <a:srgbClr val="000000"/>
                </a:solidFill>
              </a:rPr>
              <a:t>Выводы</a:t>
            </a:r>
          </a:p>
          <a:p>
            <a:pPr>
              <a:lnSpc>
                <a:spcPts val="1500"/>
              </a:lnSpc>
            </a:pPr>
            <a:endParaRPr lang="ru-RU" sz="1400" b="1" dirty="0" smtClean="0">
              <a:solidFill>
                <a:srgbClr val="000000"/>
              </a:solidFill>
            </a:endParaRPr>
          </a:p>
          <a:p>
            <a:pPr>
              <a:lnSpc>
                <a:spcPts val="1500"/>
              </a:lnSpc>
            </a:pPr>
            <a:r>
              <a:rPr lang="ru-RU" sz="1050" b="1" dirty="0" smtClean="0">
                <a:solidFill>
                  <a:srgbClr val="000000"/>
                </a:solidFill>
              </a:rPr>
              <a:t>Сильные </a:t>
            </a:r>
            <a:r>
              <a:rPr lang="ru-RU" sz="1050" b="1" dirty="0">
                <a:solidFill>
                  <a:srgbClr val="000000"/>
                </a:solidFill>
              </a:rPr>
              <a:t>стороны сестринского ухода за пациентами с РАС</a:t>
            </a:r>
          </a:p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ru-RU" sz="1050" dirty="0">
                <a:solidFill>
                  <a:srgbClr val="000000"/>
                </a:solidFill>
              </a:rPr>
              <a:t>понимание родителей пациентов о важности роли медицинских сестер в  уходе за пациентами с РАС</a:t>
            </a:r>
          </a:p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ru-RU" sz="1050" dirty="0">
                <a:solidFill>
                  <a:srgbClr val="000000"/>
                </a:solidFill>
              </a:rPr>
              <a:t>доверительное отношение родителей к работе медицинских сестер</a:t>
            </a:r>
          </a:p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ru-RU" sz="1050" dirty="0">
                <a:solidFill>
                  <a:srgbClr val="000000"/>
                </a:solidFill>
              </a:rPr>
              <a:t>высокая готовность медицинских сестер к обучению и принятию изменений  в сестринском уходе ориентированного на пациентов с РАС  </a:t>
            </a:r>
          </a:p>
          <a:p>
            <a:pPr>
              <a:lnSpc>
                <a:spcPts val="1500"/>
              </a:lnSpc>
            </a:pPr>
            <a:endParaRPr lang="ru-RU" sz="1050" dirty="0">
              <a:solidFill>
                <a:srgbClr val="000000"/>
              </a:solidFill>
            </a:endParaRPr>
          </a:p>
          <a:p>
            <a:pPr>
              <a:lnSpc>
                <a:spcPts val="1500"/>
              </a:lnSpc>
            </a:pPr>
            <a:r>
              <a:rPr lang="ru-RU" sz="1050" b="1" dirty="0" smtClean="0">
                <a:solidFill>
                  <a:srgbClr val="000000"/>
                </a:solidFill>
              </a:rPr>
              <a:t>                                        Слабые </a:t>
            </a:r>
            <a:r>
              <a:rPr lang="ru-RU" sz="1050" b="1" dirty="0">
                <a:solidFill>
                  <a:srgbClr val="000000"/>
                </a:solidFill>
              </a:rPr>
              <a:t>стороны сестринского ухода за пациентами с РАС</a:t>
            </a:r>
          </a:p>
          <a:p>
            <a:pPr marL="1430338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ru-RU" sz="1050" dirty="0">
                <a:solidFill>
                  <a:srgbClr val="000000"/>
                </a:solidFill>
              </a:rPr>
              <a:t>средний уровень профессионального образования медсестер (ТИПО)</a:t>
            </a:r>
          </a:p>
          <a:p>
            <a:pPr marL="1430338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ru-RU" sz="1050" dirty="0">
                <a:solidFill>
                  <a:srgbClr val="000000"/>
                </a:solidFill>
              </a:rPr>
              <a:t>средний уровень </a:t>
            </a:r>
            <a:r>
              <a:rPr lang="ru-RU" sz="1050" dirty="0" smtClean="0">
                <a:solidFill>
                  <a:srgbClr val="000000"/>
                </a:solidFill>
              </a:rPr>
              <a:t>знаний медсестер о РАС</a:t>
            </a:r>
            <a:endParaRPr lang="ru-RU" sz="1050" dirty="0">
              <a:solidFill>
                <a:srgbClr val="000000"/>
              </a:solidFill>
            </a:endParaRPr>
          </a:p>
          <a:p>
            <a:pPr marL="1430338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ru-RU" sz="1050" dirty="0">
                <a:solidFill>
                  <a:srgbClr val="000000"/>
                </a:solidFill>
              </a:rPr>
              <a:t>отсутствие профессионального опыта работы с пациентами с РАС</a:t>
            </a:r>
          </a:p>
          <a:p>
            <a:pPr marL="1430338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ru-RU" sz="1050" dirty="0">
                <a:solidFill>
                  <a:srgbClr val="000000"/>
                </a:solidFill>
              </a:rPr>
              <a:t>недостаточное обучение на рабочем месте </a:t>
            </a:r>
          </a:p>
        </p:txBody>
      </p:sp>
      <p:sp>
        <p:nvSpPr>
          <p:cNvPr id="4" name="Блок-схема: процесс 3"/>
          <p:cNvSpPr/>
          <p:nvPr/>
        </p:nvSpPr>
        <p:spPr>
          <a:xfrm>
            <a:off x="6046276" y="3823638"/>
            <a:ext cx="6145724" cy="3055084"/>
          </a:xfrm>
          <a:prstGeom prst="flowChartProcess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 dirty="0" smtClean="0">
                <a:solidFill>
                  <a:schemeClr val="tx1"/>
                </a:solidFill>
                <a:ea typeface="Times New Roman" panose="02020603050405020304" pitchFamily="18" charset="0"/>
              </a:rPr>
              <a:t>                                                  </a:t>
            </a:r>
          </a:p>
          <a:p>
            <a:endParaRPr lang="ru-RU" sz="1400" b="1" dirty="0">
              <a:solidFill>
                <a:schemeClr val="tx1"/>
              </a:solidFill>
              <a:ea typeface="Times New Roman" panose="02020603050405020304" pitchFamily="18" charset="0"/>
            </a:endParaRPr>
          </a:p>
          <a:p>
            <a:r>
              <a:rPr lang="ru-RU" sz="1400" b="1" dirty="0">
                <a:solidFill>
                  <a:schemeClr val="tx1"/>
                </a:solidFill>
                <a:ea typeface="Times New Roman" panose="02020603050405020304" pitchFamily="18" charset="0"/>
              </a:rPr>
              <a:t> </a:t>
            </a:r>
            <a:r>
              <a:rPr lang="ru-RU" sz="1400" b="1" dirty="0" smtClean="0">
                <a:solidFill>
                  <a:schemeClr val="tx1"/>
                </a:solidFill>
                <a:ea typeface="Times New Roman" panose="02020603050405020304" pitchFamily="18" charset="0"/>
              </a:rPr>
              <a:t>                                    </a:t>
            </a:r>
          </a:p>
          <a:p>
            <a:pPr>
              <a:lnSpc>
                <a:spcPct val="150000"/>
              </a:lnSpc>
            </a:pPr>
            <a:r>
              <a:rPr lang="ru-RU" sz="1400" b="1" dirty="0">
                <a:solidFill>
                  <a:schemeClr val="tx1"/>
                </a:solidFill>
                <a:ea typeface="Times New Roman" panose="02020603050405020304" pitchFamily="18" charset="0"/>
              </a:rPr>
              <a:t>                                    </a:t>
            </a:r>
            <a:r>
              <a:rPr lang="ru-RU" sz="1400" b="1" dirty="0" smtClean="0">
                <a:solidFill>
                  <a:schemeClr val="tx1"/>
                </a:solidFill>
                <a:ea typeface="Times New Roman" panose="02020603050405020304" pitchFamily="18" charset="0"/>
              </a:rPr>
              <a:t>Рекомендации</a:t>
            </a:r>
          </a:p>
          <a:p>
            <a:pPr>
              <a:lnSpc>
                <a:spcPct val="150000"/>
              </a:lnSpc>
            </a:pPr>
            <a:endParaRPr lang="ru-RU" sz="1400" b="1" dirty="0">
              <a:solidFill>
                <a:schemeClr val="tx1"/>
              </a:solidFill>
            </a:endParaRPr>
          </a:p>
          <a:p>
            <a:pPr marL="171450" indent="-171450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lang="ru-RU" sz="1050" dirty="0" smtClean="0">
                <a:solidFill>
                  <a:schemeClr val="tx1"/>
                </a:solidFill>
              </a:rPr>
              <a:t>Организация </a:t>
            </a:r>
            <a:r>
              <a:rPr lang="ru-RU" sz="1050" dirty="0">
                <a:solidFill>
                  <a:schemeClr val="tx1"/>
                </a:solidFill>
              </a:rPr>
              <a:t>обучения медицинских сестер в НЦДР, на постоянной основе по заболеванию РАС и предоставлению сестринского ухода пациентам с РАС</a:t>
            </a:r>
          </a:p>
          <a:p>
            <a:pPr marL="171450" indent="-171450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lang="ru-RU" sz="1050" dirty="0" smtClean="0">
                <a:solidFill>
                  <a:schemeClr val="tx1"/>
                </a:solidFill>
              </a:rPr>
              <a:t>Разработка </a:t>
            </a:r>
            <a:r>
              <a:rPr lang="ru-RU" sz="1050" dirty="0">
                <a:solidFill>
                  <a:schemeClr val="tx1"/>
                </a:solidFill>
              </a:rPr>
              <a:t>обучающего материала для медсестер и родителей </a:t>
            </a:r>
          </a:p>
          <a:p>
            <a:pPr marL="171450" indent="-171450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lang="ru-RU" sz="1050" dirty="0" smtClean="0">
                <a:solidFill>
                  <a:schemeClr val="tx1"/>
                </a:solidFill>
              </a:rPr>
              <a:t>Увеличение </a:t>
            </a:r>
            <a:r>
              <a:rPr lang="ru-RU" sz="1050" dirty="0">
                <a:solidFill>
                  <a:schemeClr val="tx1"/>
                </a:solidFill>
              </a:rPr>
              <a:t>количества медсестер  с высшим образованием</a:t>
            </a:r>
          </a:p>
          <a:p>
            <a:pPr marL="171450" indent="-171450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lang="ru-RU" sz="1050" dirty="0" smtClean="0">
                <a:solidFill>
                  <a:schemeClr val="tx1"/>
                </a:solidFill>
              </a:rPr>
              <a:t>Внести </a:t>
            </a:r>
            <a:r>
              <a:rPr lang="ru-RU" sz="1050" dirty="0">
                <a:solidFill>
                  <a:schemeClr val="tx1"/>
                </a:solidFill>
              </a:rPr>
              <a:t>предложение по сотрудничеству с медицинскими учебными заведениями по улучшению образовательных программ как в ТИПО, но также и </a:t>
            </a:r>
            <a:r>
              <a:rPr lang="ru-RU" sz="1050" dirty="0" err="1">
                <a:solidFill>
                  <a:schemeClr val="tx1"/>
                </a:solidFill>
              </a:rPr>
              <a:t>бакалавриата</a:t>
            </a:r>
            <a:r>
              <a:rPr lang="ru-RU" sz="1050" dirty="0">
                <a:solidFill>
                  <a:schemeClr val="tx1"/>
                </a:solidFill>
              </a:rPr>
              <a:t> сестринского дела. В качестве базы для практических занятий в будущем, может стать Национальный центр детской </a:t>
            </a:r>
            <a:r>
              <a:rPr lang="ru-RU" sz="1050" dirty="0" smtClean="0">
                <a:solidFill>
                  <a:schemeClr val="tx1"/>
                </a:solidFill>
              </a:rPr>
              <a:t>реабилитации</a:t>
            </a:r>
          </a:p>
          <a:p>
            <a:pPr>
              <a:lnSpc>
                <a:spcPts val="1700"/>
              </a:lnSpc>
            </a:pPr>
            <a:r>
              <a:rPr lang="ru-RU" sz="1400" b="1" dirty="0" smtClean="0">
                <a:solidFill>
                  <a:schemeClr val="tx1"/>
                </a:solidFill>
                <a:ea typeface="Times New Roman" panose="02020603050405020304" pitchFamily="18" charset="0"/>
              </a:rPr>
              <a:t> </a:t>
            </a:r>
            <a:r>
              <a:rPr lang="ru-RU" sz="1050" dirty="0" smtClean="0">
                <a:solidFill>
                  <a:schemeClr val="tx1"/>
                </a:solidFill>
                <a:ea typeface="Times New Roman" panose="02020603050405020304" pitchFamily="18" charset="0"/>
              </a:rPr>
              <a:t>                                                                    </a:t>
            </a:r>
          </a:p>
          <a:p>
            <a:pPr>
              <a:lnSpc>
                <a:spcPct val="150000"/>
              </a:lnSpc>
            </a:pPr>
            <a:endParaRPr lang="en-US" sz="1050" dirty="0" smtClean="0">
              <a:solidFill>
                <a:schemeClr val="tx1"/>
              </a:solidFill>
              <a:ea typeface="Times New Roman" panose="02020603050405020304" pitchFamily="18" charset="0"/>
            </a:endParaRPr>
          </a:p>
          <a:p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5" name="Блок-схема: процесс 4"/>
          <p:cNvSpPr/>
          <p:nvPr/>
        </p:nvSpPr>
        <p:spPr>
          <a:xfrm>
            <a:off x="0" y="3844361"/>
            <a:ext cx="6046276" cy="3034361"/>
          </a:xfrm>
          <a:prstGeom prst="flowChartProcess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400" b="1" dirty="0" smtClean="0">
              <a:solidFill>
                <a:schemeClr val="tx1"/>
              </a:solidFill>
              <a:ea typeface="Times New Roman" panose="02020603050405020304" pitchFamily="18" charset="0"/>
            </a:endParaRPr>
          </a:p>
          <a:p>
            <a:endParaRPr lang="ru-RU" sz="1400" b="1" dirty="0" smtClean="0">
              <a:solidFill>
                <a:schemeClr val="tx1"/>
              </a:solidFill>
              <a:ea typeface="Times New Roman" panose="02020603050405020304" pitchFamily="18" charset="0"/>
            </a:endParaRPr>
          </a:p>
          <a:p>
            <a:endParaRPr lang="ru-RU" sz="1400" b="1" dirty="0">
              <a:solidFill>
                <a:schemeClr val="tx1"/>
              </a:solidFill>
              <a:ea typeface="Times New Roman" panose="02020603050405020304" pitchFamily="18" charset="0"/>
            </a:endParaRPr>
          </a:p>
          <a:p>
            <a:r>
              <a:rPr lang="ru-RU" sz="1400" b="1" dirty="0" smtClean="0">
                <a:solidFill>
                  <a:schemeClr val="tx1"/>
                </a:solidFill>
                <a:ea typeface="Times New Roman" panose="02020603050405020304" pitchFamily="18" charset="0"/>
              </a:rPr>
              <a:t>Результаты</a:t>
            </a:r>
          </a:p>
          <a:p>
            <a:endParaRPr lang="ru-RU" sz="1400" b="1" dirty="0" smtClean="0">
              <a:solidFill>
                <a:schemeClr val="tx1"/>
              </a:solidFill>
              <a:ea typeface="Times New Roman" panose="02020603050405020304" pitchFamily="18" charset="0"/>
            </a:endParaRPr>
          </a:p>
          <a:p>
            <a:pPr>
              <a:lnSpc>
                <a:spcPts val="1500"/>
              </a:lnSpc>
            </a:pPr>
            <a:r>
              <a:rPr lang="ru-RU" sz="1050" dirty="0" smtClean="0">
                <a:solidFill>
                  <a:schemeClr val="tx1"/>
                </a:solidFill>
              </a:rPr>
              <a:t>Исследование, показало отсутствие ясности роли у медицинских сестер </a:t>
            </a:r>
          </a:p>
          <a:p>
            <a:pPr>
              <a:lnSpc>
                <a:spcPts val="1500"/>
              </a:lnSpc>
            </a:pPr>
            <a:r>
              <a:rPr lang="ru-RU" sz="1050" dirty="0" smtClean="0">
                <a:solidFill>
                  <a:schemeClr val="tx1"/>
                </a:solidFill>
              </a:rPr>
              <a:t>в уходе за пациентами с РАС, диапазон положительных ответов </a:t>
            </a:r>
          </a:p>
          <a:p>
            <a:pPr>
              <a:lnSpc>
                <a:spcPts val="1500"/>
              </a:lnSpc>
            </a:pPr>
            <a:r>
              <a:rPr lang="ru-RU" sz="1050" dirty="0" smtClean="0">
                <a:solidFill>
                  <a:schemeClr val="tx1"/>
                </a:solidFill>
              </a:rPr>
              <a:t>медицинских сестер в оценки своей роли составил от 30% до 54%. Обучение по заболеванию РАС прошли 67% медицинских сестер. Самооценка знаний о симптомах и о лечении РАС показала 65% и 54%. Оценка родителей о роли медицинских сестер  в сестринском уходе за пациентами с РАС показала более высокую оценку, от 79% до 96</a:t>
            </a:r>
            <a:r>
              <a:rPr lang="ru-RU" sz="1050" dirty="0">
                <a:solidFill>
                  <a:schemeClr val="tx1"/>
                </a:solidFill>
              </a:rPr>
              <a:t>%. </a:t>
            </a:r>
            <a:endParaRPr lang="ru-RU" sz="1050" dirty="0" smtClean="0">
              <a:solidFill>
                <a:schemeClr val="tx1"/>
              </a:solidFill>
            </a:endParaRPr>
          </a:p>
          <a:p>
            <a:pPr>
              <a:lnSpc>
                <a:spcPts val="1500"/>
              </a:lnSpc>
            </a:pPr>
            <a:r>
              <a:rPr lang="ru-RU" sz="1050" dirty="0" smtClean="0">
                <a:solidFill>
                  <a:schemeClr val="tx1"/>
                </a:solidFill>
              </a:rPr>
              <a:t>Результаты исследования </a:t>
            </a:r>
            <a:r>
              <a:rPr lang="ru-RU" sz="1050" dirty="0">
                <a:solidFill>
                  <a:schemeClr val="tx1"/>
                </a:solidFill>
              </a:rPr>
              <a:t>показали, что для предоставления качественного сестринского </a:t>
            </a:r>
          </a:p>
          <a:p>
            <a:pPr>
              <a:lnSpc>
                <a:spcPts val="1500"/>
              </a:lnSpc>
            </a:pPr>
            <a:r>
              <a:rPr lang="ru-RU" sz="1050" dirty="0">
                <a:solidFill>
                  <a:schemeClr val="tx1"/>
                </a:solidFill>
              </a:rPr>
              <a:t>ухода за пациентами с  РАС, медицинские сестры НЦДР </a:t>
            </a:r>
            <a:r>
              <a:rPr lang="ru-RU" sz="1050" dirty="0" smtClean="0">
                <a:solidFill>
                  <a:schemeClr val="tx1"/>
                </a:solidFill>
              </a:rPr>
              <a:t>нуждается </a:t>
            </a:r>
            <a:r>
              <a:rPr lang="ru-RU" sz="1050" dirty="0">
                <a:solidFill>
                  <a:schemeClr val="tx1"/>
                </a:solidFill>
              </a:rPr>
              <a:t>в понимании своей роли  и дополнительном обучении </a:t>
            </a:r>
            <a:r>
              <a:rPr lang="ru-RU" sz="1050" dirty="0" smtClean="0">
                <a:solidFill>
                  <a:schemeClr val="tx1"/>
                </a:solidFill>
              </a:rPr>
              <a:t>по  </a:t>
            </a:r>
            <a:r>
              <a:rPr lang="ru-RU" sz="1050" dirty="0">
                <a:solidFill>
                  <a:schemeClr val="tx1"/>
                </a:solidFill>
              </a:rPr>
              <a:t>данному заболеванию.</a:t>
            </a:r>
            <a:endParaRPr lang="ru-RU" sz="1050" dirty="0" smtClean="0">
              <a:solidFill>
                <a:schemeClr val="tx1"/>
              </a:solidFill>
            </a:endParaRPr>
          </a:p>
          <a:p>
            <a:pPr lvl="0">
              <a:buClr>
                <a:schemeClr val="lt1"/>
              </a:buClr>
              <a:buSzPts val="1800"/>
            </a:pPr>
            <a:endParaRPr lang="ru-RU" sz="1050" b="1" dirty="0" smtClean="0">
              <a:solidFill>
                <a:schemeClr val="tx1"/>
              </a:solidFill>
            </a:endParaRPr>
          </a:p>
          <a:p>
            <a:pPr lvl="0">
              <a:buClr>
                <a:schemeClr val="lt1"/>
              </a:buClr>
              <a:buSzPts val="1800"/>
            </a:pPr>
            <a:endParaRPr lang="ru-RU" sz="1050" b="1" dirty="0">
              <a:solidFill>
                <a:schemeClr val="tx1"/>
              </a:solidFill>
            </a:endParaRPr>
          </a:p>
          <a:p>
            <a:pPr lvl="0">
              <a:buClr>
                <a:schemeClr val="lt1"/>
              </a:buClr>
              <a:buSzPts val="1800"/>
            </a:pPr>
            <a:endParaRPr lang="ru-RU" sz="1050" b="1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ru-RU" sz="1050" dirty="0" smtClean="0">
              <a:solidFill>
                <a:schemeClr val="tx1"/>
              </a:solidFill>
              <a:ea typeface="Times New Roman" panose="02020603050405020304" pitchFamily="18" charset="0"/>
            </a:endParaRPr>
          </a:p>
        </p:txBody>
      </p:sp>
      <p:pic>
        <p:nvPicPr>
          <p:cNvPr id="7" name="Picture 2" descr="ГТРК Чита - Радио России: 2 апреля - Всемирный день распространения  информации о проблеме аутизм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5583" y="2696100"/>
            <a:ext cx="2704699" cy="2024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7" descr="C:\Users\Nurali.is\Desktop\лого_umc_кор_рус_для подписи письма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488" y="45117"/>
            <a:ext cx="280987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Прямоугольник 8"/>
          <p:cNvSpPr/>
          <p:nvPr/>
        </p:nvSpPr>
        <p:spPr>
          <a:xfrm>
            <a:off x="3123398" y="174776"/>
            <a:ext cx="80274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latin typeface="Tahoma"/>
                <a:ea typeface="Tahoma"/>
                <a:cs typeface="Tahoma"/>
                <a:sym typeface="Tahoma"/>
              </a:rPr>
              <a:t>Улучшение сестринского ухода за детьми с диагнозом Аутизм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505327" y="541749"/>
            <a:ext cx="1182501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1" dirty="0"/>
              <a:t>«Аутизм – серьезное комплексное нарушение развития, при котором затруднено формирование социальных контактов с внешним миром и другим </a:t>
            </a:r>
            <a:r>
              <a:rPr lang="ru-RU" sz="1200" b="1" dirty="0" smtClean="0"/>
              <a:t>человеком»</a:t>
            </a:r>
            <a:endParaRPr lang="ru-RU" sz="1200" b="1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2229106" y="6663278"/>
            <a:ext cx="7634340" cy="215444"/>
          </a:xfrm>
          <a:prstGeom prst="rect">
            <a:avLst/>
          </a:prstGeom>
          <a:solidFill>
            <a:srgbClr val="92D050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ru-RU" sz="800" i="1" dirty="0" smtClean="0"/>
              <a:t>2 апреля-Всемирный день </a:t>
            </a:r>
            <a:r>
              <a:rPr lang="ru-RU" sz="800" i="1" dirty="0"/>
              <a:t>распространения информации о проблеме </a:t>
            </a:r>
            <a:r>
              <a:rPr lang="ru-RU" sz="800" i="1" dirty="0" smtClean="0"/>
              <a:t>аутизма, «</a:t>
            </a:r>
            <a:r>
              <a:rPr lang="ru-RU" sz="800" i="1" dirty="0"/>
              <a:t>Зажги синим</a:t>
            </a:r>
            <a:r>
              <a:rPr lang="ru-RU" sz="800" i="1" dirty="0" smtClean="0"/>
              <a:t>». Международным </a:t>
            </a:r>
            <a:r>
              <a:rPr lang="ru-RU" sz="800" i="1" dirty="0"/>
              <a:t>символом аутизма являются головоломки - «паззлы</a:t>
            </a:r>
            <a:r>
              <a:rPr lang="ru-RU" sz="800" i="1" dirty="0" smtClean="0"/>
              <a:t>»</a:t>
            </a:r>
            <a:endParaRPr lang="ru-RU" sz="800" i="1" dirty="0"/>
          </a:p>
        </p:txBody>
      </p:sp>
    </p:spTree>
    <p:extLst>
      <p:ext uri="{BB962C8B-B14F-4D97-AF65-F5344CB8AC3E}">
        <p14:creationId xmlns:p14="http://schemas.microsoft.com/office/powerpoint/2010/main" val="1211423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439</Words>
  <Application>Microsoft Office PowerPoint</Application>
  <PresentationFormat>Широкоэкранный</PresentationFormat>
  <Paragraphs>60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Tahoma</vt:lpstr>
      <vt:lpstr>Times New Roman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Гульнар Молдагалиева;Алия Булхаирова</dc:creator>
  <cp:lastModifiedBy>Сыздыкова Алма Алибековна</cp:lastModifiedBy>
  <cp:revision>21</cp:revision>
  <dcterms:created xsi:type="dcterms:W3CDTF">2020-11-26T04:36:48Z</dcterms:created>
  <dcterms:modified xsi:type="dcterms:W3CDTF">2020-11-30T08:10:35Z</dcterms:modified>
</cp:coreProperties>
</file>