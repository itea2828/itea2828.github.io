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79073" autoAdjust="0"/>
  </p:normalViewPr>
  <p:slideViewPr>
    <p:cSldViewPr snapToGrid="0" snapToObjects="1" showGuides="1">
      <p:cViewPr varScale="1">
        <p:scale>
          <a:sx n="19" d="100"/>
          <a:sy n="19" d="100"/>
        </p:scale>
        <p:origin x="2646" y="120"/>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smtClean="0"/>
              <a:t>* </a:t>
            </a:r>
            <a:r>
              <a:rPr lang="ru-RU" dirty="0" smtClean="0"/>
              <a:t>Используйте </a:t>
            </a:r>
            <a:r>
              <a:rPr lang="en-US" dirty="0" err="1" smtClean="0"/>
              <a:t>этот</a:t>
            </a:r>
            <a:r>
              <a:rPr lang="en-US" dirty="0" smtClean="0"/>
              <a:t> </a:t>
            </a:r>
            <a:r>
              <a:rPr lang="en-US" dirty="0"/>
              <a:t>шаблон соответствующим образом. </a:t>
            </a:r>
            <a:endParaRPr lang="ru-RU" dirty="0" smtClean="0"/>
          </a:p>
          <a:p>
            <a:pPr marL="0" indent="0" algn="l" rtl="0">
              <a:buFont typeface="Arial" panose="020B0604020202020204" pitchFamily="34" charset="0"/>
              <a:buNone/>
            </a:pPr>
            <a:endParaRPr lang="ru-RU" dirty="0" smtClean="0"/>
          </a:p>
          <a:p>
            <a:pPr marL="0" indent="0" algn="l" rtl="0">
              <a:buFont typeface="Arial" panose="020B0604020202020204" pitchFamily="34" charset="0"/>
              <a:buNone/>
            </a:pPr>
            <a:r>
              <a:rPr lang="en-US" dirty="0" smtClean="0"/>
              <a:t>* </a:t>
            </a:r>
            <a:r>
              <a:rPr lang="en-US" dirty="0" err="1" smtClean="0"/>
              <a:t>Заголовки</a:t>
            </a:r>
            <a:r>
              <a:rPr lang="en-US" dirty="0" smtClean="0"/>
              <a:t> </a:t>
            </a:r>
            <a:r>
              <a:rPr lang="en-US" dirty="0"/>
              <a:t>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en-US" dirty="0" smtClean="0"/>
              <a:t>(</a:t>
            </a:r>
            <a:r>
              <a:rPr lang="ru-RU" b="1" dirty="0" smtClean="0"/>
              <a:t>З</a:t>
            </a:r>
            <a:r>
              <a:rPr lang="en-US" b="1" dirty="0" err="1" smtClean="0"/>
              <a:t>аглавие</a:t>
            </a:r>
            <a:r>
              <a:rPr lang="en-US" dirty="0"/>
              <a:t>, Calibri, жирный, 80; </a:t>
            </a:r>
            <a:r>
              <a:rPr lang="en-US" b="1" dirty="0"/>
              <a:t>Автор</a:t>
            </a:r>
            <a:r>
              <a:rPr lang="en-US" dirty="0"/>
              <a:t>, </a:t>
            </a:r>
            <a:r>
              <a:rPr lang="en-US" dirty="0" smtClean="0"/>
              <a:t>Calibri, </a:t>
            </a:r>
            <a:r>
              <a:rPr lang="en-US" dirty="0"/>
              <a:t>66; </a:t>
            </a:r>
            <a:r>
              <a:rPr lang="ru-RU" b="1" dirty="0" smtClean="0"/>
              <a:t>Место работы</a:t>
            </a:r>
            <a:r>
              <a:rPr lang="en-US" dirty="0" smtClean="0"/>
              <a:t>, Calibri, </a:t>
            </a:r>
            <a:r>
              <a:rPr lang="en-US" dirty="0"/>
              <a:t>44; </a:t>
            </a:r>
            <a:r>
              <a:rPr lang="en-US" b="1" dirty="0"/>
              <a:t>Подзаголовок</a:t>
            </a:r>
            <a:r>
              <a:rPr lang="en-US" dirty="0"/>
              <a:t>, Calibri, все заглавные, жирный, подчеркивание, 60; </a:t>
            </a:r>
            <a:r>
              <a:rPr lang="en-US" b="1" dirty="0"/>
              <a:t>Текст</a:t>
            </a:r>
            <a:r>
              <a:rPr lang="en-US" dirty="0"/>
              <a:t>, </a:t>
            </a:r>
            <a:r>
              <a:rPr lang="en-US" dirty="0" smtClean="0"/>
              <a:t>Calibri, </a:t>
            </a:r>
            <a:r>
              <a:rPr lang="en-US" dirty="0"/>
              <a:t>54; </a:t>
            </a:r>
            <a:r>
              <a:rPr lang="en-US" b="1" dirty="0"/>
              <a:t>Контакты</a:t>
            </a:r>
            <a:r>
              <a:rPr lang="en-US" dirty="0"/>
              <a:t>, Calibri, подчеркивание, 40, текст Calibri, 40) </a:t>
            </a:r>
            <a:endParaRPr lang="ru-RU" dirty="0" smtClean="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smtClean="0"/>
              <a:t>показать </a:t>
            </a:r>
            <a:r>
              <a:rPr lang="en-US" dirty="0" err="1" smtClean="0"/>
              <a:t>ваш</a:t>
            </a:r>
            <a:r>
              <a:rPr lang="en-US" dirty="0" smtClean="0"/>
              <a:t> </a:t>
            </a:r>
            <a:r>
              <a:rPr lang="en-US" b="1" dirty="0" smtClean="0"/>
              <a:t>п</a:t>
            </a:r>
            <a:r>
              <a:rPr lang="ru-RU" b="1" dirty="0" smtClean="0"/>
              <a:t>остер</a:t>
            </a:r>
            <a:r>
              <a:rPr lang="en-US" b="1" dirty="0" smtClean="0"/>
              <a:t> </a:t>
            </a:r>
            <a:r>
              <a:rPr lang="en-US" b="1" dirty="0"/>
              <a:t>и </a:t>
            </a:r>
            <a:r>
              <a:rPr lang="en-US" dirty="0"/>
              <a:t> </a:t>
            </a:r>
            <a:r>
              <a:rPr lang="en-US" b="1" dirty="0" smtClean="0"/>
              <a:t>Zoom</a:t>
            </a:r>
            <a:r>
              <a:rPr lang="en-US" b="1" baseline="0" dirty="0" smtClean="0"/>
              <a:t> </a:t>
            </a:r>
            <a:r>
              <a:rPr lang="ru-RU" b="0" baseline="0" dirty="0" smtClean="0"/>
              <a:t>в</a:t>
            </a:r>
            <a:r>
              <a:rPr lang="en-US" dirty="0" smtClean="0"/>
              <a:t> </a:t>
            </a:r>
            <a:r>
              <a:rPr lang="en-US" b="1" dirty="0" smtClean="0"/>
              <a:t>ПОЛНОЭКРАНН</a:t>
            </a:r>
            <a:r>
              <a:rPr lang="ru-RU" b="1" dirty="0" smtClean="0"/>
              <a:t>ОМ </a:t>
            </a:r>
            <a:r>
              <a:rPr lang="ru-RU" b="0" dirty="0" smtClean="0"/>
              <a:t>режиме</a:t>
            </a:r>
            <a:r>
              <a:rPr lang="en-US" b="0" dirty="0" smtClean="0"/>
              <a:t>. </a:t>
            </a: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kankyzy@mail.r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89" y="5517743"/>
            <a:ext cx="12347992" cy="26887338"/>
          </a:xfrm>
          <a:ln>
            <a:noFill/>
          </a:ln>
        </p:spPr>
        <p:txBody>
          <a:bodyPr/>
          <a:lstStyle/>
          <a:p>
            <a:r>
              <a:rPr lang="ru-RU" sz="5400" dirty="0" err="1"/>
              <a:t>Антикоагулянтная</a:t>
            </a:r>
            <a:r>
              <a:rPr lang="ru-RU" sz="5400" dirty="0"/>
              <a:t> терапия является достаточно сложным процессом и может быть затруднительна  для пациента. </a:t>
            </a:r>
            <a:r>
              <a:rPr lang="ru-RU" sz="5400" dirty="0" smtClean="0"/>
              <a:t>Пациенты </a:t>
            </a:r>
            <a:r>
              <a:rPr lang="ru-RU" sz="5400" dirty="0"/>
              <a:t>часто более удовлетворены лечением под руководством медицинских сестер, чем лечением под руководством </a:t>
            </a:r>
            <a:r>
              <a:rPr lang="ru-RU" sz="5400" dirty="0" smtClean="0"/>
              <a:t>врач. </a:t>
            </a:r>
            <a:r>
              <a:rPr lang="ru-RU" sz="5400" dirty="0"/>
              <a:t>Однако поиск литературы не  выявил качественного исследования, описывающего участие медицинских сестер в </a:t>
            </a:r>
            <a:r>
              <a:rPr lang="ru-RU" sz="5400" dirty="0" err="1"/>
              <a:t>антикоагулянтной</a:t>
            </a:r>
            <a:r>
              <a:rPr lang="ru-RU" sz="5400" dirty="0"/>
              <a:t> терапии в Казахстане</a:t>
            </a:r>
            <a:endParaRPr lang="en-US" sz="5400" dirty="0"/>
          </a:p>
          <a:p>
            <a:pPr marL="914400" indent="-914400">
              <a:spcBef>
                <a:spcPts val="0"/>
              </a:spcBef>
              <a:buAutoNum type="arabicPeriod"/>
            </a:pPr>
            <a:r>
              <a:rPr lang="ru-RU" sz="5400" dirty="0" smtClean="0"/>
              <a:t>Исследовательский вопрос:</a:t>
            </a:r>
          </a:p>
          <a:p>
            <a:pPr>
              <a:spcBef>
                <a:spcPts val="0"/>
              </a:spcBef>
            </a:pPr>
            <a:r>
              <a:rPr lang="ru-RU" sz="5400" dirty="0" smtClean="0"/>
              <a:t>Как </a:t>
            </a:r>
            <a:r>
              <a:rPr lang="ru-RU" sz="5400" dirty="0"/>
              <a:t>медсестры, врачи описывают участие медсестер в </a:t>
            </a:r>
            <a:r>
              <a:rPr lang="ru-RU" sz="5400" dirty="0" err="1"/>
              <a:t>антикоагулянтной</a:t>
            </a:r>
            <a:r>
              <a:rPr lang="ru-RU" sz="5400" dirty="0"/>
              <a:t> терапии у больных с фибрилляцией предсердий</a:t>
            </a:r>
            <a:r>
              <a:rPr lang="ru-RU" sz="5400" dirty="0" smtClean="0"/>
              <a:t>?</a:t>
            </a:r>
          </a:p>
          <a:p>
            <a:pPr>
              <a:spcBef>
                <a:spcPts val="0"/>
              </a:spcBef>
            </a:pPr>
            <a:r>
              <a:rPr lang="ru-RU" sz="5400" dirty="0"/>
              <a:t>2. Цель</a:t>
            </a:r>
            <a:r>
              <a:rPr lang="ru-RU" sz="5400" dirty="0" smtClean="0"/>
              <a:t>: Оценить </a:t>
            </a:r>
            <a:r>
              <a:rPr lang="ru-RU" sz="5400" dirty="0"/>
              <a:t>участие медицинских сестер в </a:t>
            </a:r>
            <a:r>
              <a:rPr lang="ru-RU" sz="5400" dirty="0" err="1"/>
              <a:t>антикоагулянтной</a:t>
            </a:r>
            <a:r>
              <a:rPr lang="ru-RU" sz="5400" dirty="0"/>
              <a:t> терапии на различных этапах организации сестринского процесса в амбулаторных условиях поликлиник </a:t>
            </a:r>
            <a:r>
              <a:rPr lang="ru-RU" sz="5400" dirty="0" err="1"/>
              <a:t>г.Актобе</a:t>
            </a:r>
            <a:r>
              <a:rPr lang="ru-RU" sz="5400" dirty="0"/>
              <a:t>, Казахстан.</a:t>
            </a:r>
            <a:endParaRPr lang="en-US" sz="5400" dirty="0" smtClean="0"/>
          </a:p>
          <a:p>
            <a:r>
              <a:rPr lang="ru-RU" sz="5400" dirty="0"/>
              <a:t>3.Задачи</a:t>
            </a:r>
            <a:r>
              <a:rPr lang="ru-RU" sz="5400" dirty="0" smtClean="0"/>
              <a:t>:</a:t>
            </a:r>
          </a:p>
          <a:p>
            <a:r>
              <a:rPr lang="ru-RU" sz="5400" dirty="0" smtClean="0"/>
              <a:t>а)</a:t>
            </a:r>
            <a:r>
              <a:rPr lang="ru-RU" sz="5400" dirty="0" err="1" smtClean="0"/>
              <a:t>Полуструктурированные</a:t>
            </a:r>
            <a:r>
              <a:rPr lang="ru-RU" sz="5400" dirty="0" smtClean="0"/>
              <a:t> </a:t>
            </a:r>
            <a:r>
              <a:rPr lang="ru-RU" sz="5400" dirty="0"/>
              <a:t>интервью для изучения вовлеченности медицинских сестер, врачей в практику </a:t>
            </a:r>
            <a:r>
              <a:rPr lang="ru-RU" sz="5400" dirty="0" err="1"/>
              <a:t>антикоагулянтной</a:t>
            </a:r>
            <a:r>
              <a:rPr lang="ru-RU" sz="5400" dirty="0"/>
              <a:t> терапии</a:t>
            </a:r>
            <a:r>
              <a:rPr lang="ru-RU" sz="5400" dirty="0" smtClean="0"/>
              <a:t>.</a:t>
            </a:r>
          </a:p>
          <a:p>
            <a:r>
              <a:rPr lang="en-US" sz="5400" dirty="0" smtClean="0"/>
              <a:t>b</a:t>
            </a:r>
            <a:r>
              <a:rPr lang="ru-RU" sz="5400" dirty="0" smtClean="0"/>
              <a:t>)Анализ </a:t>
            </a:r>
            <a:r>
              <a:rPr lang="ru-RU" sz="5400" dirty="0"/>
              <a:t>Данных: Индуктивный Контент-Анализ</a:t>
            </a:r>
            <a:endParaRPr lang="en-US" sz="5400" dirty="0"/>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3706055" y="5655418"/>
            <a:ext cx="10777965" cy="26222541"/>
          </a:xfrm>
          <a:ln>
            <a:noFill/>
          </a:ln>
        </p:spPr>
        <p:txBody>
          <a:bodyPr/>
          <a:lstStyle/>
          <a:p>
            <a:r>
              <a:rPr lang="ru-RU" sz="5400" dirty="0"/>
              <a:t>Проводиться качественное исследование вовлеченности медицинских сестер в практику </a:t>
            </a:r>
            <a:r>
              <a:rPr lang="ru-RU" sz="5400" dirty="0" err="1"/>
              <a:t>антикоагулянтной</a:t>
            </a:r>
            <a:r>
              <a:rPr lang="ru-RU" sz="5400" dirty="0"/>
              <a:t> терапии пациентов с фибрилляции предсердий с целью понимания того, каковы проблемы увеличения участия медицинских сестер </a:t>
            </a:r>
            <a:r>
              <a:rPr lang="ru-RU" sz="5400" dirty="0" err="1"/>
              <a:t>вэтом</a:t>
            </a:r>
            <a:r>
              <a:rPr lang="ru-RU" sz="5400" dirty="0"/>
              <a:t> процессе. Инструменты сбора данных включают открытые вопросы в </a:t>
            </a:r>
            <a:r>
              <a:rPr lang="ru-RU" sz="5400" dirty="0" err="1"/>
              <a:t>полуструктурированном</a:t>
            </a:r>
            <a:r>
              <a:rPr lang="ru-RU" sz="5400" dirty="0"/>
              <a:t> интервью для медицинских сестер и врачей. Составленные вопросы перед началом основного сбора данных, предварительно проверены в пилотных интервью, что повысит достоверность результатов, полученных в ходе основного </a:t>
            </a:r>
            <a:r>
              <a:rPr lang="ru-RU" sz="5400" dirty="0" err="1"/>
              <a:t>анализаМы</a:t>
            </a:r>
            <a:r>
              <a:rPr lang="ru-RU" sz="5400" dirty="0"/>
              <a:t> использовали целенаправленную выборку. Целевая группа: медсестры и врачи кардиологических отделений поликлиник города </a:t>
            </a:r>
            <a:r>
              <a:rPr lang="ru-RU" sz="5400" dirty="0" err="1"/>
              <a:t>Актобе</a:t>
            </a:r>
            <a:r>
              <a:rPr lang="ru-RU" sz="5400" dirty="0"/>
              <a:t>, непосредственно участвующие в назначении и контроле </a:t>
            </a:r>
            <a:r>
              <a:rPr lang="ru-RU" sz="5400" dirty="0" err="1"/>
              <a:t>антикоагулянтной</a:t>
            </a:r>
            <a:r>
              <a:rPr lang="ru-RU" sz="5400" dirty="0"/>
              <a:t> терапии пациентам с фибрилляций предсердий. Размер выборки будет определятся достижением </a:t>
            </a:r>
            <a:r>
              <a:rPr lang="ru-RU" sz="5400" dirty="0" smtClean="0"/>
              <a:t>сатурации</a:t>
            </a:r>
            <a:r>
              <a:rPr lang="en-US" sz="5400" dirty="0"/>
              <a:t>.</a:t>
            </a:r>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3899954" y="4498247"/>
            <a:ext cx="10048875" cy="1107988"/>
          </a:xfrm>
        </p:spPr>
        <p:txBody>
          <a:bodyPr/>
          <a:lstStyle/>
          <a:p>
            <a:pPr algn="l"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24484021" y="6215448"/>
            <a:ext cx="8978491" cy="23729551"/>
          </a:xfrm>
          <a:ln>
            <a:noFill/>
          </a:ln>
        </p:spPr>
        <p:txBody>
          <a:bodyPr/>
          <a:lstStyle/>
          <a:p>
            <a:r>
              <a:rPr lang="ru-RU" sz="5400" dirty="0"/>
              <a:t>Будет использоваться индуктивный контент-анализ данных интервью</a:t>
            </a:r>
            <a:r>
              <a:rPr lang="ru-RU" sz="5400" dirty="0" smtClean="0"/>
              <a:t>.</a:t>
            </a:r>
            <a:r>
              <a:rPr lang="en-US" sz="5400" dirty="0" smtClean="0"/>
              <a:t> </a:t>
            </a:r>
            <a:r>
              <a:rPr lang="ru-RU" sz="5400" dirty="0" smtClean="0"/>
              <a:t>Тексты </a:t>
            </a:r>
            <a:r>
              <a:rPr lang="ru-RU" sz="5400" dirty="0"/>
              <a:t>интервью будут прочитаны отдельно двумя авторами, чтобы получить общее представление о содержании, после чего будут  выбраны содержательные единицы. Выбранные единицы будут закодированы и помещены в листы кодирования</a:t>
            </a:r>
            <a:r>
              <a:rPr lang="ru-RU" sz="5400" dirty="0" smtClean="0"/>
              <a:t>, что </a:t>
            </a:r>
            <a:r>
              <a:rPr lang="ru-RU" sz="5400" dirty="0"/>
              <a:t>обеспечит анонимность и конфиденциальность участников. Таблицы кодирования будут обрабатываться всеми авторами и обсуждаться в исследовательской группе для обеспечения </a:t>
            </a:r>
            <a:r>
              <a:rPr lang="ru-RU" sz="5400" dirty="0" err="1"/>
              <a:t>валидности</a:t>
            </a:r>
            <a:r>
              <a:rPr lang="ru-RU" sz="5400" dirty="0"/>
              <a:t>. Следующим шагом будет создание общих категорий и подкатегорий, основанных на сходствах и различиях между содержимым.</a:t>
            </a:r>
            <a:endParaRPr lang="en-US" sz="66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4484021" y="4716707"/>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4191603" y="5009094"/>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3813330" y="6571644"/>
            <a:ext cx="9053691" cy="12261796"/>
          </a:xfrm>
          <a:ln>
            <a:noFill/>
          </a:ln>
        </p:spPr>
        <p:txBody>
          <a:bodyPr/>
          <a:lstStyle/>
          <a:p>
            <a:r>
              <a:rPr lang="ru-RU" sz="5400" dirty="0"/>
              <a:t>Ожидаемые конечные результаты: Определение  существующей роли медицинской сестры в процессе контроля </a:t>
            </a:r>
            <a:r>
              <a:rPr lang="ru-RU" sz="5400" dirty="0" err="1"/>
              <a:t>антикоагулянтной</a:t>
            </a:r>
            <a:r>
              <a:rPr lang="ru-RU" sz="5400" dirty="0"/>
              <a:t> терапии  у пациентов с мерцательной аритмией.</a:t>
            </a:r>
          </a:p>
          <a:p>
            <a:r>
              <a:rPr lang="ru-RU" sz="5400" dirty="0"/>
              <a:t>Выводы: Проводимое исследование позволит оценить участие медицинской сестры   в  процессе контроля </a:t>
            </a:r>
            <a:r>
              <a:rPr lang="ru-RU" sz="5400" dirty="0" err="1"/>
              <a:t>антикоагулянтной</a:t>
            </a:r>
            <a:r>
              <a:rPr lang="ru-RU" sz="5400" dirty="0"/>
              <a:t> терапии  и наметить возможные пути улучшения  ситуации</a:t>
            </a:r>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6209509" y="3398839"/>
            <a:ext cx="31998968" cy="1140673"/>
          </a:xfrm>
        </p:spPr>
        <p:txBody>
          <a:bodyPr>
            <a:normAutofit/>
          </a:bodyPr>
          <a:lstStyle/>
          <a:p>
            <a:r>
              <a:rPr lang="ru-RU" b="1" dirty="0"/>
              <a:t>НАО «</a:t>
            </a:r>
            <a:r>
              <a:rPr lang="kk-KZ" b="1" dirty="0"/>
              <a:t>Западно-Казахстанский медицинский </a:t>
            </a:r>
            <a:r>
              <a:rPr lang="kk-KZ" b="1" dirty="0" smtClean="0"/>
              <a:t>университет имени </a:t>
            </a:r>
            <a:r>
              <a:rPr lang="kk-KZ" b="1" dirty="0"/>
              <a:t>Марата Оспанова» г. Актобе,</a:t>
            </a:r>
            <a:r>
              <a:rPr lang="ru-RU" b="1" dirty="0"/>
              <a:t>Республика Казахстан</a:t>
            </a:r>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1173690" y="2224091"/>
            <a:ext cx="42686658" cy="1280160"/>
          </a:xfrm>
        </p:spPr>
        <p:txBody>
          <a:bodyPr>
            <a:noAutofit/>
          </a:bodyPr>
          <a:lstStyle/>
          <a:p>
            <a:r>
              <a:rPr lang="kk-KZ" b="1" dirty="0"/>
              <a:t>Қаршыға Ә.А. магистрант специальности «Сестринское дело</a:t>
            </a:r>
            <a:r>
              <a:rPr lang="kk-KZ" b="1" dirty="0" smtClean="0"/>
              <a:t>» </a:t>
            </a:r>
            <a:r>
              <a:rPr lang="ru-RU" b="1" dirty="0" smtClean="0"/>
              <a:t>Научны</a:t>
            </a:r>
            <a:r>
              <a:rPr lang="kk-KZ" b="1" dirty="0"/>
              <a:t>й </a:t>
            </a:r>
            <a:r>
              <a:rPr lang="ru-RU" b="1" dirty="0" err="1"/>
              <a:t>руководител</a:t>
            </a:r>
            <a:r>
              <a:rPr lang="kk-KZ" b="1" dirty="0"/>
              <a:t>ь</a:t>
            </a:r>
            <a:r>
              <a:rPr lang="ru-RU" b="1" dirty="0"/>
              <a:t>: </a:t>
            </a:r>
            <a:r>
              <a:rPr lang="kk-KZ" b="1" dirty="0"/>
              <a:t>к</a:t>
            </a:r>
            <a:r>
              <a:rPr lang="ru-RU" b="1" dirty="0"/>
              <a:t>.</a:t>
            </a:r>
            <a:r>
              <a:rPr lang="ru-RU" b="1" dirty="0" err="1"/>
              <a:t>м.н</a:t>
            </a:r>
            <a:r>
              <a:rPr lang="ru-RU" b="1" dirty="0"/>
              <a:t>., </a:t>
            </a:r>
            <a:r>
              <a:rPr lang="kk-KZ" b="1" dirty="0"/>
              <a:t>доцент Векленко Г.В.</a:t>
            </a:r>
            <a:endParaRPr lang="ru-RU" dirty="0"/>
          </a:p>
          <a:p>
            <a:endParaRPr lang="ru-RU"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1173690" y="0"/>
            <a:ext cx="41963696" cy="1359394"/>
          </a:xfrm>
        </p:spPr>
        <p:txBody>
          <a:bodyPr>
            <a:noAutofit/>
          </a:bodyPr>
          <a:lstStyle/>
          <a:p>
            <a:r>
              <a:rPr lang="ru-RU" cap="all" dirty="0"/>
              <a:t>качественное исследование в сестринском деле: вовлеченность медицинской </a:t>
            </a:r>
            <a:r>
              <a:rPr lang="ru-RU" cap="all" dirty="0" smtClean="0"/>
              <a:t>сестры </a:t>
            </a:r>
            <a:r>
              <a:rPr lang="ru-RU" cap="all" dirty="0"/>
              <a:t>в процесс </a:t>
            </a:r>
            <a:r>
              <a:rPr lang="ru-RU" cap="all" dirty="0" err="1"/>
              <a:t>антикоагулянтной</a:t>
            </a:r>
            <a:r>
              <a:rPr lang="ru-RU" cap="all" dirty="0"/>
              <a:t> терапии</a:t>
            </a:r>
            <a:endParaRPr lang="ru-RU" dirty="0"/>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3422437" y="28370970"/>
            <a:ext cx="9444584" cy="255452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en-US" sz="4000" dirty="0" smtClean="0">
                <a:hlinkClick r:id="rId3"/>
              </a:rPr>
              <a:t>askankyzy@mail.ru</a:t>
            </a:r>
            <a:endParaRPr lang="en-US" sz="4000" dirty="0" smtClean="0"/>
          </a:p>
          <a:p>
            <a:pPr algn="l" rtl="0"/>
            <a:r>
              <a:rPr lang="en-US" sz="4000" dirty="0" smtClean="0"/>
              <a:t>87074996517</a:t>
            </a:r>
          </a:p>
          <a:p>
            <a:pPr algn="l" rtl="0"/>
            <a:r>
              <a:rPr lang="kk-KZ" sz="4000" dirty="0" smtClean="0"/>
              <a:t>Қаршыға Ә.А.</a:t>
            </a:r>
            <a:endParaRPr lang="en-US" sz="4000" dirty="0" smtClean="0"/>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1490</TotalTime>
  <Words>509</Words>
  <Application>Microsoft Office PowerPoint</Application>
  <PresentationFormat>Произвольный</PresentationFormat>
  <Paragraphs>30</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91</cp:revision>
  <dcterms:created xsi:type="dcterms:W3CDTF">2012-02-03T19:11:35Z</dcterms:created>
  <dcterms:modified xsi:type="dcterms:W3CDTF">2020-11-30T02:29:21Z</dcterms:modified>
  <cp:category>Research poster templates</cp:category>
</cp:coreProperties>
</file>