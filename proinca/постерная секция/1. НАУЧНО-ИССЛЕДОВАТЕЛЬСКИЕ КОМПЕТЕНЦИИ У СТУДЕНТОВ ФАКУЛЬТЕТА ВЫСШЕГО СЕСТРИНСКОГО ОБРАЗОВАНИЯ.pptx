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
  </p:notesMasterIdLst>
  <p:handoutMasterIdLst>
    <p:handoutMasterId r:id="rId4"/>
  </p:handoutMasterIdLst>
  <p:sldIdLst>
    <p:sldId id="258" r:id="rId2"/>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76" userDrawn="1">
          <p15:clr>
            <a:srgbClr val="A4A3A4"/>
          </p15:clr>
        </p15:guide>
        <p15:guide id="2" orient="horz" pos="288">
          <p15:clr>
            <a:srgbClr val="A4A3A4"/>
          </p15:clr>
        </p15:guide>
        <p15:guide id="3" orient="horz" pos="19656" userDrawn="1">
          <p15:clr>
            <a:srgbClr val="A4A3A4"/>
          </p15:clr>
        </p15:guide>
        <p15:guide id="4" orient="horz">
          <p15:clr>
            <a:srgbClr val="A4A3A4"/>
          </p15:clr>
        </p15:guide>
        <p15:guide id="5" pos="744" userDrawn="1">
          <p15:clr>
            <a:srgbClr val="A4A3A4"/>
          </p15:clr>
        </p15:guide>
        <p15:guide id="6" pos="270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7966" autoAdjust="0"/>
    <p:restoredTop sz="79073" autoAdjust="0"/>
  </p:normalViewPr>
  <p:slideViewPr>
    <p:cSldViewPr snapToGrid="0" snapToObjects="1" showGuides="1">
      <p:cViewPr varScale="1">
        <p:scale>
          <a:sx n="24" d="100"/>
          <a:sy n="24" d="100"/>
        </p:scale>
        <p:origin x="2058" y="126"/>
      </p:cViewPr>
      <p:guideLst>
        <p:guide orient="horz" pos="2976"/>
        <p:guide orient="horz" pos="288"/>
        <p:guide orient="horz" pos="19656"/>
        <p:guide orient="horz"/>
        <p:guide pos="744"/>
        <p:guide pos="2700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11/30/2020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11/30/2020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pPr marL="0" indent="0" algn="l" rtl="0">
              <a:buFont typeface="Arial" panose="020B0604020202020204" pitchFamily="34" charset="0"/>
              <a:buNone/>
            </a:pPr>
            <a:r>
              <a:rPr lang="en-US" b="1" dirty="0"/>
              <a:t>Прочти меня:</a:t>
            </a:r>
          </a:p>
          <a:p>
            <a:pPr marL="0" indent="0" algn="l" rtl="0">
              <a:buFont typeface="Arial" panose="020B0604020202020204" pitchFamily="34" charset="0"/>
              <a:buNone/>
            </a:pPr>
            <a:endParaRPr lang="en-US" b="1" dirty="0"/>
          </a:p>
          <a:p>
            <a:pPr marL="0" indent="0" algn="l" rtl="0">
              <a:buFont typeface="Arial" panose="020B0604020202020204" pitchFamily="34" charset="0"/>
              <a:buNone/>
            </a:pPr>
            <a:r>
              <a:rPr lang="en-US" dirty="0" smtClean="0"/>
              <a:t>* </a:t>
            </a:r>
            <a:r>
              <a:rPr lang="ru-RU" dirty="0" smtClean="0"/>
              <a:t>Используйте </a:t>
            </a:r>
            <a:r>
              <a:rPr lang="en-US" dirty="0" err="1" smtClean="0"/>
              <a:t>этот</a:t>
            </a:r>
            <a:r>
              <a:rPr lang="en-US" dirty="0" smtClean="0"/>
              <a:t> </a:t>
            </a:r>
            <a:r>
              <a:rPr lang="en-US" dirty="0"/>
              <a:t>шаблон соответствующим образом. </a:t>
            </a:r>
            <a:endParaRPr lang="ru-RU" dirty="0" smtClean="0"/>
          </a:p>
          <a:p>
            <a:pPr marL="0" indent="0" algn="l" rtl="0">
              <a:buFont typeface="Arial" panose="020B0604020202020204" pitchFamily="34" charset="0"/>
              <a:buNone/>
            </a:pPr>
            <a:endParaRPr lang="ru-RU" dirty="0" smtClean="0"/>
          </a:p>
          <a:p>
            <a:pPr marL="0" indent="0" algn="l" rtl="0">
              <a:buFont typeface="Arial" panose="020B0604020202020204" pitchFamily="34" charset="0"/>
              <a:buNone/>
            </a:pPr>
            <a:r>
              <a:rPr lang="en-US" dirty="0" smtClean="0"/>
              <a:t>* </a:t>
            </a:r>
            <a:r>
              <a:rPr lang="en-US" dirty="0" err="1" smtClean="0"/>
              <a:t>Заголовки</a:t>
            </a:r>
            <a:r>
              <a:rPr lang="en-US" dirty="0" smtClean="0"/>
              <a:t> </a:t>
            </a:r>
            <a:r>
              <a:rPr lang="en-US" dirty="0"/>
              <a:t>могут меняться в зависимости от типа вашего исследования. Пожалуйста, сохраните тип шрифта и размер шрифта, так как это повлияет на его внешний вид в Zoom. </a:t>
            </a:r>
            <a:r>
              <a:rPr lang="en-US" dirty="0" smtClean="0"/>
              <a:t>(</a:t>
            </a:r>
            <a:r>
              <a:rPr lang="ru-RU" b="1" dirty="0" smtClean="0"/>
              <a:t>З</a:t>
            </a:r>
            <a:r>
              <a:rPr lang="en-US" b="1" dirty="0" err="1" smtClean="0"/>
              <a:t>аглавие</a:t>
            </a:r>
            <a:r>
              <a:rPr lang="en-US" dirty="0"/>
              <a:t>, Calibri, жирный, 80; </a:t>
            </a:r>
            <a:r>
              <a:rPr lang="en-US" b="1" dirty="0"/>
              <a:t>Автор</a:t>
            </a:r>
            <a:r>
              <a:rPr lang="en-US" dirty="0"/>
              <a:t>, </a:t>
            </a:r>
            <a:r>
              <a:rPr lang="en-US" dirty="0" smtClean="0"/>
              <a:t>Calibri, </a:t>
            </a:r>
            <a:r>
              <a:rPr lang="en-US" dirty="0"/>
              <a:t>66; </a:t>
            </a:r>
            <a:r>
              <a:rPr lang="ru-RU" b="1" dirty="0" smtClean="0"/>
              <a:t>Место работы</a:t>
            </a:r>
            <a:r>
              <a:rPr lang="en-US" dirty="0" smtClean="0"/>
              <a:t>, Calibri, </a:t>
            </a:r>
            <a:r>
              <a:rPr lang="en-US" dirty="0"/>
              <a:t>44; </a:t>
            </a:r>
            <a:r>
              <a:rPr lang="en-US" b="1" dirty="0"/>
              <a:t>Подзаголовок</a:t>
            </a:r>
            <a:r>
              <a:rPr lang="en-US" dirty="0"/>
              <a:t>, Calibri, все заглавные, жирный, подчеркивание, 60; </a:t>
            </a:r>
            <a:r>
              <a:rPr lang="en-US" b="1" dirty="0"/>
              <a:t>Текст</a:t>
            </a:r>
            <a:r>
              <a:rPr lang="en-US" dirty="0"/>
              <a:t>, </a:t>
            </a:r>
            <a:r>
              <a:rPr lang="en-US" dirty="0" smtClean="0"/>
              <a:t>Calibri, </a:t>
            </a:r>
            <a:r>
              <a:rPr lang="en-US" dirty="0"/>
              <a:t>54; </a:t>
            </a:r>
            <a:r>
              <a:rPr lang="en-US" b="1" dirty="0"/>
              <a:t>Контакты</a:t>
            </a:r>
            <a:r>
              <a:rPr lang="en-US" dirty="0"/>
              <a:t>, Calibri, подчеркивание, 40, текст Calibri, 40) </a:t>
            </a:r>
            <a:endParaRPr lang="ru-RU" dirty="0" smtClean="0"/>
          </a:p>
          <a:p>
            <a:pPr marL="0" indent="0" algn="l" rtl="0">
              <a:buFont typeface="Arial" panose="020B0604020202020204" pitchFamily="34" charset="0"/>
              <a:buNone/>
            </a:pPr>
            <a:endParaRPr lang="en-US" dirty="0"/>
          </a:p>
          <a:p>
            <a:pPr algn="l" rtl="0"/>
            <a:r>
              <a:rPr lang="en-US" dirty="0"/>
              <a:t>* Рекомендуется во время </a:t>
            </a:r>
            <a:r>
              <a:rPr lang="en-US" dirty="0" err="1"/>
              <a:t>презентации</a:t>
            </a:r>
            <a:r>
              <a:rPr lang="en-US" dirty="0"/>
              <a:t> </a:t>
            </a:r>
            <a:r>
              <a:rPr lang="ru-RU" dirty="0" smtClean="0"/>
              <a:t>показать </a:t>
            </a:r>
            <a:r>
              <a:rPr lang="en-US" dirty="0" err="1" smtClean="0"/>
              <a:t>ваш</a:t>
            </a:r>
            <a:r>
              <a:rPr lang="en-US" dirty="0" smtClean="0"/>
              <a:t> </a:t>
            </a:r>
            <a:r>
              <a:rPr lang="en-US" b="1" dirty="0" smtClean="0"/>
              <a:t>п</a:t>
            </a:r>
            <a:r>
              <a:rPr lang="ru-RU" b="1" dirty="0" smtClean="0"/>
              <a:t>остер</a:t>
            </a:r>
            <a:r>
              <a:rPr lang="en-US" b="1" dirty="0" smtClean="0"/>
              <a:t> </a:t>
            </a:r>
            <a:r>
              <a:rPr lang="en-US" b="1" dirty="0"/>
              <a:t>и </a:t>
            </a:r>
            <a:r>
              <a:rPr lang="en-US" dirty="0"/>
              <a:t> </a:t>
            </a:r>
            <a:r>
              <a:rPr lang="en-US" b="1" dirty="0" smtClean="0"/>
              <a:t>Zoom</a:t>
            </a:r>
            <a:r>
              <a:rPr lang="en-US" b="1" baseline="0" dirty="0" smtClean="0"/>
              <a:t> </a:t>
            </a:r>
            <a:r>
              <a:rPr lang="ru-RU" b="0" baseline="0" dirty="0" smtClean="0"/>
              <a:t>в</a:t>
            </a:r>
            <a:r>
              <a:rPr lang="en-US" dirty="0" smtClean="0"/>
              <a:t> </a:t>
            </a:r>
            <a:r>
              <a:rPr lang="en-US" b="1" dirty="0" smtClean="0"/>
              <a:t>ПОЛНОЭКРАНН</a:t>
            </a:r>
            <a:r>
              <a:rPr lang="ru-RU" b="1" dirty="0" smtClean="0"/>
              <a:t>ОМ </a:t>
            </a:r>
            <a:r>
              <a:rPr lang="ru-RU" b="0" dirty="0" smtClean="0"/>
              <a:t>режиме</a:t>
            </a:r>
            <a:r>
              <a:rPr lang="en-US" b="0" dirty="0" smtClean="0"/>
              <a:t>. </a:t>
            </a:r>
            <a:endParaRPr lang="en-US" b="0" dirty="0"/>
          </a:p>
        </p:txBody>
      </p:sp>
      <p:sp>
        <p:nvSpPr>
          <p:cNvPr id="4" name="Slide Number Placeholder 3"/>
          <p:cNvSpPr>
            <a:spLocks noGrp="1"/>
          </p:cNvSpPr>
          <p:nvPr>
            <p:ph type="sldNum" sz="quarter" idx="5"/>
          </p:nvPr>
        </p:nvSpPr>
        <p:spPr/>
        <p:txBody>
          <a:bodyPr/>
          <a:lstStyle/>
          <a:p>
            <a:fld id="{26A1A87D-CAF7-4BDC-A0D3-C0DBEDE81619}" type="slidenum">
              <a:rPr lang="en-US" smtClean="0"/>
              <a:pPr algn="l" rtl="0"/>
              <a:t>1</a:t>
            </a:fld>
            <a:endParaRPr lang="en-US" dirty="0"/>
          </a:p>
        </p:txBody>
      </p:sp>
    </p:spTree>
    <p:extLst>
      <p:ext uri="{BB962C8B-B14F-4D97-AF65-F5344CB8AC3E}">
        <p14:creationId xmlns:p14="http://schemas.microsoft.com/office/powerpoint/2010/main" val="1006920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148074" y="5966815"/>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1148074" y="510983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1090242" y="14181956"/>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681570"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681569" y="5146225"/>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207127"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215064" y="5146225"/>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2763535" y="514622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2763535" y="5966815"/>
            <a:ext cx="10047018"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2763535" y="1426545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2761019" y="1506797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2763535"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2761019" y="2643344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1083891" y="14995183"/>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2947817"/>
            <a:ext cx="31998968" cy="1280160"/>
          </a:xfrm>
          <a:prstGeom prst="rect">
            <a:avLst/>
          </a:prstGeom>
        </p:spPr>
        <p:txBody>
          <a:bodyPr>
            <a:normAutofit/>
          </a:bodyPr>
          <a:lstStyle>
            <a:lvl1pPr marL="0" indent="0" algn="ctr">
              <a:buFontTx/>
              <a:buNone/>
              <a:defRPr sz="44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628358"/>
            <a:ext cx="31998968" cy="1280160"/>
          </a:xfrm>
          <a:prstGeom prst="rect">
            <a:avLst/>
          </a:prstGeom>
        </p:spPr>
        <p:txBody>
          <a:bodyPr anchor="t" anchorCtr="1">
            <a:normAutofit/>
          </a:bodyPr>
          <a:lstStyle>
            <a:lvl1pPr marL="0" indent="0" algn="ctr">
              <a:buFontTx/>
              <a:buNone/>
              <a:defRPr sz="66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209782"/>
            <a:ext cx="31998968" cy="1359394"/>
          </a:xfrm>
          <a:prstGeom prst="rect">
            <a:avLst/>
          </a:prstGeom>
        </p:spPr>
        <p:txBody>
          <a:bodyPr anchor="t" anchorCtr="1">
            <a:normAutofit/>
          </a:bodyPr>
          <a:lstStyle>
            <a:lvl1pPr marL="0" indent="0" algn="ctr">
              <a:buFontTx/>
              <a:buNone/>
              <a:defRPr sz="8000" b="1">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545458512"/>
      </p:ext>
    </p:extLst>
  </p:cSld>
  <p:clrMapOvr>
    <a:masterClrMapping/>
  </p:clrMapOvr>
  <p:extLst>
    <p:ext uri="{DCECCB84-F9BA-43D5-87BE-67443E8EF086}">
      <p15:sldGuideLst xmlns:p15="http://schemas.microsoft.com/office/powerpoint/2012/main">
        <p15:guide id="1" orient="horz" pos="3216">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sp>
        <p:nvSpPr>
          <p:cNvPr id="3" name="Rectangle 36">
            <a:extLst>
              <a:ext uri="{FF2B5EF4-FFF2-40B4-BE49-F238E27FC236}">
                <a16:creationId xmlns:a16="http://schemas.microsoft.com/office/drawing/2014/main" xmlns="" id="{946E5B6B-C0EB-774F-84E6-DB70C1B05BBB}"/>
              </a:ext>
            </a:extLst>
          </p:cNvPr>
          <p:cNvSpPr>
            <a:spLocks noChangeArrowheads="1"/>
          </p:cNvSpPr>
          <p:nvPr userDrawn="1"/>
        </p:nvSpPr>
        <p:spPr bwMode="auto">
          <a:xfrm>
            <a:off x="0" y="31191530"/>
            <a:ext cx="43891200" cy="1726870"/>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4" name="Rectangle 36">
            <a:extLst>
              <a:ext uri="{FF2B5EF4-FFF2-40B4-BE49-F238E27FC236}">
                <a16:creationId xmlns:a16="http://schemas.microsoft.com/office/drawing/2014/main" xmlns="" id="{630A12C4-97F8-4F40-B1A5-92179D7A776E}"/>
              </a:ext>
            </a:extLst>
          </p:cNvPr>
          <p:cNvSpPr>
            <a:spLocks noChangeArrowheads="1"/>
          </p:cNvSpPr>
          <p:nvPr userDrawn="1"/>
        </p:nvSpPr>
        <p:spPr bwMode="auto">
          <a:xfrm>
            <a:off x="0" y="-15834"/>
            <a:ext cx="43891200" cy="5186922"/>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5" name="Rounded Rectangle 4">
            <a:extLst>
              <a:ext uri="{FF2B5EF4-FFF2-40B4-BE49-F238E27FC236}">
                <a16:creationId xmlns:a16="http://schemas.microsoft.com/office/drawing/2014/main" xmlns="" id="{F0E3A844-C1E6-A44D-8098-DA3E856EA7D8}"/>
              </a:ext>
            </a:extLst>
          </p:cNvPr>
          <p:cNvSpPr/>
          <p:nvPr userDrawn="1"/>
        </p:nvSpPr>
        <p:spPr>
          <a:xfrm>
            <a:off x="731517" y="4135663"/>
            <a:ext cx="42428163" cy="27683945"/>
          </a:xfrm>
          <a:prstGeom prst="roundRect">
            <a:avLst>
              <a:gd name="adj" fmla="val 0"/>
            </a:avLst>
          </a:prstGeom>
          <a:solidFill>
            <a:schemeClr val="bg1"/>
          </a:solidFill>
          <a:ln w="19050">
            <a:solidFill>
              <a:schemeClr val="accent1">
                <a:lumMod val="50000"/>
              </a:schemeClr>
            </a:solidFill>
          </a:ln>
          <a:effectLst>
            <a:outerShdw blurRad="355600" sx="101000" sy="101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978"/>
          </a:p>
        </p:txBody>
      </p:sp>
      <p:sp>
        <p:nvSpPr>
          <p:cNvPr id="6" name="Text Box 14">
            <a:extLst>
              <a:ext uri="{FF2B5EF4-FFF2-40B4-BE49-F238E27FC236}">
                <a16:creationId xmlns:a16="http://schemas.microsoft.com/office/drawing/2014/main" xmlns="" id="{D39F7EEB-85E1-AB4C-AFD9-37B035A830F0}"/>
              </a:ext>
            </a:extLst>
          </p:cNvPr>
          <p:cNvSpPr txBox="1">
            <a:spLocks noChangeArrowheads="1"/>
          </p:cNvSpPr>
          <p:nvPr userDrawn="1"/>
        </p:nvSpPr>
        <p:spPr bwMode="auto">
          <a:xfrm>
            <a:off x="731517" y="32054965"/>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F1530E01-B262-B047-951C-9A1F3925E675}"/>
              </a:ext>
            </a:extLst>
          </p:cNvPr>
          <p:cNvSpPr>
            <a:spLocks noGrp="1"/>
          </p:cNvSpPr>
          <p:nvPr>
            <p:ph type="body" sz="quarter" idx="10"/>
          </p:nvPr>
        </p:nvSpPr>
        <p:spPr>
          <a:xfrm>
            <a:off x="1173690" y="5517743"/>
            <a:ext cx="10056813" cy="15087185"/>
          </a:xfrm>
          <a:ln>
            <a:noFill/>
          </a:ln>
        </p:spPr>
        <p:txBody>
          <a:bodyPr/>
          <a:lstStyle/>
          <a:p>
            <a:pPr algn="just"/>
            <a:r>
              <a:rPr lang="ru-RU" sz="5400" dirty="0"/>
              <a:t>Научные исследования в области сестринского дела являются основой для повышения и укрепления системы подготовки специалистов сестринского дела, повышение качества сестринской помощи населению и признание уникальной роли и престижа сестринской профессии. </a:t>
            </a:r>
            <a:endParaRPr lang="en-US" sz="5400" dirty="0"/>
          </a:p>
          <a:p>
            <a:pPr algn="just"/>
            <a:r>
              <a:rPr lang="ru-RU" sz="5400" dirty="0" smtClean="0"/>
              <a:t>Цель: формирование </a:t>
            </a:r>
            <a:r>
              <a:rPr lang="ru-RU" sz="5400" dirty="0"/>
              <a:t>компетенции у студентов в области исследований сестринского дела.</a:t>
            </a:r>
            <a:endParaRPr lang="en-US" sz="5400" dirty="0"/>
          </a:p>
          <a:p>
            <a:pPr algn="just" rtl="0"/>
            <a:endParaRPr lang="en-US" sz="5400" dirty="0"/>
          </a:p>
          <a:p>
            <a:pPr algn="just" rtl="0"/>
            <a:endParaRPr lang="en-US" sz="5400" dirty="0"/>
          </a:p>
        </p:txBody>
      </p:sp>
      <p:sp>
        <p:nvSpPr>
          <p:cNvPr id="3" name="Text Placeholder 2">
            <a:extLst>
              <a:ext uri="{FF2B5EF4-FFF2-40B4-BE49-F238E27FC236}">
                <a16:creationId xmlns:a16="http://schemas.microsoft.com/office/drawing/2014/main" xmlns="" id="{5670D40C-5BD0-FC47-BDCE-BDE48A160F35}"/>
              </a:ext>
            </a:extLst>
          </p:cNvPr>
          <p:cNvSpPr>
            <a:spLocks noGrp="1"/>
          </p:cNvSpPr>
          <p:nvPr>
            <p:ph type="body" sz="quarter" idx="11"/>
          </p:nvPr>
        </p:nvSpPr>
        <p:spPr>
          <a:xfrm>
            <a:off x="1204542" y="4511042"/>
            <a:ext cx="10048875" cy="1107988"/>
          </a:xfrm>
        </p:spPr>
        <p:txBody>
          <a:bodyPr/>
          <a:lstStyle/>
          <a:p>
            <a:pPr algn="l" rtl="0"/>
            <a:r>
              <a:rPr lang="en-US" sz="6000" dirty="0"/>
              <a:t>ВВЕДЕНИЕ И ЦЕЛИ </a:t>
            </a:r>
          </a:p>
        </p:txBody>
      </p:sp>
      <p:sp>
        <p:nvSpPr>
          <p:cNvPr id="5" name="Text Placeholder 4">
            <a:extLst>
              <a:ext uri="{FF2B5EF4-FFF2-40B4-BE49-F238E27FC236}">
                <a16:creationId xmlns:a16="http://schemas.microsoft.com/office/drawing/2014/main" xmlns="" id="{37463DA4-FC08-CE4D-9DCC-0E2B3981D8B6}"/>
              </a:ext>
            </a:extLst>
          </p:cNvPr>
          <p:cNvSpPr>
            <a:spLocks noGrp="1"/>
          </p:cNvSpPr>
          <p:nvPr>
            <p:ph type="body" sz="quarter" idx="21"/>
          </p:nvPr>
        </p:nvSpPr>
        <p:spPr>
          <a:xfrm>
            <a:off x="11738038" y="5517744"/>
            <a:ext cx="8569262" cy="4616626"/>
          </a:xfrm>
          <a:ln>
            <a:noFill/>
          </a:ln>
        </p:spPr>
        <p:txBody>
          <a:bodyPr/>
          <a:lstStyle/>
          <a:p>
            <a:r>
              <a:rPr lang="ru-RU" sz="5400" dirty="0" smtClean="0"/>
              <a:t>Проведение анализа периодической </a:t>
            </a:r>
            <a:r>
              <a:rPr lang="ru-RU" sz="5400" dirty="0"/>
              <a:t>учебной литературы и интернет-источников по проблематике вопроса. </a:t>
            </a:r>
            <a:endParaRPr lang="en-US" sz="5400" dirty="0"/>
          </a:p>
        </p:txBody>
      </p:sp>
      <p:sp>
        <p:nvSpPr>
          <p:cNvPr id="6" name="Text Placeholder 5">
            <a:extLst>
              <a:ext uri="{FF2B5EF4-FFF2-40B4-BE49-F238E27FC236}">
                <a16:creationId xmlns:a16="http://schemas.microsoft.com/office/drawing/2014/main" xmlns="" id="{46B6BEA9-4297-E841-A5DF-3FC5A8689F40}"/>
              </a:ext>
            </a:extLst>
          </p:cNvPr>
          <p:cNvSpPr>
            <a:spLocks noGrp="1"/>
          </p:cNvSpPr>
          <p:nvPr>
            <p:ph type="body" sz="quarter" idx="22"/>
          </p:nvPr>
        </p:nvSpPr>
        <p:spPr>
          <a:xfrm>
            <a:off x="11738037" y="4547430"/>
            <a:ext cx="10048875" cy="1107988"/>
          </a:xfrm>
        </p:spPr>
        <p:txBody>
          <a:bodyPr/>
          <a:lstStyle/>
          <a:p>
            <a:pPr algn="l" rtl="0"/>
            <a:r>
              <a:rPr lang="en-US" sz="6000" dirty="0"/>
              <a:t>МЕТОДЫ</a:t>
            </a:r>
          </a:p>
        </p:txBody>
      </p:sp>
      <p:sp>
        <p:nvSpPr>
          <p:cNvPr id="7" name="Text Placeholder 6">
            <a:extLst>
              <a:ext uri="{FF2B5EF4-FFF2-40B4-BE49-F238E27FC236}">
                <a16:creationId xmlns:a16="http://schemas.microsoft.com/office/drawing/2014/main" xmlns="" id="{675A44F2-261A-4B4F-ADD6-1D08D12764A1}"/>
              </a:ext>
            </a:extLst>
          </p:cNvPr>
          <p:cNvSpPr>
            <a:spLocks noGrp="1"/>
          </p:cNvSpPr>
          <p:nvPr>
            <p:ph type="body" sz="quarter" idx="23"/>
          </p:nvPr>
        </p:nvSpPr>
        <p:spPr>
          <a:xfrm>
            <a:off x="19659600" y="5507499"/>
            <a:ext cx="11433669" cy="27219737"/>
          </a:xfrm>
          <a:ln>
            <a:noFill/>
          </a:ln>
        </p:spPr>
        <p:txBody>
          <a:bodyPr/>
          <a:lstStyle/>
          <a:p>
            <a:pPr algn="just"/>
            <a:r>
              <a:rPr lang="ru-RU" sz="5400" dirty="0" smtClean="0"/>
              <a:t>Актуален </a:t>
            </a:r>
            <a:r>
              <a:rPr lang="ru-RU" sz="5400" dirty="0" err="1" smtClean="0"/>
              <a:t>компетентностный</a:t>
            </a:r>
            <a:r>
              <a:rPr lang="ru-RU" sz="5400" dirty="0" smtClean="0"/>
              <a:t> подход, предполагающий  формирование исследовательских компетенций в ходе учебного процесса, а также развитие способности к самостоятельному принятию решений в предстоящей профессиональной деятельности на основе сестринских исследований. Исследовательская компетентность формируется постепенно, в течение определенного времени. С появлением факультета  высшего сестринского образования в Казахстане у студентов факультета сестринского дела появились больше возможностей реализоваться в профессии, повысить профессиональные научно-исследовательские компетентности и быть вовлеченными в активную исследовательскую работу. Стимулирование </a:t>
            </a:r>
            <a:r>
              <a:rPr lang="ru-RU" sz="5400" dirty="0"/>
              <a:t>студентов на проведение научных исследований в сестринском деле, является способом получения достоверных данных, на основе которых осуществляется и совершенствуется профессиональная деятельность специалистов сестринского дела.</a:t>
            </a:r>
          </a:p>
          <a:p>
            <a:pPr algn="just"/>
            <a:endParaRPr lang="ru-RU" sz="5400" dirty="0"/>
          </a:p>
        </p:txBody>
      </p:sp>
      <p:sp>
        <p:nvSpPr>
          <p:cNvPr id="8" name="Text Placeholder 7">
            <a:extLst>
              <a:ext uri="{FF2B5EF4-FFF2-40B4-BE49-F238E27FC236}">
                <a16:creationId xmlns:a16="http://schemas.microsoft.com/office/drawing/2014/main" xmlns="" id="{B143406A-EFD5-2E42-865D-A4660751CC04}"/>
              </a:ext>
            </a:extLst>
          </p:cNvPr>
          <p:cNvSpPr>
            <a:spLocks noGrp="1"/>
          </p:cNvSpPr>
          <p:nvPr>
            <p:ph type="body" sz="quarter" idx="24"/>
          </p:nvPr>
        </p:nvSpPr>
        <p:spPr>
          <a:xfrm>
            <a:off x="21357132" y="4463098"/>
            <a:ext cx="10058400" cy="1107988"/>
          </a:xfrm>
        </p:spPr>
        <p:txBody>
          <a:bodyPr/>
          <a:lstStyle/>
          <a:p>
            <a:pPr algn="l" rtl="0"/>
            <a:r>
              <a:rPr lang="en-US" sz="6000" dirty="0"/>
              <a:t>ПОЛУЧЕННЫЕ РЕЗУЛЬТАТЫ</a:t>
            </a:r>
          </a:p>
        </p:txBody>
      </p:sp>
      <p:sp>
        <p:nvSpPr>
          <p:cNvPr id="9" name="Text Placeholder 8">
            <a:extLst>
              <a:ext uri="{FF2B5EF4-FFF2-40B4-BE49-F238E27FC236}">
                <a16:creationId xmlns:a16="http://schemas.microsoft.com/office/drawing/2014/main" xmlns="" id="{C386760F-A20B-7F49-9C12-75A6EA2EB5FA}"/>
              </a:ext>
            </a:extLst>
          </p:cNvPr>
          <p:cNvSpPr>
            <a:spLocks noGrp="1"/>
          </p:cNvSpPr>
          <p:nvPr>
            <p:ph type="body" sz="quarter" idx="25"/>
          </p:nvPr>
        </p:nvSpPr>
        <p:spPr>
          <a:xfrm>
            <a:off x="31993652" y="4478340"/>
            <a:ext cx="10047018" cy="1107988"/>
          </a:xfrm>
        </p:spPr>
        <p:txBody>
          <a:bodyPr/>
          <a:lstStyle/>
          <a:p>
            <a:pPr algn="l" rtl="0"/>
            <a:r>
              <a:rPr lang="en-US" sz="6000" dirty="0"/>
              <a:t>ВЫВОДЫ И </a:t>
            </a:r>
            <a:r>
              <a:rPr lang="ru-RU" sz="6000" dirty="0" smtClean="0"/>
              <a:t>ЗНАЧЕНИЯ</a:t>
            </a:r>
            <a:endParaRPr lang="en-US" sz="6000" dirty="0"/>
          </a:p>
        </p:txBody>
      </p:sp>
      <p:sp>
        <p:nvSpPr>
          <p:cNvPr id="10" name="Text Placeholder 9">
            <a:extLst>
              <a:ext uri="{FF2B5EF4-FFF2-40B4-BE49-F238E27FC236}">
                <a16:creationId xmlns:a16="http://schemas.microsoft.com/office/drawing/2014/main" xmlns="" id="{D765487B-6201-6645-A16D-3E0C337F590E}"/>
              </a:ext>
            </a:extLst>
          </p:cNvPr>
          <p:cNvSpPr>
            <a:spLocks noGrp="1"/>
          </p:cNvSpPr>
          <p:nvPr>
            <p:ph type="body" sz="quarter" idx="26"/>
          </p:nvPr>
        </p:nvSpPr>
        <p:spPr>
          <a:xfrm>
            <a:off x="31993652" y="5514255"/>
            <a:ext cx="10873369" cy="26887338"/>
          </a:xfrm>
          <a:ln>
            <a:noFill/>
          </a:ln>
        </p:spPr>
        <p:txBody>
          <a:bodyPr/>
          <a:lstStyle/>
          <a:p>
            <a:pPr algn="just"/>
            <a:r>
              <a:rPr lang="ru-RU" sz="5400" dirty="0"/>
              <a:t>Таким образом, вовлечение студентов в научно-исследовательскую деятельность является фактором формирования исследовательской компетенции, и подготавливает студентов к исследовательской работе в магистратуре</a:t>
            </a:r>
            <a:r>
              <a:rPr lang="ru-RU" sz="5400" dirty="0" smtClean="0"/>
              <a:t>. </a:t>
            </a:r>
            <a:r>
              <a:rPr lang="ru-RU" sz="5400" dirty="0"/>
              <a:t>Исследовательский опыт </a:t>
            </a:r>
            <a:r>
              <a:rPr lang="ru-RU" sz="5400" dirty="0" smtClean="0"/>
              <a:t>позволит укрепить  </a:t>
            </a:r>
            <a:r>
              <a:rPr lang="ru-RU" sz="5400" smtClean="0"/>
              <a:t>усилия будущих специалистов </a:t>
            </a:r>
            <a:r>
              <a:rPr lang="ru-RU" sz="5400" dirty="0" smtClean="0"/>
              <a:t>сестринского дела </a:t>
            </a:r>
            <a:r>
              <a:rPr lang="ru-RU" sz="5400" dirty="0"/>
              <a:t>в решении актуальных задач сестринской службы, повышения качества сестринской помощи и ухода за пациентами</a:t>
            </a:r>
            <a:r>
              <a:rPr lang="ru-RU" sz="5400" dirty="0" smtClean="0"/>
              <a:t>.</a:t>
            </a:r>
          </a:p>
          <a:p>
            <a:pPr algn="just"/>
            <a:endParaRPr lang="ru-RU" sz="5400" dirty="0"/>
          </a:p>
          <a:p>
            <a:pPr algn="just"/>
            <a:endParaRPr lang="ru-RU" sz="5400" dirty="0" smtClean="0"/>
          </a:p>
          <a:p>
            <a:pPr algn="just"/>
            <a:endParaRPr lang="ru-RU" sz="5400" dirty="0"/>
          </a:p>
          <a:p>
            <a:pPr algn="just"/>
            <a:endParaRPr lang="ru-RU" sz="5400" dirty="0" smtClean="0"/>
          </a:p>
          <a:p>
            <a:pPr algn="just"/>
            <a:endParaRPr lang="ru-RU" sz="5400" dirty="0"/>
          </a:p>
          <a:p>
            <a:pPr algn="just"/>
            <a:endParaRPr lang="ru-RU" sz="5400" dirty="0" smtClean="0"/>
          </a:p>
          <a:p>
            <a:pPr algn="just"/>
            <a:endParaRPr lang="ru-RU" sz="5400" dirty="0"/>
          </a:p>
          <a:p>
            <a:pPr algn="just"/>
            <a:endParaRPr lang="ru-RU" sz="5400" dirty="0" smtClean="0"/>
          </a:p>
          <a:p>
            <a:pPr algn="just"/>
            <a:endParaRPr lang="en-US" sz="5400" dirty="0" smtClean="0"/>
          </a:p>
          <a:p>
            <a:pPr algn="just"/>
            <a:endParaRPr lang="en-US" sz="5400" dirty="0"/>
          </a:p>
          <a:p>
            <a:pPr algn="just"/>
            <a:endParaRPr lang="en-US" sz="5400" dirty="0" smtClean="0"/>
          </a:p>
          <a:p>
            <a:pPr algn="just"/>
            <a:endParaRPr lang="en-US" sz="5400" dirty="0"/>
          </a:p>
          <a:p>
            <a:pPr algn="just"/>
            <a:r>
              <a:rPr lang="ru-RU" sz="5400" dirty="0" smtClean="0"/>
              <a:t>Контактный телефон: 87789655357</a:t>
            </a:r>
          </a:p>
          <a:p>
            <a:pPr algn="just"/>
            <a:r>
              <a:rPr lang="en-US" sz="5400" dirty="0" smtClean="0"/>
              <a:t>E-mail</a:t>
            </a:r>
            <a:r>
              <a:rPr lang="ru-RU" sz="5400" dirty="0" smtClean="0"/>
              <a:t>: </a:t>
            </a:r>
            <a:r>
              <a:rPr lang="en-US" sz="5400" dirty="0" smtClean="0"/>
              <a:t>baimurzina_aizhan@list.ru</a:t>
            </a:r>
            <a:endParaRPr lang="ru-RU" sz="5400" dirty="0"/>
          </a:p>
        </p:txBody>
      </p:sp>
      <p:sp>
        <p:nvSpPr>
          <p:cNvPr id="16" name="Text Placeholder 15">
            <a:extLst>
              <a:ext uri="{FF2B5EF4-FFF2-40B4-BE49-F238E27FC236}">
                <a16:creationId xmlns:a16="http://schemas.microsoft.com/office/drawing/2014/main" xmlns="" id="{778E60CB-0EBD-4049-BFFD-CAB062A6CA0F}"/>
              </a:ext>
            </a:extLst>
          </p:cNvPr>
          <p:cNvSpPr>
            <a:spLocks noGrp="1"/>
          </p:cNvSpPr>
          <p:nvPr>
            <p:ph type="body" sz="quarter" idx="150"/>
          </p:nvPr>
        </p:nvSpPr>
        <p:spPr>
          <a:xfrm>
            <a:off x="5932593" y="3127915"/>
            <a:ext cx="31998968" cy="1140673"/>
          </a:xfrm>
        </p:spPr>
        <p:txBody>
          <a:bodyPr/>
          <a:lstStyle/>
          <a:p>
            <a:r>
              <a:rPr lang="ru-RU" dirty="0"/>
              <a:t>НАО «Медицинский университет Астана»</a:t>
            </a:r>
          </a:p>
        </p:txBody>
      </p:sp>
      <p:sp>
        <p:nvSpPr>
          <p:cNvPr id="17" name="Text Placeholder 16">
            <a:extLst>
              <a:ext uri="{FF2B5EF4-FFF2-40B4-BE49-F238E27FC236}">
                <a16:creationId xmlns:a16="http://schemas.microsoft.com/office/drawing/2014/main" xmlns="" id="{9AAB1BB2-2685-9042-9343-90636A19089C}"/>
              </a:ext>
            </a:extLst>
          </p:cNvPr>
          <p:cNvSpPr>
            <a:spLocks noGrp="1"/>
          </p:cNvSpPr>
          <p:nvPr>
            <p:ph type="body" sz="quarter" idx="151"/>
          </p:nvPr>
        </p:nvSpPr>
        <p:spPr>
          <a:xfrm>
            <a:off x="5932593" y="1771555"/>
            <a:ext cx="31998968" cy="1280160"/>
          </a:xfrm>
        </p:spPr>
        <p:txBody>
          <a:bodyPr/>
          <a:lstStyle/>
          <a:p>
            <a:r>
              <a:rPr lang="ru-RU" b="1" dirty="0" err="1"/>
              <a:t>Байтуганова</a:t>
            </a:r>
            <a:r>
              <a:rPr lang="ru-RU" b="1" dirty="0"/>
              <a:t> А.Н., </a:t>
            </a:r>
            <a:r>
              <a:rPr lang="ru-RU" b="1" dirty="0" err="1"/>
              <a:t>Ибышева</a:t>
            </a:r>
            <a:r>
              <a:rPr lang="ru-RU" b="1" dirty="0"/>
              <a:t> Н.Т.</a:t>
            </a:r>
            <a:endParaRPr lang="ru-RU" dirty="0"/>
          </a:p>
        </p:txBody>
      </p:sp>
      <p:sp>
        <p:nvSpPr>
          <p:cNvPr id="18" name="Text Placeholder 17">
            <a:extLst>
              <a:ext uri="{FF2B5EF4-FFF2-40B4-BE49-F238E27FC236}">
                <a16:creationId xmlns:a16="http://schemas.microsoft.com/office/drawing/2014/main" xmlns="" id="{9FFCC562-221F-8240-980C-DCE8D467C705}"/>
              </a:ext>
            </a:extLst>
          </p:cNvPr>
          <p:cNvSpPr>
            <a:spLocks noGrp="1"/>
          </p:cNvSpPr>
          <p:nvPr>
            <p:ph type="body" sz="quarter" idx="153"/>
          </p:nvPr>
        </p:nvSpPr>
        <p:spPr>
          <a:xfrm>
            <a:off x="6145761" y="412161"/>
            <a:ext cx="31998968" cy="1359394"/>
          </a:xfrm>
        </p:spPr>
        <p:txBody>
          <a:bodyPr>
            <a:normAutofit fontScale="62500" lnSpcReduction="20000"/>
          </a:bodyPr>
          <a:lstStyle/>
          <a:p>
            <a:r>
              <a:rPr lang="ru-RU" dirty="0"/>
              <a:t>НАУЧНО-ИССЛЕДОВАТЕЛЬСКИЕ КОМПЕТЕНЦИИ У СТУДЕНТОВ ФАКУЛЬТЕТА ВЫСШЕГО СЕСТРИНСКОГО ОБРАЗОВАНИЯ</a:t>
            </a:r>
          </a:p>
        </p:txBody>
      </p:sp>
    </p:spTree>
    <p:extLst>
      <p:ext uri="{BB962C8B-B14F-4D97-AF65-F5344CB8AC3E}">
        <p14:creationId xmlns:p14="http://schemas.microsoft.com/office/powerpoint/2010/main" val="2699530513"/>
      </p:ext>
    </p:extLst>
  </p:cSld>
  <p:clrMapOvr>
    <a:masterClrMapping/>
  </p:clrMapOvr>
  <p:timing>
    <p:tnLst>
      <p:par>
        <p:cTn id="1" dur="indefinite" restart="never" nodeType="tmRoot"/>
      </p:par>
    </p:tnLst>
  </p:timing>
</p:sld>
</file>

<file path=ppt/theme/theme1.xml><?xml version="1.0" encoding="utf-8"?>
<a:theme xmlns:a="http://schemas.openxmlformats.org/drawingml/2006/main" name="Without guides">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1450</TotalTime>
  <Words>352</Words>
  <Application>Microsoft Office PowerPoint</Application>
  <PresentationFormat>Произвольный</PresentationFormat>
  <Paragraphs>34</Paragraphs>
  <Slides>1</Slides>
  <Notes>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vt:i4>
      </vt:variant>
    </vt:vector>
  </HeadingPairs>
  <TitlesOfParts>
    <vt:vector size="5" baseType="lpstr">
      <vt:lpstr>Arial</vt:lpstr>
      <vt:lpstr>Calibri</vt:lpstr>
      <vt:lpstr>Trebuchet MS</vt:lpstr>
      <vt:lpstr>Without guides</vt:lpstr>
      <vt:lpstr>Презентация PowerPoint</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Сыздыкова Алма Алибековна</cp:lastModifiedBy>
  <cp:revision>92</cp:revision>
  <dcterms:created xsi:type="dcterms:W3CDTF">2012-02-03T19:11:35Z</dcterms:created>
  <dcterms:modified xsi:type="dcterms:W3CDTF">2020-11-30T03:05:56Z</dcterms:modified>
  <cp:category>Research poster templates</cp:category>
</cp:coreProperties>
</file>