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979" autoAdjust="0"/>
    <p:restoredTop sz="95468" autoAdjust="0"/>
  </p:normalViewPr>
  <p:slideViewPr>
    <p:cSldViewPr snapToGrid="0" snapToObjects="1" showGuides="1">
      <p:cViewPr varScale="1">
        <p:scale>
          <a:sx n="24" d="100"/>
          <a:sy n="24" d="100"/>
        </p:scale>
        <p:origin x="2058" y="126"/>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12/14/2020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12/14/2020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lgn="l" rtl="0">
              <a:buFont typeface="Arial" panose="020B0604020202020204" pitchFamily="34" charset="0"/>
              <a:buNone/>
            </a:pPr>
            <a:endParaRPr lang="en-US" b="1" dirty="0"/>
          </a:p>
        </p:txBody>
      </p:sp>
      <p:sp>
        <p:nvSpPr>
          <p:cNvPr id="4" name="Slide Number Placeholder 3"/>
          <p:cNvSpPr>
            <a:spLocks noGrp="1"/>
          </p:cNvSpPr>
          <p:nvPr>
            <p:ph type="sldNum" sz="quarter" idx="5"/>
          </p:nvPr>
        </p:nvSpPr>
        <p:spPr/>
        <p:txBody>
          <a:bodyPr/>
          <a:lstStyle/>
          <a:p>
            <a:fld id="{26A1A87D-CAF7-4BDC-A0D3-C0DBEDE81619}" type="slidenum">
              <a:rPr lang="en-US" smtClean="0"/>
              <a:pPr algn="l" rtl="0"/>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oseph.almazan@nu.edu.kz"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1530E01-B262-B047-951C-9A1F3925E675}"/>
              </a:ext>
            </a:extLst>
          </p:cNvPr>
          <p:cNvSpPr>
            <a:spLocks noGrp="1"/>
          </p:cNvSpPr>
          <p:nvPr>
            <p:ph type="body" sz="quarter" idx="10"/>
          </p:nvPr>
        </p:nvSpPr>
        <p:spPr>
          <a:xfrm>
            <a:off x="1173690" y="5517743"/>
            <a:ext cx="10056813" cy="16195181"/>
          </a:xfrm>
          <a:ln>
            <a:noFill/>
          </a:ln>
        </p:spPr>
        <p:txBody>
          <a:bodyPr/>
          <a:lstStyle/>
          <a:p>
            <a:pPr algn="l" rtl="0"/>
            <a:r>
              <a:rPr lang="en-US" sz="5400" dirty="0"/>
              <a:t>В последние десятилетия подверженность стихийным бедствиям неуклонно растет на глобальном уровне. В частности, считается, что взрослое население более старшего возраста уязвимо для учащающихся стихийных бедствий. Это исследование дает важную информацию об адаптационных моделях пожилых людей после невзгод.</a:t>
            </a:r>
          </a:p>
          <a:p>
            <a:pPr algn="l" rtl="0"/>
            <a:endParaRPr lang="en-US" sz="5400" dirty="0"/>
          </a:p>
          <a:p>
            <a:pPr algn="l" rtl="0"/>
            <a:r>
              <a:rPr lang="en-US" sz="6000" b="1" dirty="0"/>
              <a:t>ЦЕЛИ ИССЛЕДОВАНИЯ</a:t>
            </a:r>
          </a:p>
          <a:p>
            <a:pPr algn="l" rtl="0"/>
            <a:r>
              <a:rPr lang="en-US" sz="5400" dirty="0"/>
              <a:t>Это исследование направлено на описание и объяснение устойчивости к стихийным бедствиям с точки зрения выживших пожилых людей с помощью подхода обоснованной теории. </a:t>
            </a:r>
          </a:p>
          <a:p>
            <a:pPr algn="l" rtl="0"/>
            <a:endParaRPr lang="en-US" sz="5400" dirty="0"/>
          </a:p>
        </p:txBody>
      </p:sp>
      <p:sp>
        <p:nvSpPr>
          <p:cNvPr id="3"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a16="http://schemas.microsoft.com/office/drawing/2014/main" xmlns="" id="{37463DA4-FC08-CE4D-9DCC-0E2B3981D8B6}"/>
              </a:ext>
            </a:extLst>
          </p:cNvPr>
          <p:cNvSpPr>
            <a:spLocks noGrp="1"/>
          </p:cNvSpPr>
          <p:nvPr>
            <p:ph type="body" sz="quarter" idx="21"/>
          </p:nvPr>
        </p:nvSpPr>
        <p:spPr>
          <a:xfrm>
            <a:off x="11738038" y="5517744"/>
            <a:ext cx="10048874" cy="23415619"/>
          </a:xfrm>
          <a:ln>
            <a:noFill/>
          </a:ln>
        </p:spPr>
        <p:txBody>
          <a:bodyPr/>
          <a:lstStyle/>
          <a:p>
            <a:r>
              <a:rPr lang="en-US" sz="6000" b="1" dirty="0"/>
              <a:t>ДИЗАЙН </a:t>
            </a:r>
            <a:r>
              <a:rPr lang="en-US" sz="6000" b="1" dirty="0" smtClean="0"/>
              <a:t>ИССЛЕДОВА</a:t>
            </a:r>
            <a:r>
              <a:rPr lang="ru-RU" sz="6000" b="1" dirty="0" smtClean="0"/>
              <a:t>НИЯ</a:t>
            </a:r>
            <a:endParaRPr lang="en-US" sz="6000" b="1" dirty="0"/>
          </a:p>
          <a:p>
            <a:pPr algn="l" rtl="0"/>
            <a:r>
              <a:rPr lang="en-US" sz="5400" dirty="0"/>
              <a:t>Обоснованная теория была использована для разработки теории устойчивости к стихийным бедствиям для пожилых людей.</a:t>
            </a:r>
          </a:p>
          <a:p>
            <a:pPr algn="l" rtl="0"/>
            <a:endParaRPr lang="en-US" sz="5400" dirty="0"/>
          </a:p>
          <a:p>
            <a:pPr algn="l" rtl="0"/>
            <a:r>
              <a:rPr lang="ru-RU" sz="6000" b="1" dirty="0" smtClean="0"/>
              <a:t>ПАРАМЕТРЫ </a:t>
            </a:r>
            <a:r>
              <a:rPr lang="en-US" sz="6000" b="1" dirty="0" smtClean="0"/>
              <a:t>ИССЛЕДОВАНИЯ </a:t>
            </a:r>
            <a:endParaRPr lang="en-US" sz="6000" b="1" dirty="0"/>
          </a:p>
          <a:p>
            <a:pPr algn="l" rtl="0"/>
            <a:r>
              <a:rPr lang="en-US" sz="5400" dirty="0"/>
              <a:t>Исследование проводилось в трех приютах на востоке Филиппин.</a:t>
            </a:r>
          </a:p>
          <a:p>
            <a:pPr algn="l" rtl="0"/>
            <a:endParaRPr lang="en-US" sz="5400" dirty="0"/>
          </a:p>
          <a:p>
            <a:pPr algn="l" rtl="0"/>
            <a:r>
              <a:rPr lang="en-US" sz="6000" b="1" dirty="0"/>
              <a:t>УЧАСТНИКИ </a:t>
            </a:r>
          </a:p>
          <a:p>
            <a:pPr algn="l" rtl="0"/>
            <a:r>
              <a:rPr lang="en-US" sz="5400" dirty="0"/>
              <a:t>Всего было опрошено 14 пожилых людей, переживших тайфун Хайян, в возрасте от 65 до 72 лет.</a:t>
            </a:r>
          </a:p>
          <a:p>
            <a:pPr algn="l" rtl="0"/>
            <a:endParaRPr lang="en-US" sz="5400" dirty="0"/>
          </a:p>
          <a:p>
            <a:pPr algn="l" rtl="0"/>
            <a:r>
              <a:rPr lang="ru-RU" sz="6000" b="1" dirty="0" smtClean="0"/>
              <a:t>Выборка</a:t>
            </a:r>
            <a:endParaRPr lang="en-US" sz="6000" b="1" dirty="0"/>
          </a:p>
          <a:p>
            <a:pPr algn="l" rtl="0"/>
            <a:r>
              <a:rPr lang="en-US" sz="5400" dirty="0"/>
              <a:t>Целенаправленная выборка использовалась для </a:t>
            </a:r>
            <a:r>
              <a:rPr lang="en-US" sz="5400" dirty="0" err="1"/>
              <a:t>определения</a:t>
            </a:r>
            <a:r>
              <a:rPr lang="en-US" sz="5400" dirty="0"/>
              <a:t> </a:t>
            </a:r>
            <a:r>
              <a:rPr lang="ru-RU" sz="5400" dirty="0" smtClean="0"/>
              <a:t>обширных </a:t>
            </a:r>
            <a:r>
              <a:rPr lang="en-US" sz="5400" dirty="0" err="1" smtClean="0"/>
              <a:t>данных</a:t>
            </a:r>
            <a:r>
              <a:rPr lang="en-US" sz="5400" dirty="0" smtClean="0"/>
              <a:t> </a:t>
            </a:r>
            <a:r>
              <a:rPr lang="en-US" sz="5400" dirty="0"/>
              <a:t>(параметры и участники) в рамках исследования. </a:t>
            </a:r>
          </a:p>
        </p:txBody>
      </p:sp>
      <p:sp>
        <p:nvSpPr>
          <p:cNvPr id="6" name="Text Placeholder 5">
            <a:extLst>
              <a:ext uri="{FF2B5EF4-FFF2-40B4-BE49-F238E27FC236}">
                <a16:creationId xmlns:a16="http://schemas.microsoft.com/office/drawing/2014/main" xmlns="" id="{46B6BEA9-4297-E841-A5DF-3FC5A8689F40}"/>
              </a:ext>
            </a:extLst>
          </p:cNvPr>
          <p:cNvSpPr>
            <a:spLocks noGrp="1"/>
          </p:cNvSpPr>
          <p:nvPr>
            <p:ph type="body" sz="quarter" idx="22"/>
          </p:nvPr>
        </p:nvSpPr>
        <p:spPr>
          <a:xfrm>
            <a:off x="11738037" y="4547430"/>
            <a:ext cx="10048875" cy="1107988"/>
          </a:xfrm>
        </p:spPr>
        <p:txBody>
          <a:bodyPr/>
          <a:lstStyle/>
          <a:p>
            <a:pPr rtl="0"/>
            <a:r>
              <a:rPr lang="en-US" sz="6000" dirty="0"/>
              <a:t>МЕТОДЫ</a:t>
            </a:r>
          </a:p>
        </p:txBody>
      </p:sp>
      <p:sp>
        <p:nvSpPr>
          <p:cNvPr id="7" name="Text Placeholder 6">
            <a:extLst>
              <a:ext uri="{FF2B5EF4-FFF2-40B4-BE49-F238E27FC236}">
                <a16:creationId xmlns:a16="http://schemas.microsoft.com/office/drawing/2014/main" xmlns="" id="{675A44F2-261A-4B4F-ADD6-1D08D12764A1}"/>
              </a:ext>
            </a:extLst>
          </p:cNvPr>
          <p:cNvSpPr>
            <a:spLocks noGrp="1"/>
          </p:cNvSpPr>
          <p:nvPr>
            <p:ph type="body" sz="quarter" idx="23"/>
          </p:nvPr>
        </p:nvSpPr>
        <p:spPr>
          <a:xfrm>
            <a:off x="22263595" y="5517744"/>
            <a:ext cx="10048874" cy="2954633"/>
          </a:xfrm>
          <a:ln>
            <a:noFill/>
          </a:ln>
        </p:spPr>
        <p:txBody>
          <a:bodyPr/>
          <a:lstStyle/>
          <a:p>
            <a:pPr algn="l" rtl="0"/>
            <a:r>
              <a:rPr lang="en-US" sz="5400" dirty="0"/>
              <a:t>Были сформулированы три теоретические категории из 12 подкатегорий.</a:t>
            </a:r>
            <a:endParaRPr lang="en-US" sz="6600" dirty="0"/>
          </a:p>
        </p:txBody>
      </p:sp>
      <p:sp>
        <p:nvSpPr>
          <p:cNvPr id="8"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22271532" y="4547430"/>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32820003" y="4511042"/>
            <a:ext cx="10047018" cy="1107988"/>
          </a:xfrm>
        </p:spPr>
        <p:txBody>
          <a:bodyPr/>
          <a:lstStyle/>
          <a:p>
            <a:pPr rtl="0"/>
            <a:r>
              <a:rPr lang="en-US" sz="6000" dirty="0"/>
              <a:t>ВЫВОДЫ И </a:t>
            </a:r>
            <a:r>
              <a:rPr lang="ru-RU" sz="6000" dirty="0" smtClean="0"/>
              <a:t>ЗНАЧЕНИЯ</a:t>
            </a:r>
            <a:endParaRPr lang="en-US" sz="6000" dirty="0"/>
          </a:p>
        </p:txBody>
      </p:sp>
      <p:sp>
        <p:nvSpPr>
          <p:cNvPr id="10"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2820003" y="6016666"/>
            <a:ext cx="10047018" cy="18743570"/>
          </a:xfrm>
          <a:ln>
            <a:noFill/>
          </a:ln>
        </p:spPr>
        <p:txBody>
          <a:bodyPr/>
          <a:lstStyle/>
          <a:p>
            <a:pPr algn="just" rtl="0"/>
            <a:r>
              <a:rPr lang="ru-RU" sz="5400" dirty="0" smtClean="0"/>
              <a:t>Э</a:t>
            </a:r>
            <a:r>
              <a:rPr lang="en-US" sz="5400" dirty="0" err="1" smtClean="0"/>
              <a:t>то</a:t>
            </a:r>
            <a:r>
              <a:rPr lang="en-US" sz="5400" dirty="0" smtClean="0"/>
              <a:t> </a:t>
            </a:r>
            <a:r>
              <a:rPr lang="en-US" sz="5400" dirty="0" err="1" smtClean="0"/>
              <a:t>исследовани</a:t>
            </a:r>
            <a:r>
              <a:rPr lang="ru-RU" sz="5400" dirty="0" smtClean="0"/>
              <a:t>е</a:t>
            </a:r>
            <a:r>
              <a:rPr lang="en-US" sz="5400" dirty="0" smtClean="0"/>
              <a:t> </a:t>
            </a:r>
            <a:r>
              <a:rPr lang="ru-RU" sz="5400" dirty="0" smtClean="0"/>
              <a:t>показывает </a:t>
            </a:r>
            <a:r>
              <a:rPr lang="en-US" sz="5400" dirty="0" err="1" smtClean="0"/>
              <a:t>опыт</a:t>
            </a:r>
            <a:r>
              <a:rPr lang="en-US" sz="5400" dirty="0" smtClean="0"/>
              <a:t> </a:t>
            </a:r>
            <a:r>
              <a:rPr lang="en-US" sz="5400" dirty="0"/>
              <a:t>пожилых людей, которые пережили тайфун Хайян до, во время и после катастрофы. Также были исследованы проблемы, с которыми они столкнулись, и процессы, с которыми они справлялись. Основные контекстуальные факторы (например, восприятие бедствия, саморегулирующееся поведение и позитивный настрой) сыграли важную роль в процессе восстановления после бедствия. Исследование предлагает четкую картину процесса, реагирования и восстановления после стихийных бедствий. Исследование может помочь быстро и эффективно помочь выжившим в бедствиях.</a:t>
            </a:r>
          </a:p>
        </p:txBody>
      </p:sp>
      <p:sp>
        <p:nvSpPr>
          <p:cNvPr id="13" name="Text Placeholder 12">
            <a:extLst>
              <a:ext uri="{FF2B5EF4-FFF2-40B4-BE49-F238E27FC236}">
                <a16:creationId xmlns:a16="http://schemas.microsoft.com/office/drawing/2014/main" xmlns="" id="{AFE1A4CF-366C-A74D-90FE-5ACBD4F9943B}"/>
              </a:ext>
            </a:extLst>
          </p:cNvPr>
          <p:cNvSpPr>
            <a:spLocks noGrp="1"/>
          </p:cNvSpPr>
          <p:nvPr>
            <p:ph type="body" sz="quarter" idx="29"/>
          </p:nvPr>
        </p:nvSpPr>
        <p:spPr>
          <a:xfrm>
            <a:off x="33121220" y="27589464"/>
            <a:ext cx="10047018" cy="800211"/>
          </a:xfrm>
        </p:spPr>
        <p:txBody>
          <a:bodyPr/>
          <a:lstStyle/>
          <a:p>
            <a:pPr rtl="0"/>
            <a:r>
              <a:rPr lang="en-US" sz="4000" b="0" dirty="0"/>
              <a:t>КОНТАКТЫ</a:t>
            </a:r>
          </a:p>
        </p:txBody>
      </p:sp>
      <p:sp>
        <p:nvSpPr>
          <p:cNvPr id="16" name="Text Placeholder 15">
            <a:extLst>
              <a:ext uri="{FF2B5EF4-FFF2-40B4-BE49-F238E27FC236}">
                <a16:creationId xmlns:a16="http://schemas.microsoft.com/office/drawing/2014/main" xmlns="" id="{778E60CB-0EBD-4049-BFFD-CAB062A6CA0F}"/>
              </a:ext>
            </a:extLst>
          </p:cNvPr>
          <p:cNvSpPr>
            <a:spLocks noGrp="1"/>
          </p:cNvSpPr>
          <p:nvPr>
            <p:ph type="body" sz="quarter" idx="150"/>
          </p:nvPr>
        </p:nvSpPr>
        <p:spPr>
          <a:xfrm>
            <a:off x="5018192" y="2744079"/>
            <a:ext cx="36347521" cy="1633247"/>
          </a:xfrm>
        </p:spPr>
        <p:txBody>
          <a:bodyPr>
            <a:noAutofit/>
          </a:bodyPr>
          <a:lstStyle/>
          <a:p>
            <a:pPr rtl="0"/>
            <a:r>
              <a:rPr lang="en-US" dirty="0"/>
              <a:t>Доцент, </a:t>
            </a:r>
            <a:r>
              <a:rPr lang="ru-RU" dirty="0" smtClean="0"/>
              <a:t>Школа Медицины</a:t>
            </a:r>
            <a:r>
              <a:rPr lang="en-US" dirty="0" smtClean="0"/>
              <a:t>, </a:t>
            </a:r>
            <a:r>
              <a:rPr lang="en-US" dirty="0"/>
              <a:t>Назарбаев Университет, 010000, </a:t>
            </a:r>
            <a:r>
              <a:rPr lang="ru-RU" dirty="0" smtClean="0"/>
              <a:t>г. </a:t>
            </a:r>
            <a:r>
              <a:rPr lang="en-US" dirty="0" err="1" smtClean="0"/>
              <a:t>Нур-Султан</a:t>
            </a:r>
            <a:r>
              <a:rPr lang="en-US" dirty="0"/>
              <a:t>, Казахстан,</a:t>
            </a:r>
            <a:r>
              <a:rPr lang="en-US" dirty="0">
                <a:hlinkClick r:id="rId3">
                  <a:extLst>
                    <a:ext uri="{A12FA001-AC4F-418D-AE19-62706E023703}">
                      <ahyp:hlinkClr xmlns:ahyp="http://schemas.microsoft.com/office/drawing/2018/hyperlinkcolor" xmlns="" val="tx"/>
                    </a:ext>
                  </a:extLst>
                </a:hlinkClick>
              </a:rPr>
              <a:t> </a:t>
            </a:r>
            <a:r>
              <a:rPr lang="en-US" dirty="0"/>
              <a:t>joseph.almazan@nu.edu.kz* </a:t>
            </a:r>
          </a:p>
          <a:p>
            <a:pPr algn="l" rtl="0"/>
            <a:endParaRPr lang="en-US" dirty="0"/>
          </a:p>
          <a:p>
            <a:pPr algn="l" rtl="0"/>
            <a:endParaRPr lang="en-US" dirty="0"/>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5932593" y="1771555"/>
            <a:ext cx="31998968" cy="1280160"/>
          </a:xfrm>
        </p:spPr>
        <p:txBody>
          <a:bodyPr>
            <a:normAutofit fontScale="25000" lnSpcReduction="20000"/>
          </a:bodyPr>
          <a:lstStyle/>
          <a:p>
            <a:pPr rtl="0"/>
            <a:r>
              <a:rPr lang="en-US" sz="20300" dirty="0" err="1" smtClean="0"/>
              <a:t>Алмазан</a:t>
            </a:r>
            <a:r>
              <a:rPr lang="en-US" sz="20300" dirty="0" smtClean="0"/>
              <a:t> Дж.*</a:t>
            </a:r>
            <a:r>
              <a:rPr lang="ru-RU" sz="20300" dirty="0" smtClean="0"/>
              <a:t>,</a:t>
            </a:r>
            <a:r>
              <a:rPr lang="en-US" sz="20300" dirty="0" smtClean="0"/>
              <a:t> </a:t>
            </a:r>
            <a:r>
              <a:rPr lang="en-US" sz="20300" dirty="0" err="1" smtClean="0"/>
              <a:t>Альбугами</a:t>
            </a:r>
            <a:r>
              <a:rPr lang="en-US" sz="20300" dirty="0" smtClean="0"/>
              <a:t> </a:t>
            </a:r>
            <a:r>
              <a:rPr lang="en-US" sz="20300" dirty="0"/>
              <a:t>А., </a:t>
            </a:r>
            <a:r>
              <a:rPr lang="en-US" sz="20300" dirty="0" err="1" smtClean="0"/>
              <a:t>Аламри</a:t>
            </a:r>
            <a:r>
              <a:rPr lang="en-US" sz="20300" dirty="0" smtClean="0"/>
              <a:t> </a:t>
            </a:r>
            <a:r>
              <a:rPr lang="en-US" sz="20300" dirty="0"/>
              <a:t>М., </a:t>
            </a:r>
            <a:r>
              <a:rPr lang="en-US" sz="20300" dirty="0" err="1" smtClean="0"/>
              <a:t>Колет</a:t>
            </a:r>
            <a:r>
              <a:rPr lang="en-US" sz="20300" dirty="0" smtClean="0"/>
              <a:t> </a:t>
            </a:r>
            <a:r>
              <a:rPr lang="en-US" sz="20300" dirty="0"/>
              <a:t>П., </a:t>
            </a:r>
            <a:r>
              <a:rPr lang="en-US" sz="20300" dirty="0" err="1" smtClean="0"/>
              <a:t>Адольфо</a:t>
            </a:r>
            <a:r>
              <a:rPr lang="en-US" sz="20300" dirty="0" smtClean="0"/>
              <a:t> </a:t>
            </a:r>
            <a:r>
              <a:rPr lang="ru-RU" sz="20300" dirty="0"/>
              <a:t>С</a:t>
            </a:r>
            <a:r>
              <a:rPr lang="en-US" sz="20300" dirty="0" smtClean="0"/>
              <a:t>., </a:t>
            </a:r>
            <a:r>
              <a:rPr lang="en-US" sz="20300" dirty="0" err="1" smtClean="0"/>
              <a:t>Аллен</a:t>
            </a:r>
            <a:r>
              <a:rPr lang="en-US" sz="20300" dirty="0" smtClean="0"/>
              <a:t> </a:t>
            </a:r>
            <a:r>
              <a:rPr lang="en-US" sz="20300" dirty="0"/>
              <a:t>К., </a:t>
            </a:r>
            <a:r>
              <a:rPr lang="ru-RU" sz="20300" dirty="0" err="1" smtClean="0"/>
              <a:t>Гравосо</a:t>
            </a:r>
            <a:r>
              <a:rPr lang="en-US" sz="20300" dirty="0" smtClean="0"/>
              <a:t> </a:t>
            </a:r>
            <a:r>
              <a:rPr lang="ru-RU" sz="20300" dirty="0" smtClean="0"/>
              <a:t>Р</a:t>
            </a:r>
            <a:r>
              <a:rPr lang="en-US" sz="20300" dirty="0" smtClean="0"/>
              <a:t>., </a:t>
            </a:r>
            <a:r>
              <a:rPr lang="en-US" sz="20300" dirty="0"/>
              <a:t>&amp; </a:t>
            </a:r>
            <a:r>
              <a:rPr lang="en-US" sz="20300" dirty="0" err="1" smtClean="0"/>
              <a:t>Бойл</a:t>
            </a:r>
            <a:r>
              <a:rPr lang="en-US" sz="20300" dirty="0" smtClean="0"/>
              <a:t> </a:t>
            </a:r>
            <a:r>
              <a:rPr lang="en-US" sz="20300" dirty="0"/>
              <a:t>C.</a:t>
            </a:r>
          </a:p>
          <a:p>
            <a:pPr algn="l" rtl="0"/>
            <a:r>
              <a:rPr lang="en-US" dirty="0"/>
              <a:t> </a:t>
            </a:r>
          </a:p>
          <a:p>
            <a:pPr algn="l" rtl="0"/>
            <a:endParaRPr lang="en-US"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6145761" y="453610"/>
            <a:ext cx="31998968" cy="1359394"/>
          </a:xfrm>
        </p:spPr>
        <p:txBody>
          <a:bodyPr>
            <a:normAutofit fontScale="70000" lnSpcReduction="20000"/>
          </a:bodyPr>
          <a:lstStyle/>
          <a:p>
            <a:pPr rtl="0"/>
            <a:r>
              <a:rPr lang="en-US" dirty="0"/>
              <a:t>Теория устойчивости к стихийным бедствиям среди пожилых людей, переживших тайфун Хайян</a:t>
            </a:r>
          </a:p>
        </p:txBody>
      </p:sp>
      <p:sp>
        <p:nvSpPr>
          <p:cNvPr id="24" name="Text Placeholder 9">
            <a:extLst>
              <a:ext uri="{FF2B5EF4-FFF2-40B4-BE49-F238E27FC236}">
                <a16:creationId xmlns:a16="http://schemas.microsoft.com/office/drawing/2014/main" xmlns="" id="{331FCF4F-5A5A-744C-B561-0958FFB80594}"/>
              </a:ext>
            </a:extLst>
          </p:cNvPr>
          <p:cNvSpPr txBox="1">
            <a:spLocks/>
          </p:cNvSpPr>
          <p:nvPr/>
        </p:nvSpPr>
        <p:spPr>
          <a:xfrm>
            <a:off x="33422437" y="28370970"/>
            <a:ext cx="9444584" cy="317007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tx1"/>
                </a:solidFill>
                <a:latin typeface="Calibri" panose="020F0502020204030204" pitchFamily="34" charset="0"/>
                <a:ea typeface="+mn-ea"/>
                <a:cs typeface="Calibri" panose="020F0502020204030204" pitchFamily="34"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l" rtl="0"/>
            <a:r>
              <a:rPr lang="en-US" sz="4000" dirty="0" err="1" smtClean="0"/>
              <a:t>Доцент</a:t>
            </a:r>
            <a:r>
              <a:rPr lang="ru-RU" sz="4000" dirty="0" smtClean="0"/>
              <a:t>, Школа Медицины,</a:t>
            </a:r>
            <a:r>
              <a:rPr lang="en-US" sz="4000" dirty="0" smtClean="0"/>
              <a:t> </a:t>
            </a:r>
            <a:r>
              <a:rPr lang="en-US" sz="4000" dirty="0" err="1"/>
              <a:t>Назарбаев</a:t>
            </a:r>
            <a:r>
              <a:rPr lang="en-US" sz="4000" dirty="0"/>
              <a:t> </a:t>
            </a:r>
            <a:r>
              <a:rPr lang="en-US" sz="4000" dirty="0" err="1" smtClean="0"/>
              <a:t>Университет</a:t>
            </a:r>
            <a:r>
              <a:rPr lang="en-US" sz="4000" dirty="0"/>
              <a:t>, </a:t>
            </a:r>
            <a:r>
              <a:rPr lang="ru-RU" sz="4000" dirty="0" smtClean="0"/>
              <a:t>г. </a:t>
            </a:r>
            <a:r>
              <a:rPr lang="en-US" sz="4000" dirty="0" err="1" smtClean="0"/>
              <a:t>Нур-Султан</a:t>
            </a:r>
            <a:r>
              <a:rPr lang="en-US" sz="4000" dirty="0"/>
              <a:t>, </a:t>
            </a:r>
            <a:r>
              <a:rPr lang="en-US" sz="4000" dirty="0" err="1" smtClean="0"/>
              <a:t>Казахстан</a:t>
            </a:r>
            <a:r>
              <a:rPr lang="ru-RU" sz="4000" dirty="0" smtClean="0"/>
              <a:t>,</a:t>
            </a:r>
            <a:r>
              <a:rPr lang="en-US" sz="4000" dirty="0" smtClean="0"/>
              <a:t> </a:t>
            </a:r>
            <a:endParaRPr lang="ru-RU" sz="4000" dirty="0" smtClean="0"/>
          </a:p>
          <a:p>
            <a:pPr algn="l" rtl="0"/>
            <a:r>
              <a:rPr lang="en-US" sz="4000" dirty="0" smtClean="0"/>
              <a:t>+</a:t>
            </a:r>
            <a:r>
              <a:rPr lang="en-US" sz="4000" dirty="0"/>
              <a:t>7 (776) 827-4036.</a:t>
            </a:r>
          </a:p>
          <a:p>
            <a:pPr algn="l" rtl="0"/>
            <a:r>
              <a:rPr lang="en-US" sz="4000" dirty="0">
                <a:hlinkClick r:id="rId3"/>
              </a:rPr>
              <a:t>joseph.almazan@nu.edu.kz</a:t>
            </a:r>
            <a:r>
              <a:rPr lang="en-US" sz="4000" dirty="0"/>
              <a:t> </a:t>
            </a:r>
          </a:p>
        </p:txBody>
      </p:sp>
      <p:pic>
        <p:nvPicPr>
          <p:cNvPr id="1026" name="Picture 2">
            <a:extLst>
              <a:ext uri="{FF2B5EF4-FFF2-40B4-BE49-F238E27FC236}">
                <a16:creationId xmlns:a16="http://schemas.microsoft.com/office/drawing/2014/main" xmlns="" id="{BC8F400E-9040-434A-B1C1-135A9BF371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81486" y="28559779"/>
            <a:ext cx="2050184" cy="2587066"/>
          </a:xfrm>
          <a:prstGeom prst="rect">
            <a:avLst/>
          </a:prstGeom>
          <a:noFill/>
          <a:extLst>
            <a:ext uri="{909E8E84-426E-40DD-AFC4-6F175D3DCCD1}">
              <a14:hiddenFill xmlns:a14="http://schemas.microsoft.com/office/drawing/2010/main">
                <a:solidFill>
                  <a:srgbClr val="FFFFFF"/>
                </a:solidFill>
              </a14:hiddenFill>
            </a:ext>
          </a:extLst>
        </p:spPr>
      </p:pic>
      <p:pic>
        <p:nvPicPr>
          <p:cNvPr id="12" name="Рисунок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592082" y="8472377"/>
            <a:ext cx="11391900" cy="15468600"/>
          </a:xfrm>
          <a:prstGeom prst="rect">
            <a:avLst/>
          </a:prstGeom>
        </p:spPr>
      </p:pic>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1850</TotalTime>
  <Words>319</Words>
  <Application>Microsoft Office PowerPoint</Application>
  <PresentationFormat>Произвольный</PresentationFormat>
  <Paragraphs>30</Paragraphs>
  <Slides>1</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95</cp:revision>
  <dcterms:created xsi:type="dcterms:W3CDTF">2012-02-03T19:11:35Z</dcterms:created>
  <dcterms:modified xsi:type="dcterms:W3CDTF">2020-12-14T09:33:37Z</dcterms:modified>
  <cp:category>Research poster templates</cp:category>
</cp:coreProperties>
</file>