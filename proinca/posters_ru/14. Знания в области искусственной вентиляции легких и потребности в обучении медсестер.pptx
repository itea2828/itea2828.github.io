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58"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66" autoAdjust="0"/>
    <p:restoredTop sz="79073" autoAdjust="0"/>
  </p:normalViewPr>
  <p:slideViewPr>
    <p:cSldViewPr snapToGrid="0" snapToObjects="1" showGuides="1">
      <p:cViewPr varScale="1">
        <p:scale>
          <a:sx n="19" d="100"/>
          <a:sy n="19" d="100"/>
        </p:scale>
        <p:origin x="2328" y="120"/>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11/30/2020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11/30/2020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0" indent="0" algn="l" rtl="0">
              <a:buFont typeface="Arial" panose="020B0604020202020204" pitchFamily="34" charset="0"/>
              <a:buNone/>
            </a:pPr>
            <a:r>
              <a:rPr lang="en-US" b="1" dirty="0"/>
              <a:t>Прочти меня:</a:t>
            </a:r>
          </a:p>
          <a:p>
            <a:pPr marL="0" indent="0" algn="l" rtl="0">
              <a:buFont typeface="Arial" panose="020B0604020202020204" pitchFamily="34" charset="0"/>
              <a:buNone/>
            </a:pPr>
            <a:endParaRPr lang="en-US" b="1" dirty="0"/>
          </a:p>
          <a:p>
            <a:pPr marL="0" indent="0" algn="l" rtl="0">
              <a:buFont typeface="Arial" panose="020B0604020202020204" pitchFamily="34" charset="0"/>
              <a:buNone/>
            </a:pPr>
            <a:r>
              <a:rPr lang="en-US" dirty="0" smtClean="0"/>
              <a:t>* </a:t>
            </a:r>
            <a:r>
              <a:rPr lang="ru-RU" dirty="0" smtClean="0"/>
              <a:t>Используйте </a:t>
            </a:r>
            <a:r>
              <a:rPr lang="en-US" dirty="0" err="1" smtClean="0"/>
              <a:t>этот</a:t>
            </a:r>
            <a:r>
              <a:rPr lang="en-US" dirty="0" smtClean="0"/>
              <a:t> </a:t>
            </a:r>
            <a:r>
              <a:rPr lang="en-US" dirty="0"/>
              <a:t>шаблон соответствующим образом. </a:t>
            </a:r>
            <a:endParaRPr lang="ru-RU" dirty="0" smtClean="0"/>
          </a:p>
          <a:p>
            <a:pPr marL="0" indent="0" algn="l" rtl="0">
              <a:buFont typeface="Arial" panose="020B0604020202020204" pitchFamily="34" charset="0"/>
              <a:buNone/>
            </a:pPr>
            <a:endParaRPr lang="ru-RU" dirty="0" smtClean="0"/>
          </a:p>
          <a:p>
            <a:pPr marL="0" indent="0" algn="l" rtl="0">
              <a:buFont typeface="Arial" panose="020B0604020202020204" pitchFamily="34" charset="0"/>
              <a:buNone/>
            </a:pPr>
            <a:r>
              <a:rPr lang="en-US" dirty="0" smtClean="0"/>
              <a:t>* </a:t>
            </a:r>
            <a:r>
              <a:rPr lang="en-US" dirty="0" err="1" smtClean="0"/>
              <a:t>Заголовки</a:t>
            </a:r>
            <a:r>
              <a:rPr lang="en-US" dirty="0" smtClean="0"/>
              <a:t> </a:t>
            </a:r>
            <a:r>
              <a:rPr lang="en-US" dirty="0"/>
              <a:t>могут меняться в зависимости от типа вашего исследования. Пожалуйста, сохраните тип шрифта и размер шрифта, так как это повлияет на его внешний вид в Zoom. </a:t>
            </a:r>
            <a:r>
              <a:rPr lang="en-US" dirty="0" smtClean="0"/>
              <a:t>(</a:t>
            </a:r>
            <a:r>
              <a:rPr lang="ru-RU" b="1" dirty="0" smtClean="0"/>
              <a:t>З</a:t>
            </a:r>
            <a:r>
              <a:rPr lang="en-US" b="1" dirty="0" err="1" smtClean="0"/>
              <a:t>аглавие</a:t>
            </a:r>
            <a:r>
              <a:rPr lang="en-US" dirty="0"/>
              <a:t>, Calibri, жирный, 80; </a:t>
            </a:r>
            <a:r>
              <a:rPr lang="en-US" b="1" dirty="0"/>
              <a:t>Автор</a:t>
            </a:r>
            <a:r>
              <a:rPr lang="en-US" dirty="0"/>
              <a:t>, </a:t>
            </a:r>
            <a:r>
              <a:rPr lang="en-US" dirty="0" smtClean="0"/>
              <a:t>Calibri, </a:t>
            </a:r>
            <a:r>
              <a:rPr lang="en-US" dirty="0"/>
              <a:t>66; </a:t>
            </a:r>
            <a:r>
              <a:rPr lang="ru-RU" b="1" dirty="0" smtClean="0"/>
              <a:t>Место работы</a:t>
            </a:r>
            <a:r>
              <a:rPr lang="en-US" dirty="0" smtClean="0"/>
              <a:t>, Calibri, </a:t>
            </a:r>
            <a:r>
              <a:rPr lang="en-US" dirty="0"/>
              <a:t>44; </a:t>
            </a:r>
            <a:r>
              <a:rPr lang="en-US" b="1" dirty="0"/>
              <a:t>Подзаголовок</a:t>
            </a:r>
            <a:r>
              <a:rPr lang="en-US" dirty="0"/>
              <a:t>, Calibri, все заглавные, жирный, подчеркивание, 60; </a:t>
            </a:r>
            <a:r>
              <a:rPr lang="en-US" b="1" dirty="0"/>
              <a:t>Текст</a:t>
            </a:r>
            <a:r>
              <a:rPr lang="en-US" dirty="0"/>
              <a:t>, </a:t>
            </a:r>
            <a:r>
              <a:rPr lang="en-US" dirty="0" smtClean="0"/>
              <a:t>Calibri, </a:t>
            </a:r>
            <a:r>
              <a:rPr lang="en-US" dirty="0"/>
              <a:t>54; </a:t>
            </a:r>
            <a:r>
              <a:rPr lang="en-US" b="1" dirty="0"/>
              <a:t>Контакты</a:t>
            </a:r>
            <a:r>
              <a:rPr lang="en-US" dirty="0"/>
              <a:t>, Calibri, подчеркивание, 40, текст Calibri, 40) </a:t>
            </a:r>
            <a:endParaRPr lang="ru-RU" dirty="0" smtClean="0"/>
          </a:p>
          <a:p>
            <a:pPr marL="0" indent="0" algn="l" rtl="0">
              <a:buFont typeface="Arial" panose="020B0604020202020204" pitchFamily="34" charset="0"/>
              <a:buNone/>
            </a:pPr>
            <a:endParaRPr lang="en-US" dirty="0"/>
          </a:p>
          <a:p>
            <a:pPr algn="l" rtl="0"/>
            <a:r>
              <a:rPr lang="en-US" dirty="0"/>
              <a:t>* Рекомендуется во время </a:t>
            </a:r>
            <a:r>
              <a:rPr lang="en-US" dirty="0" err="1"/>
              <a:t>презентации</a:t>
            </a:r>
            <a:r>
              <a:rPr lang="en-US" dirty="0"/>
              <a:t> </a:t>
            </a:r>
            <a:r>
              <a:rPr lang="ru-RU" dirty="0" smtClean="0"/>
              <a:t>показать </a:t>
            </a:r>
            <a:r>
              <a:rPr lang="en-US" dirty="0" err="1" smtClean="0"/>
              <a:t>ваш</a:t>
            </a:r>
            <a:r>
              <a:rPr lang="en-US" dirty="0" smtClean="0"/>
              <a:t> </a:t>
            </a:r>
            <a:r>
              <a:rPr lang="en-US" b="1" dirty="0" smtClean="0"/>
              <a:t>п</a:t>
            </a:r>
            <a:r>
              <a:rPr lang="ru-RU" b="1" dirty="0" smtClean="0"/>
              <a:t>остер</a:t>
            </a:r>
            <a:r>
              <a:rPr lang="en-US" b="1" dirty="0" smtClean="0"/>
              <a:t> </a:t>
            </a:r>
            <a:r>
              <a:rPr lang="en-US" b="1" dirty="0"/>
              <a:t>и </a:t>
            </a:r>
            <a:r>
              <a:rPr lang="en-US" dirty="0"/>
              <a:t> </a:t>
            </a:r>
            <a:r>
              <a:rPr lang="en-US" b="1" dirty="0" smtClean="0"/>
              <a:t>Zoom</a:t>
            </a:r>
            <a:r>
              <a:rPr lang="en-US" b="1" baseline="0" dirty="0" smtClean="0"/>
              <a:t> </a:t>
            </a:r>
            <a:r>
              <a:rPr lang="ru-RU" b="0" baseline="0" dirty="0" smtClean="0"/>
              <a:t>в</a:t>
            </a:r>
            <a:r>
              <a:rPr lang="en-US" dirty="0" smtClean="0"/>
              <a:t> </a:t>
            </a:r>
            <a:r>
              <a:rPr lang="en-US" b="1" dirty="0" smtClean="0"/>
              <a:t>ПОЛНОЭКРАНН</a:t>
            </a:r>
            <a:r>
              <a:rPr lang="ru-RU" b="1" dirty="0" smtClean="0"/>
              <a:t>ОМ </a:t>
            </a:r>
            <a:r>
              <a:rPr lang="ru-RU" b="0" dirty="0" smtClean="0"/>
              <a:t>режиме</a:t>
            </a:r>
            <a:r>
              <a:rPr lang="en-US" b="0" dirty="0" smtClean="0"/>
              <a:t>. </a:t>
            </a:r>
            <a:endParaRPr lang="en-US" b="0" dirty="0"/>
          </a:p>
        </p:txBody>
      </p:sp>
      <p:sp>
        <p:nvSpPr>
          <p:cNvPr id="4" name="Slide Number Placeholder 3"/>
          <p:cNvSpPr>
            <a:spLocks noGrp="1"/>
          </p:cNvSpPr>
          <p:nvPr>
            <p:ph type="sldNum" sz="quarter" idx="5"/>
          </p:nvPr>
        </p:nvSpPr>
        <p:spPr/>
        <p:txBody>
          <a:bodyPr/>
          <a:lstStyle/>
          <a:p>
            <a:fld id="{26A1A87D-CAF7-4BDC-A0D3-C0DBEDE81619}" type="slidenum">
              <a:rPr lang="en-US" smtClean="0"/>
              <a:pPr algn="l" rtl="0"/>
              <a:t>1</a:t>
            </a:fld>
            <a:endParaRPr lang="en-US" dirty="0"/>
          </a:p>
        </p:txBody>
      </p:sp>
    </p:spTree>
    <p:extLst>
      <p:ext uri="{BB962C8B-B14F-4D97-AF65-F5344CB8AC3E}">
        <p14:creationId xmlns:p14="http://schemas.microsoft.com/office/powerpoint/2010/main" val="100692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 xmlns:a16="http://schemas.microsoft.com/office/drawing/2014/main"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 xmlns:a16="http://schemas.microsoft.com/office/drawing/2014/main"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 xmlns:a16="http://schemas.microsoft.com/office/drawing/2014/main"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 xmlns:a16="http://schemas.microsoft.com/office/drawing/2014/main"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F1530E01-B262-B047-951C-9A1F3925E675}"/>
              </a:ext>
            </a:extLst>
          </p:cNvPr>
          <p:cNvSpPr>
            <a:spLocks noGrp="1"/>
          </p:cNvSpPr>
          <p:nvPr>
            <p:ph type="body" sz="quarter" idx="10"/>
          </p:nvPr>
        </p:nvSpPr>
        <p:spPr>
          <a:xfrm>
            <a:off x="1204542" y="5655418"/>
            <a:ext cx="10533496" cy="19279102"/>
          </a:xfrm>
          <a:ln>
            <a:noFill/>
          </a:ln>
        </p:spPr>
        <p:txBody>
          <a:bodyPr/>
          <a:lstStyle/>
          <a:p>
            <a:r>
              <a:rPr lang="ru-RU" sz="4800" b="1" dirty="0"/>
              <a:t>Искусственная вентиляция легких </a:t>
            </a:r>
            <a:r>
              <a:rPr lang="ru-RU" sz="4800" dirty="0"/>
              <a:t>(ИВЛ) ― это метод интенсивной терапии, основной целью которой является частичное или полное замещение функции внешнего дыхания</a:t>
            </a:r>
            <a:r>
              <a:rPr lang="ru-RU" sz="4800" dirty="0" smtClean="0"/>
              <a:t>.</a:t>
            </a:r>
            <a:r>
              <a:rPr lang="ru-RU" sz="4800" dirty="0"/>
              <a:t> </a:t>
            </a:r>
            <a:r>
              <a:rPr lang="ru-RU" sz="4800" b="1" dirty="0" smtClean="0">
                <a:latin typeface="Arial" pitchFamily="34" charset="0"/>
                <a:ea typeface="Times New Roman" pitchFamily="18" charset="0"/>
                <a:cs typeface="Arial" pitchFamily="34" charset="0"/>
              </a:rPr>
              <a:t>Целью</a:t>
            </a:r>
            <a:r>
              <a:rPr lang="ru-RU" sz="4800" b="1" dirty="0">
                <a:latin typeface="Arial" pitchFamily="34" charset="0"/>
                <a:ea typeface="Times New Roman" pitchFamily="18" charset="0"/>
                <a:cs typeface="Arial" pitchFamily="34" charset="0"/>
              </a:rPr>
              <a:t> данного</a:t>
            </a:r>
            <a:r>
              <a:rPr lang="ru-RU" sz="4800" dirty="0">
                <a:latin typeface="Arial" pitchFamily="34" charset="0"/>
                <a:ea typeface="Times New Roman" pitchFamily="18" charset="0"/>
                <a:cs typeface="Arial" pitchFamily="34" charset="0"/>
              </a:rPr>
              <a:t> исследования является описание знаний и </a:t>
            </a:r>
          </a:p>
          <a:p>
            <a:pPr lvl="0" fontAlgn="base">
              <a:spcBef>
                <a:spcPct val="0"/>
              </a:spcBef>
              <a:spcAft>
                <a:spcPct val="0"/>
              </a:spcAft>
              <a:buClrTx/>
            </a:pPr>
            <a:r>
              <a:rPr lang="ru-RU" sz="4800" dirty="0">
                <a:latin typeface="Arial" pitchFamily="34" charset="0"/>
                <a:ea typeface="Times New Roman" pitchFamily="18" charset="0"/>
                <a:cs typeface="Arial" pitchFamily="34" charset="0"/>
              </a:rPr>
              <a:t>потребностей в обучении медсестер,</a:t>
            </a:r>
            <a:r>
              <a:rPr lang="en-US" sz="4800" dirty="0">
                <a:latin typeface="Arial" pitchFamily="34" charset="0"/>
                <a:ea typeface="Times New Roman" pitchFamily="18" charset="0"/>
                <a:cs typeface="Arial" pitchFamily="34" charset="0"/>
              </a:rPr>
              <a:t> </a:t>
            </a:r>
            <a:r>
              <a:rPr lang="ru-RU" sz="4800" dirty="0">
                <a:latin typeface="Arial" pitchFamily="34" charset="0"/>
                <a:ea typeface="Times New Roman" pitchFamily="18" charset="0"/>
                <a:cs typeface="Arial" pitchFamily="34" charset="0"/>
              </a:rPr>
              <a:t>работающих в </a:t>
            </a:r>
          </a:p>
          <a:p>
            <a:pPr lvl="0" fontAlgn="base">
              <a:spcBef>
                <a:spcPct val="0"/>
              </a:spcBef>
              <a:spcAft>
                <a:spcPct val="0"/>
              </a:spcAft>
              <a:buClrTx/>
            </a:pPr>
            <a:r>
              <a:rPr lang="ru-RU" sz="4800" dirty="0">
                <a:latin typeface="Arial" pitchFamily="34" charset="0"/>
                <a:ea typeface="Times New Roman" pitchFamily="18" charset="0"/>
                <a:cs typeface="Arial" pitchFamily="34" charset="0"/>
              </a:rPr>
              <a:t>отделении интенсивной терапии новорожденных,</a:t>
            </a:r>
            <a:r>
              <a:rPr lang="en-US" sz="4800" dirty="0">
                <a:latin typeface="Arial" pitchFamily="34" charset="0"/>
                <a:ea typeface="Times New Roman" pitchFamily="18" charset="0"/>
                <a:cs typeface="Arial" pitchFamily="34" charset="0"/>
              </a:rPr>
              <a:t> </a:t>
            </a:r>
            <a:endParaRPr lang="ru-RU" sz="4800" dirty="0">
              <a:latin typeface="Arial" pitchFamily="34" charset="0"/>
              <a:ea typeface="Times New Roman" pitchFamily="18" charset="0"/>
              <a:cs typeface="Arial" pitchFamily="34" charset="0"/>
            </a:endParaRPr>
          </a:p>
          <a:p>
            <a:pPr lvl="0" fontAlgn="base">
              <a:spcBef>
                <a:spcPct val="0"/>
              </a:spcBef>
              <a:spcAft>
                <a:spcPct val="0"/>
              </a:spcAft>
              <a:buClrTx/>
            </a:pPr>
            <a:r>
              <a:rPr lang="ru-RU" sz="4800" dirty="0">
                <a:latin typeface="Arial" pitchFamily="34" charset="0"/>
                <a:ea typeface="Times New Roman" pitchFamily="18" charset="0"/>
                <a:cs typeface="Arial" pitchFamily="34" charset="0"/>
              </a:rPr>
              <a:t>находящихся на  вентиляции легких</a:t>
            </a:r>
            <a:r>
              <a:rPr lang="ru-RU" sz="4800" b="1" dirty="0">
                <a:latin typeface="Arial" pitchFamily="34" charset="0"/>
                <a:ea typeface="Times New Roman" pitchFamily="18" charset="0"/>
                <a:cs typeface="Arial" pitchFamily="34" charset="0"/>
              </a:rPr>
              <a:t>,</a:t>
            </a:r>
            <a:r>
              <a:rPr lang="ru-RU" sz="4800" dirty="0">
                <a:latin typeface="Arial" pitchFamily="34" charset="0"/>
                <a:ea typeface="Times New Roman" pitchFamily="18" charset="0"/>
                <a:cs typeface="Arial" pitchFamily="34" charset="0"/>
              </a:rPr>
              <a:t> Национального Научного Центра Материнства и Детства (ННЦМД) Корпоративного фонда “</a:t>
            </a:r>
            <a:r>
              <a:rPr lang="ru-RU" sz="4800" dirty="0" err="1">
                <a:latin typeface="Arial" pitchFamily="34" charset="0"/>
                <a:ea typeface="Times New Roman" pitchFamily="18" charset="0"/>
                <a:cs typeface="Arial" pitchFamily="34" charset="0"/>
              </a:rPr>
              <a:t>UniversityMedicalCentre</a:t>
            </a:r>
            <a:r>
              <a:rPr lang="ru-RU" sz="4800" dirty="0">
                <a:latin typeface="Arial" pitchFamily="34" charset="0"/>
                <a:ea typeface="Times New Roman" pitchFamily="18" charset="0"/>
                <a:cs typeface="Arial" pitchFamily="34" charset="0"/>
              </a:rPr>
              <a:t>,” города </a:t>
            </a:r>
            <a:r>
              <a:rPr lang="ru-RU" sz="4800" dirty="0" err="1">
                <a:latin typeface="Arial" pitchFamily="34" charset="0"/>
                <a:ea typeface="Times New Roman" pitchFamily="18" charset="0"/>
                <a:cs typeface="Arial" pitchFamily="34" charset="0"/>
              </a:rPr>
              <a:t>Нур</a:t>
            </a:r>
            <a:r>
              <a:rPr lang="ru-RU" sz="4800" dirty="0">
                <a:latin typeface="Arial" pitchFamily="34" charset="0"/>
                <a:ea typeface="Times New Roman" pitchFamily="18" charset="0"/>
                <a:cs typeface="Arial" pitchFamily="34" charset="0"/>
              </a:rPr>
              <a:t>-Султан</a:t>
            </a:r>
            <a:r>
              <a:rPr lang="ru-RU" sz="4800" dirty="0" smtClean="0">
                <a:latin typeface="Arial" pitchFamily="34" charset="0"/>
                <a:ea typeface="Times New Roman" pitchFamily="18" charset="0"/>
                <a:cs typeface="Arial" pitchFamily="34" charset="0"/>
              </a:rPr>
              <a:t>.</a:t>
            </a:r>
          </a:p>
          <a:p>
            <a:pPr lvl="0" fontAlgn="base">
              <a:spcBef>
                <a:spcPct val="0"/>
              </a:spcBef>
              <a:spcAft>
                <a:spcPct val="0"/>
              </a:spcAft>
              <a:buClrTx/>
            </a:pPr>
            <a:endParaRPr lang="ru-RU" sz="4800" dirty="0">
              <a:latin typeface="Arial" pitchFamily="34" charset="0"/>
              <a:cs typeface="Arial" pitchFamily="34" charset="0"/>
            </a:endParaRPr>
          </a:p>
          <a:p>
            <a:pPr lvl="0" eaLnBrk="0" fontAlgn="base" hangingPunct="0">
              <a:spcBef>
                <a:spcPct val="0"/>
              </a:spcBef>
              <a:spcAft>
                <a:spcPct val="0"/>
              </a:spcAft>
              <a:buClrTx/>
            </a:pPr>
            <a:r>
              <a:rPr lang="ru-RU" sz="4800" b="1" dirty="0">
                <a:latin typeface="Arial" pitchFamily="34" charset="0"/>
                <a:ea typeface="Times New Roman" pitchFamily="18" charset="0"/>
                <a:cs typeface="Arial" pitchFamily="34" charset="0"/>
              </a:rPr>
              <a:t>Исследовательский вопрос:</a:t>
            </a:r>
            <a:endParaRPr lang="ru-RU" sz="4800" dirty="0">
              <a:latin typeface="Arial" pitchFamily="34" charset="0"/>
              <a:cs typeface="Arial" pitchFamily="34" charset="0"/>
            </a:endParaRPr>
          </a:p>
          <a:p>
            <a:pPr lvl="0" eaLnBrk="0" fontAlgn="base" hangingPunct="0">
              <a:spcBef>
                <a:spcPct val="0"/>
              </a:spcBef>
              <a:spcAft>
                <a:spcPct val="0"/>
              </a:spcAft>
              <a:buClrTx/>
            </a:pPr>
            <a:r>
              <a:rPr lang="ru-RU" sz="4800" dirty="0">
                <a:latin typeface="Arial" pitchFamily="34" charset="0"/>
                <a:ea typeface="Times New Roman" pitchFamily="18" charset="0"/>
                <a:cs typeface="Arial" pitchFamily="34" charset="0"/>
              </a:rPr>
              <a:t>Насколько хорошо медсестры знают стандарты вентиляции новорожденных и каков основной источник их знаний</a:t>
            </a:r>
            <a:r>
              <a:rPr lang="ru-RU" sz="5400" dirty="0">
                <a:latin typeface="Arial" pitchFamily="34" charset="0"/>
                <a:ea typeface="Times New Roman" pitchFamily="18" charset="0"/>
                <a:cs typeface="Arial" pitchFamily="34" charset="0"/>
              </a:rPr>
              <a:t>?</a:t>
            </a:r>
            <a:endParaRPr lang="ru-RU" sz="5400" dirty="0">
              <a:latin typeface="Arial" pitchFamily="34" charset="0"/>
              <a:cs typeface="Arial" pitchFamily="34" charset="0"/>
            </a:endParaRPr>
          </a:p>
          <a:p>
            <a:pPr algn="l" rtl="0"/>
            <a:endParaRPr lang="en-US" sz="5400" dirty="0"/>
          </a:p>
        </p:txBody>
      </p:sp>
      <p:sp>
        <p:nvSpPr>
          <p:cNvPr id="3" name="Text Placeholder 2">
            <a:extLst>
              <a:ext uri="{FF2B5EF4-FFF2-40B4-BE49-F238E27FC236}">
                <a16:creationId xmlns="" xmlns:a16="http://schemas.microsoft.com/office/drawing/2014/main" id="{5670D40C-5BD0-FC47-BDCE-BDE48A160F35}"/>
              </a:ext>
            </a:extLst>
          </p:cNvPr>
          <p:cNvSpPr>
            <a:spLocks noGrp="1"/>
          </p:cNvSpPr>
          <p:nvPr>
            <p:ph type="body" sz="quarter" idx="11"/>
          </p:nvPr>
        </p:nvSpPr>
        <p:spPr>
          <a:xfrm>
            <a:off x="1204542" y="4511042"/>
            <a:ext cx="10048875" cy="1107988"/>
          </a:xfrm>
        </p:spPr>
        <p:txBody>
          <a:bodyPr/>
          <a:lstStyle/>
          <a:p>
            <a:pPr algn="l" rtl="0"/>
            <a:r>
              <a:rPr lang="en-US" sz="6000" dirty="0"/>
              <a:t>ВВЕДЕНИЕ И ЦЕЛИ </a:t>
            </a:r>
          </a:p>
        </p:txBody>
      </p:sp>
      <p:sp>
        <p:nvSpPr>
          <p:cNvPr id="5" name="Text Placeholder 4">
            <a:extLst>
              <a:ext uri="{FF2B5EF4-FFF2-40B4-BE49-F238E27FC236}">
                <a16:creationId xmlns="" xmlns:a16="http://schemas.microsoft.com/office/drawing/2014/main" id="{37463DA4-FC08-CE4D-9DCC-0E2B3981D8B6}"/>
              </a:ext>
            </a:extLst>
          </p:cNvPr>
          <p:cNvSpPr>
            <a:spLocks noGrp="1"/>
          </p:cNvSpPr>
          <p:nvPr>
            <p:ph type="body" sz="quarter" idx="21"/>
          </p:nvPr>
        </p:nvSpPr>
        <p:spPr>
          <a:xfrm>
            <a:off x="11738038" y="5517744"/>
            <a:ext cx="10048874" cy="20405564"/>
          </a:xfrm>
          <a:ln>
            <a:noFill/>
          </a:ln>
        </p:spPr>
        <p:txBody>
          <a:bodyPr/>
          <a:lstStyle/>
          <a:p>
            <a:r>
              <a:rPr lang="ru-RU" sz="5400" dirty="0"/>
              <a:t>Для решения поставленной цели исследования </a:t>
            </a:r>
            <a:r>
              <a:rPr lang="ru-RU" sz="5400" dirty="0" smtClean="0"/>
              <a:t>использовали </a:t>
            </a:r>
            <a:r>
              <a:rPr lang="ru-RU" sz="5400" dirty="0"/>
              <a:t>количественный метод. Использование количественного метода позволяет оценить распространенность (частоту встречаемости) изучаемых потенциальных рисков при сохранении анонимности участников анкетирования. Для сбора данных использовались анкеты для самостоятельного заполнения и контрольный список для наблюдений. Анкета и контрольный список наблюдений были разработаны исследовательской группой путем адаптации. Взята была анкета с источника PLOS ONE | https://doi.org/10.1371/journal.pone.0201743 </a:t>
            </a:r>
            <a:r>
              <a:rPr lang="ru-RU" sz="5400" dirty="0" err="1"/>
              <a:t>August</a:t>
            </a:r>
            <a:r>
              <a:rPr lang="ru-RU" sz="5400" dirty="0"/>
              <a:t> 16, 2018 и была нами модифицирована для новорожденных. </a:t>
            </a:r>
          </a:p>
        </p:txBody>
      </p:sp>
      <p:sp>
        <p:nvSpPr>
          <p:cNvPr id="6" name="Text Placeholder 5">
            <a:extLst>
              <a:ext uri="{FF2B5EF4-FFF2-40B4-BE49-F238E27FC236}">
                <a16:creationId xmlns="" xmlns:a16="http://schemas.microsoft.com/office/drawing/2014/main" id="{46B6BEA9-4297-E841-A5DF-3FC5A8689F40}"/>
              </a:ext>
            </a:extLst>
          </p:cNvPr>
          <p:cNvSpPr>
            <a:spLocks noGrp="1"/>
          </p:cNvSpPr>
          <p:nvPr>
            <p:ph type="body" sz="quarter" idx="22"/>
          </p:nvPr>
        </p:nvSpPr>
        <p:spPr>
          <a:xfrm>
            <a:off x="11738037" y="4547430"/>
            <a:ext cx="10048875" cy="1107988"/>
          </a:xfrm>
        </p:spPr>
        <p:txBody>
          <a:bodyPr/>
          <a:lstStyle/>
          <a:p>
            <a:pPr algn="l" rtl="0"/>
            <a:r>
              <a:rPr lang="en-US" sz="6000" dirty="0"/>
              <a:t>МЕТОДЫ</a:t>
            </a:r>
          </a:p>
        </p:txBody>
      </p:sp>
      <p:sp>
        <p:nvSpPr>
          <p:cNvPr id="8" name="Text Placeholder 7">
            <a:extLst>
              <a:ext uri="{FF2B5EF4-FFF2-40B4-BE49-F238E27FC236}">
                <a16:creationId xmlns="" xmlns:a16="http://schemas.microsoft.com/office/drawing/2014/main" id="{B143406A-EFD5-2E42-865D-A4660751CC04}"/>
              </a:ext>
            </a:extLst>
          </p:cNvPr>
          <p:cNvSpPr>
            <a:spLocks noGrp="1"/>
          </p:cNvSpPr>
          <p:nvPr>
            <p:ph type="body" sz="quarter" idx="24"/>
          </p:nvPr>
        </p:nvSpPr>
        <p:spPr>
          <a:xfrm>
            <a:off x="22271532" y="4547430"/>
            <a:ext cx="10058400" cy="1107988"/>
          </a:xfrm>
        </p:spPr>
        <p:txBody>
          <a:bodyPr/>
          <a:lstStyle/>
          <a:p>
            <a:pPr algn="l" rtl="0"/>
            <a:r>
              <a:rPr lang="en-US" sz="6000" dirty="0"/>
              <a:t>ПОЛУЧЕННЫЕ РЕЗУЛЬТАТЫ</a:t>
            </a:r>
          </a:p>
        </p:txBody>
      </p:sp>
      <p:sp>
        <p:nvSpPr>
          <p:cNvPr id="9" name="Text Placeholder 8">
            <a:extLst>
              <a:ext uri="{FF2B5EF4-FFF2-40B4-BE49-F238E27FC236}">
                <a16:creationId xmlns="" xmlns:a16="http://schemas.microsoft.com/office/drawing/2014/main" id="{C386760F-A20B-7F49-9C12-75A6EA2EB5FA}"/>
              </a:ext>
            </a:extLst>
          </p:cNvPr>
          <p:cNvSpPr>
            <a:spLocks noGrp="1"/>
          </p:cNvSpPr>
          <p:nvPr>
            <p:ph type="body" sz="quarter" idx="25"/>
          </p:nvPr>
        </p:nvSpPr>
        <p:spPr>
          <a:xfrm>
            <a:off x="32820003" y="5009094"/>
            <a:ext cx="10047018" cy="1107988"/>
          </a:xfrm>
        </p:spPr>
        <p:txBody>
          <a:bodyPr/>
          <a:lstStyle/>
          <a:p>
            <a:pPr algn="l" rtl="0"/>
            <a:r>
              <a:rPr lang="en-US" sz="6000" dirty="0"/>
              <a:t>ВЫВОДЫ И </a:t>
            </a:r>
            <a:r>
              <a:rPr lang="ru-RU" sz="6000" dirty="0" smtClean="0"/>
              <a:t>ЗНАЧЕНИЯ</a:t>
            </a:r>
            <a:endParaRPr lang="en-US" sz="6000" dirty="0"/>
          </a:p>
        </p:txBody>
      </p:sp>
      <p:sp>
        <p:nvSpPr>
          <p:cNvPr id="10" name="Text Placeholder 9">
            <a:extLst>
              <a:ext uri="{FF2B5EF4-FFF2-40B4-BE49-F238E27FC236}">
                <a16:creationId xmlns="" xmlns:a16="http://schemas.microsoft.com/office/drawing/2014/main" id="{D765487B-6201-6645-A16D-3E0C337F590E}"/>
              </a:ext>
            </a:extLst>
          </p:cNvPr>
          <p:cNvSpPr>
            <a:spLocks noGrp="1"/>
          </p:cNvSpPr>
          <p:nvPr>
            <p:ph type="body" sz="quarter" idx="26"/>
          </p:nvPr>
        </p:nvSpPr>
        <p:spPr>
          <a:xfrm>
            <a:off x="32820003" y="6651750"/>
            <a:ext cx="10047018" cy="13092793"/>
          </a:xfrm>
          <a:ln>
            <a:noFill/>
          </a:ln>
        </p:spPr>
        <p:txBody>
          <a:bodyPr/>
          <a:lstStyle/>
          <a:p>
            <a:r>
              <a:rPr lang="ru-RU" sz="5400" dirty="0"/>
              <a:t>К</a:t>
            </a:r>
            <a:r>
              <a:rPr lang="ru-RU" sz="5400" dirty="0" smtClean="0"/>
              <a:t>ачество </a:t>
            </a:r>
            <a:r>
              <a:rPr lang="ru-RU" sz="5400" dirty="0"/>
              <a:t>сестринского ухода в отделении реанимации и интенсивной терапии ННЦМД определяется дефицитом кадров и уровнем квалификации специалистов, осуществляющих высокотехнологичную помощь в отделении, куда поступают преимущественно глубоко недоношенные дети с экстремально низкой (500-999 г) и очень низкой (1000-1499 г) массой тела. </a:t>
            </a:r>
          </a:p>
          <a:p>
            <a:endParaRPr lang="ru-RU" sz="5400" dirty="0"/>
          </a:p>
        </p:txBody>
      </p:sp>
      <p:sp>
        <p:nvSpPr>
          <p:cNvPr id="16" name="Text Placeholder 15">
            <a:extLst>
              <a:ext uri="{FF2B5EF4-FFF2-40B4-BE49-F238E27FC236}">
                <a16:creationId xmlns="" xmlns:a16="http://schemas.microsoft.com/office/drawing/2014/main" id="{778E60CB-0EBD-4049-BFFD-CAB062A6CA0F}"/>
              </a:ext>
            </a:extLst>
          </p:cNvPr>
          <p:cNvSpPr>
            <a:spLocks noGrp="1"/>
          </p:cNvSpPr>
          <p:nvPr>
            <p:ph type="body" sz="quarter" idx="150"/>
          </p:nvPr>
        </p:nvSpPr>
        <p:spPr>
          <a:xfrm>
            <a:off x="5932593" y="2677165"/>
            <a:ext cx="31998968" cy="1591424"/>
          </a:xfrm>
        </p:spPr>
        <p:txBody>
          <a:bodyPr>
            <a:normAutofit/>
          </a:bodyPr>
          <a:lstStyle/>
          <a:p>
            <a:r>
              <a:rPr lang="ru-RU" dirty="0"/>
              <a:t>Национальный научный центр материнства и детства</a:t>
            </a:r>
          </a:p>
          <a:p>
            <a:r>
              <a:rPr lang="ru-RU" dirty="0"/>
              <a:t>Г. </a:t>
            </a:r>
            <a:r>
              <a:rPr lang="ru-RU" dirty="0" err="1"/>
              <a:t>Нур</a:t>
            </a:r>
            <a:r>
              <a:rPr lang="ru-RU" dirty="0"/>
              <a:t>-Султан пр. Туран 32    </a:t>
            </a:r>
          </a:p>
        </p:txBody>
      </p:sp>
      <p:sp>
        <p:nvSpPr>
          <p:cNvPr id="17" name="Text Placeholder 16">
            <a:extLst>
              <a:ext uri="{FF2B5EF4-FFF2-40B4-BE49-F238E27FC236}">
                <a16:creationId xmlns="" xmlns:a16="http://schemas.microsoft.com/office/drawing/2014/main" id="{9AAB1BB2-2685-9042-9343-90636A19089C}"/>
              </a:ext>
            </a:extLst>
          </p:cNvPr>
          <p:cNvSpPr>
            <a:spLocks noGrp="1"/>
          </p:cNvSpPr>
          <p:nvPr>
            <p:ph type="body" sz="quarter" idx="151"/>
          </p:nvPr>
        </p:nvSpPr>
        <p:spPr>
          <a:xfrm>
            <a:off x="6272048" y="1460016"/>
            <a:ext cx="31998968" cy="1631512"/>
          </a:xfrm>
        </p:spPr>
        <p:txBody>
          <a:bodyPr>
            <a:normAutofit/>
          </a:bodyPr>
          <a:lstStyle/>
          <a:p>
            <a:pPr algn="l"/>
            <a:r>
              <a:rPr lang="ru-RU" sz="5400" dirty="0" err="1" smtClean="0"/>
              <a:t>ZuraBexultanova</a:t>
            </a:r>
            <a:r>
              <a:rPr lang="ru-RU" sz="5400" dirty="0" smtClean="0"/>
              <a:t>, </a:t>
            </a:r>
            <a:r>
              <a:rPr lang="ru-RU" sz="5400" dirty="0" err="1" smtClean="0"/>
              <a:t>AssylayNartayeva</a:t>
            </a:r>
            <a:r>
              <a:rPr lang="ru-RU" sz="5400" dirty="0" smtClean="0"/>
              <a:t> , </a:t>
            </a:r>
            <a:r>
              <a:rPr lang="ru-RU" sz="5400" dirty="0" err="1" smtClean="0"/>
              <a:t>ElmiraTulepbayeva</a:t>
            </a:r>
            <a:r>
              <a:rPr lang="ru-RU" sz="5400" dirty="0" smtClean="0"/>
              <a:t>,</a:t>
            </a:r>
            <a:r>
              <a:rPr lang="ru-RU" sz="5400" dirty="0"/>
              <a:t> </a:t>
            </a:r>
            <a:r>
              <a:rPr lang="ru-RU" sz="5400" dirty="0" err="1"/>
              <a:t>KamilyaNurzhaubayeva</a:t>
            </a:r>
            <a:endParaRPr lang="ru-RU" sz="5400" dirty="0"/>
          </a:p>
        </p:txBody>
      </p:sp>
      <p:sp>
        <p:nvSpPr>
          <p:cNvPr id="18" name="Text Placeholder 17">
            <a:extLst>
              <a:ext uri="{FF2B5EF4-FFF2-40B4-BE49-F238E27FC236}">
                <a16:creationId xmlns="" xmlns:a16="http://schemas.microsoft.com/office/drawing/2014/main" id="{9FFCC562-221F-8240-980C-DCE8D467C705}"/>
              </a:ext>
            </a:extLst>
          </p:cNvPr>
          <p:cNvSpPr>
            <a:spLocks noGrp="1"/>
          </p:cNvSpPr>
          <p:nvPr>
            <p:ph type="body" sz="quarter" idx="153"/>
          </p:nvPr>
        </p:nvSpPr>
        <p:spPr/>
        <p:txBody>
          <a:bodyPr>
            <a:normAutofit fontScale="77500" lnSpcReduction="20000"/>
          </a:bodyPr>
          <a:lstStyle/>
          <a:p>
            <a:r>
              <a:rPr lang="ru-RU" dirty="0">
                <a:solidFill>
                  <a:srgbClr val="FFC000"/>
                </a:solidFill>
              </a:rPr>
              <a:t>Знания в области искусственной вентиляции легких и потребности в обучении медсестер</a:t>
            </a:r>
            <a:endParaRPr lang="ru-RU" sz="9600" dirty="0">
              <a:solidFill>
                <a:srgbClr val="FFC000"/>
              </a:solidFill>
            </a:endParaRPr>
          </a:p>
        </p:txBody>
      </p:sp>
      <p:sp>
        <p:nvSpPr>
          <p:cNvPr id="11" name="Rectangle 1"/>
          <p:cNvSpPr>
            <a:spLocks noChangeArrowheads="1"/>
          </p:cNvSpPr>
          <p:nvPr/>
        </p:nvSpPr>
        <p:spPr bwMode="auto">
          <a:xfrm>
            <a:off x="24926925" y="13901351"/>
            <a:ext cx="4389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7" name="Прямоугольник 6"/>
          <p:cNvSpPr/>
          <p:nvPr/>
        </p:nvSpPr>
        <p:spPr>
          <a:xfrm>
            <a:off x="21786912" y="7610624"/>
            <a:ext cx="11131488" cy="13388280"/>
          </a:xfrm>
          <a:prstGeom prst="rect">
            <a:avLst/>
          </a:prstGeom>
        </p:spPr>
        <p:txBody>
          <a:bodyPr wrap="square">
            <a:spAutoFit/>
          </a:bodyPr>
          <a:lstStyle/>
          <a:p>
            <a:r>
              <a:rPr lang="ru-RU" sz="5400" dirty="0">
                <a:latin typeface="Times New Roman" panose="02020603050405020304" pitchFamily="18" charset="0"/>
                <a:ea typeface="Times New Roman" panose="02020603050405020304" pitchFamily="18" charset="0"/>
              </a:rPr>
              <a:t>Результаты проведенного исследования показали совершенно осознанное понимание респондентов, что улучшение сестринского ухода и помощи пациентам во многом определяются не только наличием у медицинского персонала определенного уровня знаний, полученных в процессе обучения в</a:t>
            </a:r>
            <a:r>
              <a:rPr lang="ru-RU" sz="5400" dirty="0">
                <a:solidFill>
                  <a:srgbClr val="000000"/>
                </a:solidFill>
                <a:latin typeface="Times New Roman" panose="02020603050405020304" pitchFamily="18" charset="0"/>
                <a:ea typeface="Times New Roman" panose="02020603050405020304" pitchFamily="18" charset="0"/>
              </a:rPr>
              <a:t> техническом и профессиональном образовании (ТИПО)</a:t>
            </a:r>
            <a:r>
              <a:rPr lang="ru-RU" sz="5400" dirty="0">
                <a:latin typeface="Times New Roman" panose="02020603050405020304" pitchFamily="18" charset="0"/>
                <a:ea typeface="Times New Roman" panose="02020603050405020304" pitchFamily="18" charset="0"/>
              </a:rPr>
              <a:t>), но и необходимостью их постоянного совершенствования путем освоения современных технологий ухода и помощи, обмена опытом с коллегами.</a:t>
            </a:r>
            <a:endParaRPr lang="ru-RU" sz="5400" dirty="0"/>
          </a:p>
        </p:txBody>
      </p:sp>
    </p:spTree>
    <p:extLst>
      <p:ext uri="{BB962C8B-B14F-4D97-AF65-F5344CB8AC3E}">
        <p14:creationId xmlns:p14="http://schemas.microsoft.com/office/powerpoint/2010/main" val="2699530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1438</TotalTime>
  <Words>361</Words>
  <Application>Microsoft Office PowerPoint</Application>
  <PresentationFormat>Произвольный</PresentationFormat>
  <Paragraphs>26</Paragraphs>
  <Slides>1</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vt:i4>
      </vt:variant>
    </vt:vector>
  </HeadingPairs>
  <TitlesOfParts>
    <vt:vector size="6" baseType="lpstr">
      <vt:lpstr>Arial</vt:lpstr>
      <vt:lpstr>Calibri</vt:lpstr>
      <vt:lpstr>Times New Roman</vt:lpstr>
      <vt:lpstr>Trebuchet MS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91</cp:revision>
  <dcterms:created xsi:type="dcterms:W3CDTF">2012-02-03T19:11:35Z</dcterms:created>
  <dcterms:modified xsi:type="dcterms:W3CDTF">2020-11-30T04:51:47Z</dcterms:modified>
  <cp:category>Research poster templates</cp:category>
</cp:coreProperties>
</file>