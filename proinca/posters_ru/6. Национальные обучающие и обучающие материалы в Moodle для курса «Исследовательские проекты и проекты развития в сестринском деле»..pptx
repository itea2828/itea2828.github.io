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66" autoAdjust="0"/>
    <p:restoredTop sz="93979" autoAdjust="0"/>
  </p:normalViewPr>
  <p:slideViewPr>
    <p:cSldViewPr snapToGrid="0" snapToObjects="1" showGuides="1">
      <p:cViewPr varScale="1">
        <p:scale>
          <a:sx n="24" d="100"/>
          <a:sy n="24" d="100"/>
        </p:scale>
        <p:origin x="1926"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C32B05-62EA-407A-B21C-2310C7945705}" type="doc">
      <dgm:prSet loTypeId="urn:microsoft.com/office/officeart/2008/layout/VerticalCircle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a:xfrm>
          <a:off x="3436582" y="66860"/>
          <a:ext cx="1461987" cy="273440"/>
        </a:xfrm>
        <a:noFill/>
        <a:ln>
          <a:noFill/>
        </a:ln>
        <a:effectLst/>
      </dgm:spPr>
      <dgm:t>
        <a:bodyPr/>
        <a:lstStyle/>
        <a:p>
          <a:r>
            <a:rPr lang="en-US" sz="5000" dirty="0">
              <a:solidFill>
                <a:srgbClr val="2C3E50"/>
              </a:solidFill>
              <a:latin typeface="Calibri"/>
              <a:ea typeface="+mn-ea"/>
              <a:cs typeface="+mn-cs"/>
            </a:rPr>
            <a:t>18 </a:t>
          </a:r>
          <a:r>
            <a:rPr lang="ru-RU" sz="5000" dirty="0" smtClean="0">
              <a:solidFill>
                <a:srgbClr val="2C3E50"/>
              </a:solidFill>
              <a:latin typeface="Calibri"/>
              <a:ea typeface="+mn-ea"/>
              <a:cs typeface="+mn-cs"/>
            </a:rPr>
            <a:t>лекций в виде </a:t>
          </a:r>
          <a:r>
            <a:rPr lang="en-US" sz="5000" dirty="0" smtClean="0">
              <a:solidFill>
                <a:srgbClr val="2C3E50"/>
              </a:solidFill>
              <a:latin typeface="Calibri"/>
              <a:ea typeface="+mn-ea"/>
              <a:cs typeface="+mn-cs"/>
            </a:rPr>
            <a:t>power point</a:t>
          </a:r>
          <a:r>
            <a:rPr lang="ru-RU" sz="5000" dirty="0" smtClean="0">
              <a:solidFill>
                <a:srgbClr val="2C3E50"/>
              </a:solidFill>
              <a:latin typeface="Calibri"/>
              <a:ea typeface="+mn-ea"/>
              <a:cs typeface="+mn-cs"/>
            </a:rPr>
            <a:t> презентации</a:t>
          </a:r>
          <a:endParaRPr lang="en-US" sz="5000" dirty="0">
            <a:solidFill>
              <a:srgbClr val="2C3E50"/>
            </a:solidFill>
            <a:latin typeface="Calibri"/>
            <a:ea typeface="+mn-ea"/>
            <a:cs typeface="+mn-cs"/>
          </a:endParaRPr>
        </a:p>
      </dgm:t>
    </dgm:pt>
    <dgm:pt modelId="{51680ED1-AF6E-4B28-AE94-92B0EFB0DF7D}" type="parTrans" cxnId="{2AA9C11F-1F1D-428E-801A-47EAA766C99D}">
      <dgm:prSet/>
      <dgm:spPr/>
      <dgm:t>
        <a:bodyPr/>
        <a:lstStyle/>
        <a:p>
          <a:endParaRPr lang="en-US" sz="6600"/>
        </a:p>
      </dgm:t>
    </dgm:pt>
    <dgm:pt modelId="{478B7D3C-9FB4-4BC6-90AC-49960560DECD}" type="sibTrans" cxnId="{2AA9C11F-1F1D-428E-801A-47EAA766C99D}">
      <dgm:prSet/>
      <dgm:spPr/>
      <dgm:t>
        <a:bodyPr/>
        <a:lstStyle/>
        <a:p>
          <a:endParaRPr lang="en-US" sz="6600"/>
        </a:p>
      </dgm:t>
    </dgm:pt>
    <dgm:pt modelId="{F66099B6-DBBD-4AB0-82D2-877B80F846F7}">
      <dgm:prSet phldrT="[Text]" custT="1"/>
      <dgm:spPr>
        <a:xfrm>
          <a:off x="3436582" y="1437239"/>
          <a:ext cx="1461987" cy="273440"/>
        </a:xfrm>
        <a:noFill/>
        <a:ln>
          <a:noFill/>
        </a:ln>
        <a:effectLst/>
      </dgm:spPr>
      <dgm:t>
        <a:bodyPr/>
        <a:lstStyle/>
        <a:p>
          <a:r>
            <a:rPr lang="en-US" sz="5000" dirty="0">
              <a:solidFill>
                <a:srgbClr val="2C3E50"/>
              </a:solidFill>
              <a:latin typeface="Calibri"/>
              <a:ea typeface="+mn-ea"/>
              <a:cs typeface="+mn-cs"/>
            </a:rPr>
            <a:t>4 </a:t>
          </a:r>
          <a:r>
            <a:rPr lang="ru-RU" sz="5000" dirty="0" smtClean="0">
              <a:solidFill>
                <a:srgbClr val="2C3E50"/>
              </a:solidFill>
              <a:latin typeface="Calibri"/>
              <a:ea typeface="+mn-ea"/>
              <a:cs typeface="+mn-cs"/>
            </a:rPr>
            <a:t>индивидуальных  заданий</a:t>
          </a:r>
          <a:endParaRPr lang="en-US" sz="5000" dirty="0">
            <a:solidFill>
              <a:srgbClr val="2C3E50"/>
            </a:solidFill>
            <a:latin typeface="Calibri"/>
            <a:ea typeface="+mn-ea"/>
            <a:cs typeface="+mn-cs"/>
          </a:endParaRPr>
        </a:p>
      </dgm:t>
    </dgm:pt>
    <dgm:pt modelId="{B09C8BFB-F41C-4AC4-AB94-F216E3081C2D}" type="parTrans" cxnId="{B4F3EA32-CE64-4A92-9BAE-BC57E5392B05}">
      <dgm:prSet/>
      <dgm:spPr/>
      <dgm:t>
        <a:bodyPr/>
        <a:lstStyle/>
        <a:p>
          <a:endParaRPr lang="en-US" sz="6600"/>
        </a:p>
      </dgm:t>
    </dgm:pt>
    <dgm:pt modelId="{BC531B32-9B0E-482E-BF91-65C61F17168D}" type="sibTrans" cxnId="{B4F3EA32-CE64-4A92-9BAE-BC57E5392B05}">
      <dgm:prSet/>
      <dgm:spPr/>
      <dgm:t>
        <a:bodyPr/>
        <a:lstStyle/>
        <a:p>
          <a:endParaRPr lang="en-US" sz="6600"/>
        </a:p>
      </dgm:t>
    </dgm:pt>
    <dgm:pt modelId="{EE62A4F6-4AC4-435B-990E-81A71CE8CAC7}">
      <dgm:prSet phldrT="[Text]" custT="1"/>
      <dgm:spPr>
        <a:xfrm>
          <a:off x="3436582" y="2807619"/>
          <a:ext cx="1461987" cy="273440"/>
        </a:xfrm>
        <a:noFill/>
        <a:ln>
          <a:noFill/>
        </a:ln>
        <a:effectLst/>
      </dgm:spPr>
      <dgm:t>
        <a:bodyPr/>
        <a:lstStyle/>
        <a:p>
          <a:r>
            <a:rPr lang="en-US" sz="5000" dirty="0">
              <a:solidFill>
                <a:srgbClr val="2C3E50"/>
              </a:solidFill>
              <a:latin typeface="Calibri"/>
              <a:ea typeface="+mn-ea"/>
              <a:cs typeface="+mn-cs"/>
            </a:rPr>
            <a:t>11 </a:t>
          </a:r>
          <a:r>
            <a:rPr lang="ru-RU" sz="5000" dirty="0" smtClean="0">
              <a:solidFill>
                <a:srgbClr val="2C3E50"/>
              </a:solidFill>
              <a:latin typeface="Calibri"/>
              <a:ea typeface="+mn-ea"/>
              <a:cs typeface="+mn-cs"/>
            </a:rPr>
            <a:t>практических упражнений</a:t>
          </a:r>
          <a:endParaRPr lang="en-US" sz="5000" dirty="0">
            <a:solidFill>
              <a:srgbClr val="2C3E50"/>
            </a:solidFill>
            <a:latin typeface="Calibri"/>
            <a:ea typeface="+mn-ea"/>
            <a:cs typeface="+mn-cs"/>
          </a:endParaRPr>
        </a:p>
      </dgm:t>
    </dgm:pt>
    <dgm:pt modelId="{F287B947-7343-4FA2-B288-B23A59FFAE31}" type="parTrans" cxnId="{3A2CECA6-0C5B-46BB-B7C6-7D37E9D210BD}">
      <dgm:prSet/>
      <dgm:spPr/>
      <dgm:t>
        <a:bodyPr/>
        <a:lstStyle/>
        <a:p>
          <a:endParaRPr lang="en-US" sz="6600"/>
        </a:p>
      </dgm:t>
    </dgm:pt>
    <dgm:pt modelId="{389F9A93-0231-4877-8C41-5D5B8DD7AAC0}" type="sibTrans" cxnId="{3A2CECA6-0C5B-46BB-B7C6-7D37E9D210BD}">
      <dgm:prSet/>
      <dgm:spPr/>
      <dgm:t>
        <a:bodyPr/>
        <a:lstStyle/>
        <a:p>
          <a:endParaRPr lang="en-US" sz="6600"/>
        </a:p>
      </dgm:t>
    </dgm:pt>
    <dgm:pt modelId="{0B25ADF0-A0E3-4A6E-B66A-0D2FF3A7EDC3}" type="pres">
      <dgm:prSet presAssocID="{B9C32B05-62EA-407A-B21C-2310C7945705}" presName="Name0" presStyleCnt="0">
        <dgm:presLayoutVars>
          <dgm:dir/>
        </dgm:presLayoutVars>
      </dgm:prSet>
      <dgm:spPr/>
      <dgm:t>
        <a:bodyPr/>
        <a:lstStyle/>
        <a:p>
          <a:endParaRPr lang="ru-RU"/>
        </a:p>
      </dgm:t>
    </dgm:pt>
    <dgm:pt modelId="{96072353-18BC-48D1-84A6-583773B290F2}" type="pres">
      <dgm:prSet presAssocID="{42D71409-67F9-455C-8C6D-716D284AAA6B}" presName="noChildren" presStyleCnt="0"/>
      <dgm:spPr/>
    </dgm:pt>
    <dgm:pt modelId="{755A9124-FC8A-4DFD-96F9-13D8F6DC98AD}" type="pres">
      <dgm:prSet presAssocID="{42D71409-67F9-455C-8C6D-716D284AAA6B}" presName="gap" presStyleCnt="0"/>
      <dgm:spPr/>
    </dgm:pt>
    <dgm:pt modelId="{20BFDC5E-BA7B-45B8-89A9-9E42D12C840F}" type="pres">
      <dgm:prSet presAssocID="{42D71409-67F9-455C-8C6D-716D284AAA6B}" presName="medCircle2" presStyleLbl="vennNode1" presStyleIdx="0" presStyleCnt="3" custScaleX="310547" custScaleY="313615"/>
      <dgm:spPr>
        <a:blipFill rotWithShape="0">
          <a:blip xmlns:r="http://schemas.openxmlformats.org/officeDocument/2006/relationships" r:embed="rId1">
            <a:duotone>
              <a:schemeClr val="accent2">
                <a:alpha val="50000"/>
                <a:hueOff val="0"/>
                <a:satOff val="0"/>
                <a:lumOff val="0"/>
                <a:alphaOff val="0"/>
                <a:shade val="20000"/>
                <a:satMod val="200000"/>
              </a:schemeClr>
              <a:schemeClr val="accent2">
                <a:alpha val="50000"/>
                <a:hueOff val="0"/>
                <a:satOff val="0"/>
                <a:lumOff val="0"/>
                <a:alphaOff val="0"/>
                <a:tint val="12000"/>
                <a:satMod val="190000"/>
              </a:schemeClr>
            </a:duotone>
          </a:blip>
          <a:stretch>
            <a:fillRect/>
          </a:stretch>
        </a:blipFill>
      </dgm:spPr>
      <dgm:t>
        <a:bodyPr/>
        <a:lstStyle/>
        <a:p>
          <a:endParaRPr lang="ru-RU"/>
        </a:p>
      </dgm:t>
    </dgm:pt>
    <dgm:pt modelId="{EA10DE24-1649-471E-95AB-D195F1483F8C}" type="pres">
      <dgm:prSet presAssocID="{42D71409-67F9-455C-8C6D-716D284AAA6B}" presName="txLvlOnly1" presStyleLbl="revTx" presStyleIdx="0" presStyleCnt="3" custScaleX="76376" custScaleY="156684" custLinFactY="1175" custLinFactNeighborX="16333" custLinFactNeighborY="100000"/>
      <dgm:spPr>
        <a:prstGeom prst="rect">
          <a:avLst/>
        </a:prstGeom>
      </dgm:spPr>
      <dgm:t>
        <a:bodyPr/>
        <a:lstStyle/>
        <a:p>
          <a:endParaRPr lang="ru-RU"/>
        </a:p>
      </dgm:t>
    </dgm:pt>
    <dgm:pt modelId="{79C36592-15F7-44A7-84F4-397E270C332C}" type="pres">
      <dgm:prSet presAssocID="{F66099B6-DBBD-4AB0-82D2-877B80F846F7}" presName="noChildren" presStyleCnt="0"/>
      <dgm:spPr/>
    </dgm:pt>
    <dgm:pt modelId="{E8429811-444F-4EFB-BEEC-1224AB3F9856}" type="pres">
      <dgm:prSet presAssocID="{F66099B6-DBBD-4AB0-82D2-877B80F846F7}" presName="gap" presStyleCnt="0"/>
      <dgm:spPr/>
    </dgm:pt>
    <dgm:pt modelId="{7467B600-33C8-4487-829C-F67264AEE0BC}" type="pres">
      <dgm:prSet presAssocID="{F66099B6-DBBD-4AB0-82D2-877B80F846F7}" presName="medCircle2" presStyleLbl="vennNode1" presStyleIdx="1" presStyleCnt="3" custScaleX="310547" custScaleY="313615"/>
      <dgm:spPr>
        <a:blipFill rotWithShape="0">
          <a:blip xmlns:r="http://schemas.openxmlformats.org/officeDocument/2006/relationships" r:embed="rId2">
            <a:duotone>
              <a:schemeClr val="accent3">
                <a:alpha val="50000"/>
                <a:hueOff val="0"/>
                <a:satOff val="0"/>
                <a:lumOff val="0"/>
                <a:alphaOff val="0"/>
                <a:shade val="20000"/>
                <a:satMod val="200000"/>
              </a:schemeClr>
              <a:schemeClr val="accent3">
                <a:alpha val="50000"/>
                <a:hueOff val="0"/>
                <a:satOff val="0"/>
                <a:lumOff val="0"/>
                <a:alphaOff val="0"/>
                <a:tint val="12000"/>
                <a:satMod val="190000"/>
              </a:schemeClr>
            </a:duotone>
          </a:blip>
          <a:stretch>
            <a:fillRect/>
          </a:stretch>
        </a:blipFill>
      </dgm:spPr>
      <dgm:t>
        <a:bodyPr/>
        <a:lstStyle/>
        <a:p>
          <a:endParaRPr lang="ru-RU"/>
        </a:p>
      </dgm:t>
    </dgm:pt>
    <dgm:pt modelId="{EF046178-86A0-4630-94F0-2DE0A521C9E3}" type="pres">
      <dgm:prSet presAssocID="{F66099B6-DBBD-4AB0-82D2-877B80F846F7}" presName="txLvlOnly1" presStyleLbl="revTx" presStyleIdx="1" presStyleCnt="3" custScaleX="77741" custScaleY="135575" custLinFactY="26893" custLinFactNeighborX="15992" custLinFactNeighborY="100000"/>
      <dgm:spPr>
        <a:prstGeom prst="rect">
          <a:avLst/>
        </a:prstGeom>
      </dgm:spPr>
      <dgm:t>
        <a:bodyPr/>
        <a:lstStyle/>
        <a:p>
          <a:endParaRPr lang="ru-RU"/>
        </a:p>
      </dgm:t>
    </dgm:pt>
    <dgm:pt modelId="{79F34381-5250-4584-8A3C-CD65927A862E}" type="pres">
      <dgm:prSet presAssocID="{EE62A4F6-4AC4-435B-990E-81A71CE8CAC7}" presName="noChildren" presStyleCnt="0"/>
      <dgm:spPr/>
    </dgm:pt>
    <dgm:pt modelId="{8A6FCF91-8F41-4C94-B57C-0A1E5A15307D}" type="pres">
      <dgm:prSet presAssocID="{EE62A4F6-4AC4-435B-990E-81A71CE8CAC7}" presName="gap" presStyleCnt="0"/>
      <dgm:spPr/>
    </dgm:pt>
    <dgm:pt modelId="{B9519415-69B1-4BF2-A774-59C3E796CC71}" type="pres">
      <dgm:prSet presAssocID="{EE62A4F6-4AC4-435B-990E-81A71CE8CAC7}" presName="medCircle2" presStyleLbl="vennNode1" presStyleIdx="2" presStyleCnt="3" custScaleX="310547" custScaleY="313615" custLinFactNeighborX="8019" custLinFactNeighborY="-8728"/>
      <dgm:spPr>
        <a:blipFill rotWithShape="0">
          <a:blip xmlns:r="http://schemas.openxmlformats.org/officeDocument/2006/relationships" r:embed="rId3">
            <a:duotone>
              <a:schemeClr val="accent4">
                <a:alpha val="50000"/>
                <a:hueOff val="0"/>
                <a:satOff val="0"/>
                <a:lumOff val="0"/>
                <a:alphaOff val="0"/>
                <a:shade val="20000"/>
                <a:satMod val="200000"/>
              </a:schemeClr>
              <a:schemeClr val="accent4">
                <a:alpha val="50000"/>
                <a:hueOff val="0"/>
                <a:satOff val="0"/>
                <a:lumOff val="0"/>
                <a:alphaOff val="0"/>
                <a:tint val="12000"/>
                <a:satMod val="190000"/>
              </a:schemeClr>
            </a:duotone>
          </a:blip>
          <a:stretch>
            <a:fillRect/>
          </a:stretch>
        </a:blipFill>
      </dgm:spPr>
      <dgm:t>
        <a:bodyPr/>
        <a:lstStyle/>
        <a:p>
          <a:endParaRPr lang="ru-RU"/>
        </a:p>
      </dgm:t>
    </dgm:pt>
    <dgm:pt modelId="{6D538A5C-7B3A-4D13-9F31-6B160B0E4FB9}" type="pres">
      <dgm:prSet presAssocID="{EE62A4F6-4AC4-435B-990E-81A71CE8CAC7}" presName="txLvlOnly1" presStyleLbl="revTx" presStyleIdx="2" presStyleCnt="3" custScaleX="72433" custLinFactNeighborX="17319" custLinFactNeighborY="93702"/>
      <dgm:spPr>
        <a:prstGeom prst="rect">
          <a:avLst/>
        </a:prstGeom>
      </dgm:spPr>
      <dgm:t>
        <a:bodyPr/>
        <a:lstStyle/>
        <a:p>
          <a:endParaRPr lang="ru-RU"/>
        </a:p>
      </dgm:t>
    </dgm:pt>
  </dgm:ptLst>
  <dgm:cxnLst>
    <dgm:cxn modelId="{4CE8A4BB-ED8C-4A55-8C3E-147CD4301A41}" type="presOf" srcId="{EE62A4F6-4AC4-435B-990E-81A71CE8CAC7}" destId="{6D538A5C-7B3A-4D13-9F31-6B160B0E4FB9}" srcOrd="0" destOrd="0" presId="urn:microsoft.com/office/officeart/2008/layout/VerticalCircleList"/>
    <dgm:cxn modelId="{3A2CECA6-0C5B-46BB-B7C6-7D37E9D210BD}" srcId="{B9C32B05-62EA-407A-B21C-2310C7945705}" destId="{EE62A4F6-4AC4-435B-990E-81A71CE8CAC7}" srcOrd="2" destOrd="0" parTransId="{F287B947-7343-4FA2-B288-B23A59FFAE31}" sibTransId="{389F9A93-0231-4877-8C41-5D5B8DD7AAC0}"/>
    <dgm:cxn modelId="{FBE8DA15-D919-4FC2-BD76-BDEF83F19994}" type="presOf" srcId="{F66099B6-DBBD-4AB0-82D2-877B80F846F7}" destId="{EF046178-86A0-4630-94F0-2DE0A521C9E3}" srcOrd="0" destOrd="0" presId="urn:microsoft.com/office/officeart/2008/layout/VerticalCircleList"/>
    <dgm:cxn modelId="{B4F3EA32-CE64-4A92-9BAE-BC57E5392B05}" srcId="{B9C32B05-62EA-407A-B21C-2310C7945705}" destId="{F66099B6-DBBD-4AB0-82D2-877B80F846F7}" srcOrd="1" destOrd="0" parTransId="{B09C8BFB-F41C-4AC4-AB94-F216E3081C2D}" sibTransId="{BC531B32-9B0E-482E-BF91-65C61F17168D}"/>
    <dgm:cxn modelId="{2AA9C11F-1F1D-428E-801A-47EAA766C99D}" srcId="{B9C32B05-62EA-407A-B21C-2310C7945705}" destId="{42D71409-67F9-455C-8C6D-716D284AAA6B}" srcOrd="0" destOrd="0" parTransId="{51680ED1-AF6E-4B28-AE94-92B0EFB0DF7D}" sibTransId="{478B7D3C-9FB4-4BC6-90AC-49960560DECD}"/>
    <dgm:cxn modelId="{68022E2B-FDFC-45A4-9B27-E1ED42F79660}" type="presOf" srcId="{42D71409-67F9-455C-8C6D-716D284AAA6B}" destId="{EA10DE24-1649-471E-95AB-D195F1483F8C}" srcOrd="0" destOrd="0" presId="urn:microsoft.com/office/officeart/2008/layout/VerticalCircleList"/>
    <dgm:cxn modelId="{8E468E36-699A-4C24-B0A2-3F16542CE1C8}" type="presOf" srcId="{B9C32B05-62EA-407A-B21C-2310C7945705}" destId="{0B25ADF0-A0E3-4A6E-B66A-0D2FF3A7EDC3}" srcOrd="0" destOrd="0" presId="urn:microsoft.com/office/officeart/2008/layout/VerticalCircleList"/>
    <dgm:cxn modelId="{94113E98-17B2-40C4-8389-0B0403E914B9}" type="presParOf" srcId="{0B25ADF0-A0E3-4A6E-B66A-0D2FF3A7EDC3}" destId="{96072353-18BC-48D1-84A6-583773B290F2}" srcOrd="0" destOrd="0" presId="urn:microsoft.com/office/officeart/2008/layout/VerticalCircleList"/>
    <dgm:cxn modelId="{D513AAA7-38E7-4E5C-8AD1-A6F1872F6257}" type="presParOf" srcId="{96072353-18BC-48D1-84A6-583773B290F2}" destId="{755A9124-FC8A-4DFD-96F9-13D8F6DC98AD}" srcOrd="0" destOrd="0" presId="urn:microsoft.com/office/officeart/2008/layout/VerticalCircleList"/>
    <dgm:cxn modelId="{79E9E66D-E2A1-454C-8FEC-71095B2F192F}" type="presParOf" srcId="{96072353-18BC-48D1-84A6-583773B290F2}" destId="{20BFDC5E-BA7B-45B8-89A9-9E42D12C840F}" srcOrd="1" destOrd="0" presId="urn:microsoft.com/office/officeart/2008/layout/VerticalCircleList"/>
    <dgm:cxn modelId="{BC2216E8-0325-4A42-B441-8B1D20D0A287}" type="presParOf" srcId="{96072353-18BC-48D1-84A6-583773B290F2}" destId="{EA10DE24-1649-471E-95AB-D195F1483F8C}" srcOrd="2" destOrd="0" presId="urn:microsoft.com/office/officeart/2008/layout/VerticalCircleList"/>
    <dgm:cxn modelId="{41FD9E97-393E-4D77-9E2D-C0E4DBA292EA}" type="presParOf" srcId="{0B25ADF0-A0E3-4A6E-B66A-0D2FF3A7EDC3}" destId="{79C36592-15F7-44A7-84F4-397E270C332C}" srcOrd="1" destOrd="0" presId="urn:microsoft.com/office/officeart/2008/layout/VerticalCircleList"/>
    <dgm:cxn modelId="{F2D1031E-11F0-4DBA-BD46-406B89B39F52}" type="presParOf" srcId="{79C36592-15F7-44A7-84F4-397E270C332C}" destId="{E8429811-444F-4EFB-BEEC-1224AB3F9856}" srcOrd="0" destOrd="0" presId="urn:microsoft.com/office/officeart/2008/layout/VerticalCircleList"/>
    <dgm:cxn modelId="{0F9E856A-4DEB-4F8A-823B-CB98B2DCB1C1}" type="presParOf" srcId="{79C36592-15F7-44A7-84F4-397E270C332C}" destId="{7467B600-33C8-4487-829C-F67264AEE0BC}" srcOrd="1" destOrd="0" presId="urn:microsoft.com/office/officeart/2008/layout/VerticalCircleList"/>
    <dgm:cxn modelId="{11C0A808-1B72-4E57-994A-D49905532AD2}" type="presParOf" srcId="{79C36592-15F7-44A7-84F4-397E270C332C}" destId="{EF046178-86A0-4630-94F0-2DE0A521C9E3}" srcOrd="2" destOrd="0" presId="urn:microsoft.com/office/officeart/2008/layout/VerticalCircleList"/>
    <dgm:cxn modelId="{640BB8FE-1D4E-4201-848C-268CD9BCB1B7}" type="presParOf" srcId="{0B25ADF0-A0E3-4A6E-B66A-0D2FF3A7EDC3}" destId="{79F34381-5250-4584-8A3C-CD65927A862E}" srcOrd="2" destOrd="0" presId="urn:microsoft.com/office/officeart/2008/layout/VerticalCircleList"/>
    <dgm:cxn modelId="{99F33076-B344-40BB-86A8-36A9253EE4C6}" type="presParOf" srcId="{79F34381-5250-4584-8A3C-CD65927A862E}" destId="{8A6FCF91-8F41-4C94-B57C-0A1E5A15307D}" srcOrd="0" destOrd="0" presId="urn:microsoft.com/office/officeart/2008/layout/VerticalCircleList"/>
    <dgm:cxn modelId="{44ABCBB2-E7C3-4316-A8E4-92CE31FE7EDC}" type="presParOf" srcId="{79F34381-5250-4584-8A3C-CD65927A862E}" destId="{B9519415-69B1-4BF2-A774-59C3E796CC71}" srcOrd="1" destOrd="0" presId="urn:microsoft.com/office/officeart/2008/layout/VerticalCircleList"/>
    <dgm:cxn modelId="{0914F8A2-4451-4740-9004-E5F24671BFFB}" type="presParOf" srcId="{79F34381-5250-4584-8A3C-CD65927A862E}" destId="{6D538A5C-7B3A-4D13-9F31-6B160B0E4FB9}" srcOrd="2" destOrd="0" presId="urn:microsoft.com/office/officeart/2008/layout/VerticalCircleList"/>
  </dgm:cxnLst>
  <dgm:bg>
    <a:noFill/>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FDC5E-BA7B-45B8-89A9-9E42D12C840F}">
      <dsp:nvSpPr>
        <dsp:cNvPr id="0" name=""/>
        <dsp:cNvSpPr/>
      </dsp:nvSpPr>
      <dsp:spPr>
        <a:xfrm>
          <a:off x="925574" y="4454"/>
          <a:ext cx="4644299" cy="4690182"/>
        </a:xfrm>
        <a:prstGeom prst="ellipse">
          <a:avLst/>
        </a:prstGeom>
        <a:blipFill rotWithShape="0">
          <a:blip xmlns:r="http://schemas.openxmlformats.org/officeDocument/2006/relationships" r:embed="rId1">
            <a:duotone>
              <a:schemeClr val="accent2">
                <a:alpha val="50000"/>
                <a:hueOff val="0"/>
                <a:satOff val="0"/>
                <a:lumOff val="0"/>
                <a:alphaOff val="0"/>
                <a:shade val="20000"/>
                <a:satMod val="200000"/>
              </a:schemeClr>
              <a:schemeClr val="accent2">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EA10DE24-1649-471E-95AB-D195F1483F8C}">
      <dsp:nvSpPr>
        <dsp:cNvPr id="0" name=""/>
        <dsp:cNvSpPr/>
      </dsp:nvSpPr>
      <dsp:spPr>
        <a:xfrm>
          <a:off x="5115796" y="2691018"/>
          <a:ext cx="6094161" cy="234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3500" rIns="0" bIns="63500" numCol="1" spcCol="1270" anchor="ctr" anchorCtr="0">
          <a:noAutofit/>
        </a:bodyPr>
        <a:lstStyle/>
        <a:p>
          <a:pPr lvl="0" algn="l" defTabSz="2222500">
            <a:lnSpc>
              <a:spcPct val="90000"/>
            </a:lnSpc>
            <a:spcBef>
              <a:spcPct val="0"/>
            </a:spcBef>
            <a:spcAft>
              <a:spcPct val="35000"/>
            </a:spcAft>
          </a:pPr>
          <a:r>
            <a:rPr lang="en-US" sz="5000" kern="1200" dirty="0">
              <a:solidFill>
                <a:srgbClr val="2C3E50"/>
              </a:solidFill>
              <a:latin typeface="Calibri"/>
              <a:ea typeface="+mn-ea"/>
              <a:cs typeface="+mn-cs"/>
            </a:rPr>
            <a:t>18 </a:t>
          </a:r>
          <a:r>
            <a:rPr lang="ru-RU" sz="5000" kern="1200" dirty="0" smtClean="0">
              <a:solidFill>
                <a:srgbClr val="2C3E50"/>
              </a:solidFill>
              <a:latin typeface="Calibri"/>
              <a:ea typeface="+mn-ea"/>
              <a:cs typeface="+mn-cs"/>
            </a:rPr>
            <a:t>лекций в виде </a:t>
          </a:r>
          <a:r>
            <a:rPr lang="en-US" sz="5000" kern="1200" dirty="0" smtClean="0">
              <a:solidFill>
                <a:srgbClr val="2C3E50"/>
              </a:solidFill>
              <a:latin typeface="Calibri"/>
              <a:ea typeface="+mn-ea"/>
              <a:cs typeface="+mn-cs"/>
            </a:rPr>
            <a:t>power point</a:t>
          </a:r>
          <a:r>
            <a:rPr lang="ru-RU" sz="5000" kern="1200" dirty="0" smtClean="0">
              <a:solidFill>
                <a:srgbClr val="2C3E50"/>
              </a:solidFill>
              <a:latin typeface="Calibri"/>
              <a:ea typeface="+mn-ea"/>
              <a:cs typeface="+mn-cs"/>
            </a:rPr>
            <a:t> презентации</a:t>
          </a:r>
          <a:endParaRPr lang="en-US" sz="5000" kern="1200" dirty="0">
            <a:solidFill>
              <a:srgbClr val="2C3E50"/>
            </a:solidFill>
            <a:latin typeface="Calibri"/>
            <a:ea typeface="+mn-ea"/>
            <a:cs typeface="+mn-cs"/>
          </a:endParaRPr>
        </a:p>
      </dsp:txBody>
      <dsp:txXfrm>
        <a:off x="5115796" y="2691018"/>
        <a:ext cx="6094161" cy="2343244"/>
      </dsp:txXfrm>
    </dsp:sp>
    <dsp:sp modelId="{7467B600-33C8-4487-829C-F67264AEE0BC}">
      <dsp:nvSpPr>
        <dsp:cNvPr id="0" name=""/>
        <dsp:cNvSpPr/>
      </dsp:nvSpPr>
      <dsp:spPr>
        <a:xfrm>
          <a:off x="898345" y="4694636"/>
          <a:ext cx="4644299" cy="4690182"/>
        </a:xfrm>
        <a:prstGeom prst="ellipse">
          <a:avLst/>
        </a:prstGeom>
        <a:blipFill rotWithShape="0">
          <a:blip xmlns:r="http://schemas.openxmlformats.org/officeDocument/2006/relationships" r:embed="rId2">
            <a:duotone>
              <a:schemeClr val="accent3">
                <a:alpha val="50000"/>
                <a:hueOff val="0"/>
                <a:satOff val="0"/>
                <a:lumOff val="0"/>
                <a:alphaOff val="0"/>
                <a:shade val="20000"/>
                <a:satMod val="200000"/>
              </a:schemeClr>
              <a:schemeClr val="accent3">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EF046178-86A0-4630-94F0-2DE0A521C9E3}">
      <dsp:nvSpPr>
        <dsp:cNvPr id="0" name=""/>
        <dsp:cNvSpPr/>
      </dsp:nvSpPr>
      <dsp:spPr>
        <a:xfrm>
          <a:off x="5006880" y="7923663"/>
          <a:ext cx="6203077" cy="2027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3500" rIns="0" bIns="63500" numCol="1" spcCol="1270" anchor="ctr" anchorCtr="0">
          <a:noAutofit/>
        </a:bodyPr>
        <a:lstStyle/>
        <a:p>
          <a:pPr lvl="0" algn="l" defTabSz="2222500">
            <a:lnSpc>
              <a:spcPct val="90000"/>
            </a:lnSpc>
            <a:spcBef>
              <a:spcPct val="0"/>
            </a:spcBef>
            <a:spcAft>
              <a:spcPct val="35000"/>
            </a:spcAft>
          </a:pPr>
          <a:r>
            <a:rPr lang="en-US" sz="5000" kern="1200" dirty="0">
              <a:solidFill>
                <a:srgbClr val="2C3E50"/>
              </a:solidFill>
              <a:latin typeface="Calibri"/>
              <a:ea typeface="+mn-ea"/>
              <a:cs typeface="+mn-cs"/>
            </a:rPr>
            <a:t>4 </a:t>
          </a:r>
          <a:r>
            <a:rPr lang="ru-RU" sz="5000" kern="1200" dirty="0" smtClean="0">
              <a:solidFill>
                <a:srgbClr val="2C3E50"/>
              </a:solidFill>
              <a:latin typeface="Calibri"/>
              <a:ea typeface="+mn-ea"/>
              <a:cs typeface="+mn-cs"/>
            </a:rPr>
            <a:t>индивидуальных  заданий</a:t>
          </a:r>
          <a:endParaRPr lang="en-US" sz="5000" kern="1200" dirty="0">
            <a:solidFill>
              <a:srgbClr val="2C3E50"/>
            </a:solidFill>
            <a:latin typeface="Calibri"/>
            <a:ea typeface="+mn-ea"/>
            <a:cs typeface="+mn-cs"/>
          </a:endParaRPr>
        </a:p>
      </dsp:txBody>
      <dsp:txXfrm>
        <a:off x="5006880" y="7923663"/>
        <a:ext cx="6203077" cy="2027554"/>
      </dsp:txXfrm>
    </dsp:sp>
    <dsp:sp modelId="{B9519415-69B1-4BF2-A774-59C3E796CC71}">
      <dsp:nvSpPr>
        <dsp:cNvPr id="0" name=""/>
        <dsp:cNvSpPr/>
      </dsp:nvSpPr>
      <dsp:spPr>
        <a:xfrm>
          <a:off x="1124154" y="9254289"/>
          <a:ext cx="4644299" cy="4690182"/>
        </a:xfrm>
        <a:prstGeom prst="ellipse">
          <a:avLst/>
        </a:prstGeom>
        <a:blipFill rotWithShape="0">
          <a:blip xmlns:r="http://schemas.openxmlformats.org/officeDocument/2006/relationships" r:embed="rId3">
            <a:duotone>
              <a:schemeClr val="accent4">
                <a:alpha val="50000"/>
                <a:hueOff val="0"/>
                <a:satOff val="0"/>
                <a:lumOff val="0"/>
                <a:alphaOff val="0"/>
                <a:shade val="20000"/>
                <a:satMod val="200000"/>
              </a:schemeClr>
              <a:schemeClr val="accent4">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6D538A5C-7B3A-4D13-9F31-6B160B0E4FB9}">
      <dsp:nvSpPr>
        <dsp:cNvPr id="0" name=""/>
        <dsp:cNvSpPr/>
      </dsp:nvSpPr>
      <dsp:spPr>
        <a:xfrm>
          <a:off x="5430414" y="12383483"/>
          <a:ext cx="5779543" cy="149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3500" rIns="0" bIns="63500" numCol="1" spcCol="1270" anchor="ctr" anchorCtr="0">
          <a:noAutofit/>
        </a:bodyPr>
        <a:lstStyle/>
        <a:p>
          <a:pPr lvl="0" algn="l" defTabSz="2222500">
            <a:lnSpc>
              <a:spcPct val="90000"/>
            </a:lnSpc>
            <a:spcBef>
              <a:spcPct val="0"/>
            </a:spcBef>
            <a:spcAft>
              <a:spcPct val="35000"/>
            </a:spcAft>
          </a:pPr>
          <a:r>
            <a:rPr lang="en-US" sz="5000" kern="1200" dirty="0">
              <a:solidFill>
                <a:srgbClr val="2C3E50"/>
              </a:solidFill>
              <a:latin typeface="Calibri"/>
              <a:ea typeface="+mn-ea"/>
              <a:cs typeface="+mn-cs"/>
            </a:rPr>
            <a:t>11 </a:t>
          </a:r>
          <a:r>
            <a:rPr lang="ru-RU" sz="5000" kern="1200" dirty="0" smtClean="0">
              <a:solidFill>
                <a:srgbClr val="2C3E50"/>
              </a:solidFill>
              <a:latin typeface="Calibri"/>
              <a:ea typeface="+mn-ea"/>
              <a:cs typeface="+mn-cs"/>
            </a:rPr>
            <a:t>практических упражнений</a:t>
          </a:r>
          <a:endParaRPr lang="en-US" sz="5000" kern="1200" dirty="0">
            <a:solidFill>
              <a:srgbClr val="2C3E50"/>
            </a:solidFill>
            <a:latin typeface="Calibri"/>
            <a:ea typeface="+mn-ea"/>
            <a:cs typeface="+mn-cs"/>
          </a:endParaRPr>
        </a:p>
      </dsp:txBody>
      <dsp:txXfrm>
        <a:off x="5430414" y="12383483"/>
        <a:ext cx="5779543" cy="1495522"/>
      </dsp:txXfrm>
    </dsp:sp>
  </dsp:spTree>
</dsp:drawing>
</file>

<file path=ppt/diagrams/layout1.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buFont typeface="Arial" panose="020B0604020202020204" pitchFamily="34" charset="0"/>
              <a:buNone/>
            </a:pPr>
            <a:r>
              <a:rPr lang="en-US" b="1" dirty="0"/>
              <a:t>Read me:</a:t>
            </a:r>
          </a:p>
          <a:p>
            <a:pPr marL="0" indent="0">
              <a:buFont typeface="Arial" panose="020B0604020202020204" pitchFamily="34" charset="0"/>
              <a:buNone/>
            </a:pPr>
            <a:endParaRPr lang="en-US" b="1" dirty="0"/>
          </a:p>
          <a:p>
            <a:pPr marL="0" indent="0">
              <a:buFont typeface="Arial" panose="020B0604020202020204" pitchFamily="34" charset="0"/>
              <a:buNone/>
            </a:pPr>
            <a:r>
              <a:rPr lang="en-US" dirty="0"/>
              <a:t>*Adopt this template accordingly. </a:t>
            </a:r>
          </a:p>
          <a:p>
            <a:pPr marL="857250" indent="-857250">
              <a:buFont typeface="Arial" panose="020B0604020202020204" pitchFamily="34" charset="0"/>
              <a:buChar char="•"/>
            </a:pPr>
            <a:endParaRPr lang="en-US" dirty="0"/>
          </a:p>
          <a:p>
            <a:r>
              <a:rPr lang="en-US" dirty="0"/>
              <a:t>* The headings many be change depending on the type of your study. Please maintain the Font type and Font size as this would affect its appearance on Zoom.  ( </a:t>
            </a:r>
            <a:r>
              <a:rPr lang="en-US" b="1" dirty="0"/>
              <a:t>Title</a:t>
            </a:r>
            <a:r>
              <a:rPr lang="en-US" dirty="0"/>
              <a:t>, Calibri, bold, 80; </a:t>
            </a:r>
            <a:r>
              <a:rPr lang="en-US" b="1" dirty="0"/>
              <a:t>Author</a:t>
            </a:r>
            <a:r>
              <a:rPr lang="en-US" dirty="0"/>
              <a:t>, Calibri, 66; </a:t>
            </a:r>
            <a:r>
              <a:rPr lang="en-US" b="1" dirty="0"/>
              <a:t>Affiliation</a:t>
            </a:r>
            <a:r>
              <a:rPr lang="en-US" dirty="0"/>
              <a:t>, Calibri, 44; </a:t>
            </a:r>
            <a:r>
              <a:rPr lang="en-US" b="1" dirty="0"/>
              <a:t>Subheading</a:t>
            </a:r>
            <a:r>
              <a:rPr lang="en-US" dirty="0"/>
              <a:t>, Calibri, capitalized all, bold, underline, 60; </a:t>
            </a:r>
            <a:r>
              <a:rPr lang="en-US" b="1" dirty="0"/>
              <a:t>Text</a:t>
            </a:r>
            <a:r>
              <a:rPr lang="en-US" dirty="0"/>
              <a:t>, Calibri body, 54; </a:t>
            </a:r>
            <a:r>
              <a:rPr lang="en-US" b="1" dirty="0"/>
              <a:t>Contacts</a:t>
            </a:r>
            <a:r>
              <a:rPr lang="en-US" dirty="0"/>
              <a:t>, Calibri, underline, 40, text is Calibri, 40)		</a:t>
            </a:r>
          </a:p>
          <a:p>
            <a:r>
              <a:rPr lang="en-US" dirty="0"/>
              <a:t>*It is recommended that during the presentation be your </a:t>
            </a:r>
            <a:r>
              <a:rPr lang="en-US" b="1" dirty="0"/>
              <a:t>poster and </a:t>
            </a:r>
            <a:r>
              <a:rPr lang="en-US" dirty="0"/>
              <a:t> </a:t>
            </a:r>
            <a:r>
              <a:rPr lang="en-US" b="1" dirty="0"/>
              <a:t>Zoom</a:t>
            </a:r>
            <a:r>
              <a:rPr lang="en-US" dirty="0"/>
              <a:t> on </a:t>
            </a:r>
            <a:r>
              <a:rPr lang="en-US" b="1" dirty="0"/>
              <a:t>FULL SCREEN. </a:t>
            </a:r>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1.jpg"/><Relationship Id="rId7" Type="http://schemas.openxmlformats.org/officeDocument/2006/relationships/hyperlink" Target="https://course.nursekz.com/" TargetMode="External"/><Relationship Id="rId12"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nursekz.com/" TargetMode="External"/><Relationship Id="rId11" Type="http://schemas.openxmlformats.org/officeDocument/2006/relationships/diagramColors" Target="../diagrams/colors1.xml"/><Relationship Id="rId5" Type="http://schemas.openxmlformats.org/officeDocument/2006/relationships/hyperlink" Target="http://proinca-nursing.kz/" TargetMode="External"/><Relationship Id="rId10" Type="http://schemas.openxmlformats.org/officeDocument/2006/relationships/diagramQuickStyle" Target="../diagrams/quickStyle1.xml"/><Relationship Id="rId4" Type="http://schemas.openxmlformats.org/officeDocument/2006/relationships/image" Target="../media/image2.jpg"/><Relationship Id="rId9"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12507685" y="3166516"/>
            <a:ext cx="21188927" cy="893014"/>
          </a:xfrm>
        </p:spPr>
        <p:txBody>
          <a:bodyPr>
            <a:normAutofit fontScale="77500" lnSpcReduction="20000"/>
          </a:bodyPr>
          <a:lstStyle/>
          <a:p>
            <a:r>
              <a:rPr lang="ru-RU" dirty="0"/>
              <a:t>Университет прикладных наук </a:t>
            </a:r>
            <a:r>
              <a:rPr lang="en-US" dirty="0" smtClean="0"/>
              <a:t>JAMK</a:t>
            </a:r>
            <a:r>
              <a:rPr lang="ru-RU" dirty="0"/>
              <a:t>,</a:t>
            </a:r>
            <a:r>
              <a:rPr lang="ru-RU" dirty="0" smtClean="0"/>
              <a:t> Университет </a:t>
            </a:r>
            <a:r>
              <a:rPr lang="ru-RU" dirty="0"/>
              <a:t>прикладных </a:t>
            </a:r>
            <a:r>
              <a:rPr lang="ru-RU" dirty="0" smtClean="0"/>
              <a:t>наук </a:t>
            </a:r>
            <a:r>
              <a:rPr lang="en-US" dirty="0" smtClean="0"/>
              <a:t>LAB</a:t>
            </a:r>
            <a:r>
              <a:rPr lang="ru-RU" dirty="0" smtClean="0"/>
              <a:t>, </a:t>
            </a:r>
            <a:r>
              <a:rPr lang="ru-RU" dirty="0"/>
              <a:t>М</a:t>
            </a:r>
            <a:r>
              <a:rPr lang="ru-RU" dirty="0" smtClean="0"/>
              <a:t>едицинский университет Караганды</a:t>
            </a:r>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10969014" y="2120002"/>
            <a:ext cx="21926126" cy="701322"/>
          </a:xfrm>
        </p:spPr>
        <p:txBody>
          <a:bodyPr>
            <a:noAutofit/>
          </a:bodyPr>
          <a:lstStyle/>
          <a:p>
            <a:r>
              <a:rPr lang="ru-RU" sz="4000" dirty="0" err="1"/>
              <a:t>Йоханна</a:t>
            </a:r>
            <a:r>
              <a:rPr lang="ru-RU" sz="4000" dirty="0"/>
              <a:t> </a:t>
            </a:r>
            <a:r>
              <a:rPr lang="ru-RU" sz="4000" dirty="0" err="1"/>
              <a:t>Хейккила</a:t>
            </a:r>
            <a:r>
              <a:rPr lang="ru-RU" sz="4000" dirty="0"/>
              <a:t>, </a:t>
            </a:r>
            <a:r>
              <a:rPr lang="ru-RU" sz="4000" dirty="0" err="1"/>
              <a:t>Ханнеле</a:t>
            </a:r>
            <a:r>
              <a:rPr lang="ru-RU" sz="4000" dirty="0"/>
              <a:t> </a:t>
            </a:r>
            <a:r>
              <a:rPr lang="ru-RU" sz="4000" dirty="0" err="1" smtClean="0"/>
              <a:t>Ти</a:t>
            </a:r>
            <a:r>
              <a:rPr lang="kk-KZ" sz="4000" dirty="0"/>
              <a:t>и</a:t>
            </a:r>
            <a:r>
              <a:rPr lang="ru-RU" sz="4000" dirty="0" err="1" smtClean="0"/>
              <a:t>ттанен</a:t>
            </a:r>
            <a:r>
              <a:rPr lang="ru-RU" sz="4000" dirty="0"/>
              <a:t>, Жулдыз </a:t>
            </a:r>
            <a:r>
              <a:rPr lang="ru-RU" sz="4000" dirty="0" err="1"/>
              <a:t>Куаныш</a:t>
            </a:r>
            <a:r>
              <a:rPr lang="ru-RU" sz="4000" dirty="0"/>
              <a:t>, Инеш </a:t>
            </a:r>
            <a:r>
              <a:rPr lang="ru-RU" sz="4000" dirty="0" smtClean="0"/>
              <a:t>Меерманова</a:t>
            </a:r>
            <a:endParaRPr lang="en-US" sz="40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10152977" y="221044"/>
            <a:ext cx="23771137" cy="2045277"/>
          </a:xfrm>
        </p:spPr>
        <p:txBody>
          <a:bodyPr>
            <a:noAutofit/>
          </a:bodyPr>
          <a:lstStyle/>
          <a:p>
            <a:r>
              <a:rPr lang="ru-RU" sz="5400" dirty="0"/>
              <a:t>Национальные обучающие и обучающие материалы в </a:t>
            </a:r>
            <a:r>
              <a:rPr lang="ru-RU" sz="5400" dirty="0" err="1"/>
              <a:t>Moodle</a:t>
            </a:r>
            <a:r>
              <a:rPr lang="ru-RU" sz="5400" dirty="0"/>
              <a:t> для курса «Исследовательские проекты и проекты развития в сестринском деле».</a:t>
            </a:r>
          </a:p>
        </p:txBody>
      </p:sp>
      <p:pic>
        <p:nvPicPr>
          <p:cNvPr id="14" name="Рисунок 13"/>
          <p:cNvPicPr>
            <a:picLocks noChangeAspect="1"/>
          </p:cNvPicPr>
          <p:nvPr/>
        </p:nvPicPr>
        <p:blipFill rotWithShape="1">
          <a:blip r:embed="rId3">
            <a:extLst>
              <a:ext uri="{28A0092B-C50C-407E-A947-70E740481C1C}">
                <a14:useLocalDpi xmlns:a14="http://schemas.microsoft.com/office/drawing/2010/main" val="0"/>
              </a:ext>
            </a:extLst>
          </a:blip>
          <a:srcRect t="30008" b="31398"/>
          <a:stretch/>
        </p:blipFill>
        <p:spPr>
          <a:xfrm>
            <a:off x="33848978" y="395434"/>
            <a:ext cx="9319260" cy="3596640"/>
          </a:xfrm>
          <a:prstGeom prst="rect">
            <a:avLst/>
          </a:prstGeom>
        </p:spPr>
      </p:pic>
      <p:pic>
        <p:nvPicPr>
          <p:cNvPr id="19" name="Рисунок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837" y="501570"/>
            <a:ext cx="9484404" cy="3557960"/>
          </a:xfrm>
          <a:prstGeom prst="rect">
            <a:avLst/>
          </a:prstGeom>
        </p:spPr>
      </p:pic>
      <p:sp>
        <p:nvSpPr>
          <p:cNvPr id="82" name="AutoShape 4" descr="eLIBRARY.RU - НАУЧНАЯ ЭЛЕКТРОННАЯ БИБЛИОТЕК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3" name="AutoShape 6" descr="eLIBRARY.RU - НАУЧНАЯ ЭЛЕКТРОННАЯ БИБЛИОТЕКА"/>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8"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32471719" y="27581865"/>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Подписывайтесь на нас:</a:t>
            </a:r>
            <a:endParaRPr lang="en-US" sz="3600" dirty="0">
              <a:solidFill>
                <a:schemeClr val="bg1"/>
              </a:solidFill>
            </a:endParaRPr>
          </a:p>
        </p:txBody>
      </p:sp>
      <p:sp>
        <p:nvSpPr>
          <p:cNvPr id="89" name="TextBox 88">
            <a:extLst>
              <a:ext uri="{FF2B5EF4-FFF2-40B4-BE49-F238E27FC236}">
                <a16:creationId xmlns:a16="http://schemas.microsoft.com/office/drawing/2014/main" xmlns="" id="{2C6E9F3E-3183-4639-8BD4-4D30DDD1A58D}"/>
              </a:ext>
            </a:extLst>
          </p:cNvPr>
          <p:cNvSpPr txBox="1"/>
          <p:nvPr/>
        </p:nvSpPr>
        <p:spPr>
          <a:xfrm>
            <a:off x="32487908" y="28760713"/>
            <a:ext cx="9857035" cy="2554545"/>
          </a:xfrm>
          <a:prstGeom prst="rect">
            <a:avLst/>
          </a:prstGeom>
          <a:noFill/>
        </p:spPr>
        <p:txBody>
          <a:bodyPr wrap="square" rtlCol="0">
            <a:spAutoFit/>
          </a:bodyPr>
          <a:lstStyle>
            <a:defPPr>
              <a:defRPr kern="1200" smtId="4294967295"/>
            </a:defPPr>
          </a:lstStyle>
          <a:p>
            <a:r>
              <a:rPr lang="en-US" sz="3200" dirty="0"/>
              <a:t>Project website: </a:t>
            </a:r>
            <a:r>
              <a:rPr lang="en-US" sz="3200" u="sng" dirty="0">
                <a:hlinkClick r:id="rId5"/>
              </a:rPr>
              <a:t>http://proinca-nursing.kz/</a:t>
            </a:r>
            <a:endParaRPr lang="en-US" sz="3200" u="sng" dirty="0"/>
          </a:p>
          <a:p>
            <a:r>
              <a:rPr lang="en-US" sz="3200" dirty="0"/>
              <a:t>CNE</a:t>
            </a:r>
            <a:r>
              <a:rPr lang="en-US" sz="3200" u="sng" dirty="0"/>
              <a:t>: </a:t>
            </a:r>
            <a:r>
              <a:rPr lang="en-US" sz="3200" u="sng" dirty="0">
                <a:hlinkClick r:id="rId6"/>
              </a:rPr>
              <a:t>https://nursekz.com</a:t>
            </a:r>
            <a:r>
              <a:rPr lang="en-US" sz="3200" u="sng" dirty="0"/>
              <a:t> </a:t>
            </a:r>
            <a:endParaRPr lang="ru-RU" sz="3200" dirty="0"/>
          </a:p>
          <a:p>
            <a:r>
              <a:rPr lang="en-US" sz="3200" dirty="0"/>
              <a:t>Twitter: </a:t>
            </a:r>
            <a:r>
              <a:rPr lang="en-US" sz="3200" dirty="0" err="1"/>
              <a:t>ProInCa_Nursing</a:t>
            </a:r>
            <a:endParaRPr lang="ru-RU" sz="3200" dirty="0"/>
          </a:p>
          <a:p>
            <a:r>
              <a:rPr lang="en-US" sz="3200" dirty="0"/>
              <a:t>Facebook: </a:t>
            </a:r>
            <a:r>
              <a:rPr lang="en-US" sz="3200" dirty="0" err="1"/>
              <a:t>Proincanursing</a:t>
            </a:r>
            <a:endParaRPr lang="en-US" sz="3200" dirty="0"/>
          </a:p>
          <a:p>
            <a:r>
              <a:rPr lang="en-US" sz="3200" dirty="0"/>
              <a:t>Instagram: </a:t>
            </a:r>
            <a:r>
              <a:rPr lang="en-US" sz="3200" dirty="0" err="1"/>
              <a:t>Proinca_kz</a:t>
            </a:r>
            <a:endParaRPr lang="ru-RU" sz="3200" dirty="0"/>
          </a:p>
        </p:txBody>
      </p:sp>
      <p:sp>
        <p:nvSpPr>
          <p:cNvPr id="90"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864198" y="27780370"/>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Дальнейшая информация:</a:t>
            </a:r>
            <a:endParaRPr lang="en-US" sz="3600" dirty="0">
              <a:solidFill>
                <a:schemeClr val="bg1"/>
              </a:solidFill>
            </a:endParaRPr>
          </a:p>
        </p:txBody>
      </p:sp>
      <p:sp>
        <p:nvSpPr>
          <p:cNvPr id="91" name="TextBox 90">
            <a:extLst>
              <a:ext uri="{FF2B5EF4-FFF2-40B4-BE49-F238E27FC236}">
                <a16:creationId xmlns:a16="http://schemas.microsoft.com/office/drawing/2014/main" xmlns="" id="{2C6E9F3E-3183-4639-8BD4-4D30DDD1A58D}"/>
              </a:ext>
            </a:extLst>
          </p:cNvPr>
          <p:cNvSpPr txBox="1"/>
          <p:nvPr/>
        </p:nvSpPr>
        <p:spPr>
          <a:xfrm>
            <a:off x="1864198" y="28929996"/>
            <a:ext cx="9857035" cy="2062103"/>
          </a:xfrm>
          <a:prstGeom prst="rect">
            <a:avLst/>
          </a:prstGeom>
          <a:noFill/>
        </p:spPr>
        <p:txBody>
          <a:bodyPr wrap="square" rtlCol="0">
            <a:spAutoFit/>
          </a:bodyPr>
          <a:lstStyle>
            <a:defPPr>
              <a:defRPr kern="1200" smtId="4294967295"/>
            </a:defPPr>
          </a:lstStyle>
          <a:p>
            <a:pPr>
              <a:tabLst>
                <a:tab pos="635000" algn="l"/>
              </a:tabLst>
            </a:pPr>
            <a:r>
              <a:rPr lang="ru-RU" sz="3200" dirty="0" err="1"/>
              <a:t>Йоханна</a:t>
            </a:r>
            <a:r>
              <a:rPr lang="ru-RU" sz="3200" dirty="0"/>
              <a:t> </a:t>
            </a:r>
            <a:r>
              <a:rPr lang="ru-RU" sz="3200" dirty="0" err="1"/>
              <a:t>Хейккиля</a:t>
            </a:r>
            <a:r>
              <a:rPr lang="ru-RU" sz="3200" dirty="0"/>
              <a:t>, </a:t>
            </a:r>
            <a:r>
              <a:rPr lang="ru-RU" sz="3200" dirty="0" err="1"/>
              <a:t>PhD</a:t>
            </a:r>
            <a:r>
              <a:rPr lang="ru-RU" sz="3200" dirty="0"/>
              <a:t>, старший советник-координатор и научный руководитель CBHE </a:t>
            </a:r>
            <a:r>
              <a:rPr lang="ru-RU" sz="3200" dirty="0" err="1"/>
              <a:t>ProInCa</a:t>
            </a:r>
            <a:r>
              <a:rPr lang="en-US" sz="3200" dirty="0"/>
              <a:t/>
            </a:r>
            <a:br>
              <a:rPr lang="en-US" sz="3200" dirty="0"/>
            </a:br>
            <a:r>
              <a:rPr lang="en-US" sz="3200" dirty="0"/>
              <a:t>Tel. +358 40 8488 623 ; +77079488623</a:t>
            </a:r>
            <a:br>
              <a:rPr lang="en-US" sz="3200" dirty="0"/>
            </a:br>
            <a:r>
              <a:rPr lang="en-US" sz="3200" dirty="0"/>
              <a:t>E-mail: </a:t>
            </a:r>
            <a:r>
              <a:rPr lang="en-US" sz="3200" dirty="0" err="1"/>
              <a:t>johanna.heikkila</a:t>
            </a:r>
            <a:r>
              <a:rPr lang="en-US" sz="3200" dirty="0"/>
              <a:t>(at)jamk.fi</a:t>
            </a:r>
          </a:p>
        </p:txBody>
      </p:sp>
      <p:sp>
        <p:nvSpPr>
          <p:cNvPr id="330"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32273011" y="21739619"/>
            <a:ext cx="10620627" cy="5447623"/>
          </a:xfrm>
          <a:ln>
            <a:noFill/>
          </a:ln>
        </p:spPr>
        <p:txBody>
          <a:bodyPr/>
          <a:lstStyle/>
          <a:p>
            <a:pPr algn="just"/>
            <a:r>
              <a:rPr lang="ru-RU" sz="5400" dirty="0" smtClean="0"/>
              <a:t>Материалы </a:t>
            </a:r>
            <a:r>
              <a:rPr lang="ru-RU" sz="5400" dirty="0"/>
              <a:t>в БЕСПЛАТНОМ доступе на двух языках (EN и RU) расположены на электронной платформе </a:t>
            </a:r>
            <a:r>
              <a:rPr lang="ru-RU" sz="5400" dirty="0" err="1"/>
              <a:t>Moodle</a:t>
            </a:r>
            <a:r>
              <a:rPr lang="ru-RU" sz="5400" dirty="0"/>
              <a:t> </a:t>
            </a:r>
            <a:r>
              <a:rPr lang="ru-RU" sz="5400" dirty="0" smtClean="0"/>
              <a:t>Центра совершенствования сестринского </a:t>
            </a:r>
            <a:r>
              <a:rPr lang="ru-RU" sz="5400" dirty="0"/>
              <a:t>дела: </a:t>
            </a:r>
            <a:r>
              <a:rPr lang="ru-RU" sz="5400" dirty="0">
                <a:hlinkClick r:id="rId7"/>
              </a:rPr>
              <a:t>https://course.nursekz.com</a:t>
            </a:r>
            <a:r>
              <a:rPr lang="ru-RU" sz="5400" dirty="0" smtClean="0"/>
              <a:t>. </a:t>
            </a:r>
            <a:endParaRPr lang="en-US" sz="5400" dirty="0"/>
          </a:p>
        </p:txBody>
      </p:sp>
      <p:sp>
        <p:nvSpPr>
          <p:cNvPr id="279" name="AutoShape 2" descr="blob:https://web.whatsapp.com/87730ca4-d6a7-4603-9f20-c7b339edd34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43" name="Diagram 2"/>
          <p:cNvGraphicFramePr/>
          <p:nvPr>
            <p:extLst>
              <p:ext uri="{D42A27DB-BD31-4B8C-83A1-F6EECF244321}">
                <p14:modId xmlns:p14="http://schemas.microsoft.com/office/powerpoint/2010/main" val="70503767"/>
              </p:ext>
            </p:extLst>
          </p:nvPr>
        </p:nvGraphicFramePr>
        <p:xfrm>
          <a:off x="31958280" y="7665877"/>
          <a:ext cx="11209958" cy="1407945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4"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32487908" y="4213153"/>
            <a:ext cx="10058400" cy="3231646"/>
          </a:xfrm>
        </p:spPr>
        <p:txBody>
          <a:bodyPr/>
          <a:lstStyle/>
          <a:p>
            <a:r>
              <a:rPr lang="ru-RU" sz="6600" u="none" dirty="0">
                <a:solidFill>
                  <a:schemeClr val="tx1"/>
                </a:solidFill>
              </a:rPr>
              <a:t>КОЛИЧЕСТВО И ВИД РАЗРАБОТАННОГО УЧЕБНОГО МАТЕРИАЛА</a:t>
            </a:r>
            <a:endParaRPr lang="en-US" sz="6600" u="none" dirty="0">
              <a:solidFill>
                <a:schemeClr val="tx1"/>
              </a:solidFill>
            </a:endParaRPr>
          </a:p>
        </p:txBody>
      </p:sp>
      <p:sp>
        <p:nvSpPr>
          <p:cNvPr id="292" name="Freeform 40"/>
          <p:cNvSpPr>
            <a:spLocks/>
          </p:cNvSpPr>
          <p:nvPr/>
        </p:nvSpPr>
        <p:spPr bwMode="auto">
          <a:xfrm rot="536241">
            <a:off x="7017884" y="5635879"/>
            <a:ext cx="5242183" cy="5329934"/>
          </a:xfrm>
          <a:custGeom>
            <a:avLst/>
            <a:gdLst/>
            <a:ahLst/>
            <a:cxnLst>
              <a:cxn ang="0">
                <a:pos x="85" y="134"/>
              </a:cxn>
              <a:cxn ang="0">
                <a:pos x="85" y="2"/>
              </a:cxn>
              <a:cxn ang="0">
                <a:pos x="0" y="21"/>
              </a:cxn>
              <a:cxn ang="0">
                <a:pos x="85" y="134"/>
              </a:cxn>
            </a:cxnLst>
            <a:rect l="0" t="0" r="r" b="b"/>
            <a:pathLst>
              <a:path w="85" h="134">
                <a:moveTo>
                  <a:pt x="85" y="134"/>
                </a:moveTo>
                <a:cubicBezTo>
                  <a:pt x="85" y="2"/>
                  <a:pt x="85" y="2"/>
                  <a:pt x="85" y="2"/>
                </a:cubicBezTo>
                <a:cubicBezTo>
                  <a:pt x="85" y="2"/>
                  <a:pt x="29" y="0"/>
                  <a:pt x="0" y="21"/>
                </a:cubicBezTo>
                <a:lnTo>
                  <a:pt x="85" y="134"/>
                </a:lnTo>
                <a:close/>
              </a:path>
            </a:pathLst>
          </a:custGeom>
          <a:solidFill>
            <a:srgbClr val="C00000">
              <a:lumMod val="50000"/>
            </a:srgbClr>
          </a:soli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83838"/>
              </a:solidFill>
              <a:effectLst/>
              <a:uLnTx/>
              <a:uFillTx/>
              <a:latin typeface="Arial" pitchFamily="34" charset="0"/>
            </a:endParaRPr>
          </a:p>
        </p:txBody>
      </p:sp>
      <p:sp>
        <p:nvSpPr>
          <p:cNvPr id="293" name="Freeform 41"/>
          <p:cNvSpPr>
            <a:spLocks/>
          </p:cNvSpPr>
          <p:nvPr/>
        </p:nvSpPr>
        <p:spPr bwMode="auto">
          <a:xfrm rot="415306">
            <a:off x="2816425" y="6186868"/>
            <a:ext cx="9346499" cy="4849739"/>
          </a:xfrm>
          <a:custGeom>
            <a:avLst/>
            <a:gdLst/>
            <a:ahLst/>
            <a:cxnLst>
              <a:cxn ang="0">
                <a:pos x="170" y="130"/>
              </a:cxn>
              <a:cxn ang="0">
                <a:pos x="72" y="0"/>
              </a:cxn>
              <a:cxn ang="0">
                <a:pos x="0" y="62"/>
              </a:cxn>
              <a:cxn ang="0">
                <a:pos x="170" y="130"/>
              </a:cxn>
            </a:cxnLst>
            <a:rect l="0" t="0" r="r" b="b"/>
            <a:pathLst>
              <a:path w="170" h="130">
                <a:moveTo>
                  <a:pt x="170" y="130"/>
                </a:moveTo>
                <a:cubicBezTo>
                  <a:pt x="72" y="0"/>
                  <a:pt x="72" y="0"/>
                  <a:pt x="72" y="0"/>
                </a:cubicBezTo>
                <a:cubicBezTo>
                  <a:pt x="72" y="0"/>
                  <a:pt x="27" y="27"/>
                  <a:pt x="0" y="62"/>
                </a:cubicBezTo>
                <a:lnTo>
                  <a:pt x="170" y="130"/>
                </a:lnTo>
                <a:close/>
              </a:path>
            </a:pathLst>
          </a:custGeom>
          <a:solidFill>
            <a:srgbClr val="C00000">
              <a:lumMod val="75000"/>
            </a:srgbClr>
          </a:soli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83838"/>
              </a:solidFill>
              <a:effectLst/>
              <a:uLnTx/>
              <a:uFillTx/>
              <a:latin typeface="Arial" pitchFamily="34" charset="0"/>
            </a:endParaRPr>
          </a:p>
        </p:txBody>
      </p:sp>
      <p:sp>
        <p:nvSpPr>
          <p:cNvPr id="294" name="Freeform 42"/>
          <p:cNvSpPr>
            <a:spLocks/>
          </p:cNvSpPr>
          <p:nvPr/>
        </p:nvSpPr>
        <p:spPr bwMode="auto">
          <a:xfrm rot="21395584">
            <a:off x="841742" y="7949485"/>
            <a:ext cx="10793802" cy="4931294"/>
          </a:xfrm>
          <a:custGeom>
            <a:avLst/>
            <a:gdLst/>
            <a:ahLst/>
            <a:cxnLst>
              <a:cxn ang="0">
                <a:pos x="213" y="69"/>
              </a:cxn>
              <a:cxn ang="0">
                <a:pos x="35" y="0"/>
              </a:cxn>
              <a:cxn ang="0">
                <a:pos x="0" y="84"/>
              </a:cxn>
              <a:cxn ang="0">
                <a:pos x="213" y="69"/>
              </a:cxn>
            </a:cxnLst>
            <a:rect l="0" t="0" r="r" b="b"/>
            <a:pathLst>
              <a:path w="213" h="84">
                <a:moveTo>
                  <a:pt x="213" y="69"/>
                </a:moveTo>
                <a:cubicBezTo>
                  <a:pt x="35" y="0"/>
                  <a:pt x="35" y="0"/>
                  <a:pt x="35" y="0"/>
                </a:cubicBezTo>
                <a:cubicBezTo>
                  <a:pt x="35" y="0"/>
                  <a:pt x="4" y="30"/>
                  <a:pt x="0" y="84"/>
                </a:cubicBezTo>
                <a:lnTo>
                  <a:pt x="213" y="69"/>
                </a:lnTo>
                <a:close/>
              </a:path>
            </a:pathLst>
          </a:cu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0800000" scaled="1"/>
            <a:tileRect/>
          </a:gra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83838"/>
              </a:solidFill>
              <a:effectLst/>
              <a:uLnTx/>
              <a:uFillTx/>
              <a:latin typeface="Arial" pitchFamily="34" charset="0"/>
            </a:endParaRPr>
          </a:p>
        </p:txBody>
      </p:sp>
      <p:sp>
        <p:nvSpPr>
          <p:cNvPr id="295" name="Freeform 43"/>
          <p:cNvSpPr>
            <a:spLocks/>
          </p:cNvSpPr>
          <p:nvPr/>
        </p:nvSpPr>
        <p:spPr bwMode="auto">
          <a:xfrm rot="21396007">
            <a:off x="1154627" y="12279525"/>
            <a:ext cx="10324622" cy="5980080"/>
          </a:xfrm>
          <a:custGeom>
            <a:avLst/>
            <a:gdLst/>
            <a:ahLst/>
            <a:cxnLst>
              <a:cxn ang="0">
                <a:pos x="210" y="0"/>
              </a:cxn>
              <a:cxn ang="0">
                <a:pos x="0" y="16"/>
              </a:cxn>
              <a:cxn ang="0">
                <a:pos x="32" y="115"/>
              </a:cxn>
              <a:cxn ang="0">
                <a:pos x="210" y="0"/>
              </a:cxn>
            </a:cxnLst>
            <a:rect l="0" t="0" r="r" b="b"/>
            <a:pathLst>
              <a:path w="210" h="115">
                <a:moveTo>
                  <a:pt x="210" y="0"/>
                </a:moveTo>
                <a:cubicBezTo>
                  <a:pt x="0" y="16"/>
                  <a:pt x="0" y="16"/>
                  <a:pt x="0" y="16"/>
                </a:cubicBezTo>
                <a:cubicBezTo>
                  <a:pt x="0" y="16"/>
                  <a:pt x="1" y="79"/>
                  <a:pt x="32" y="115"/>
                </a:cubicBezTo>
                <a:lnTo>
                  <a:pt x="210" y="0"/>
                </a:lnTo>
                <a:close/>
              </a:path>
            </a:pathLst>
          </a:custGeom>
          <a:gradFill flip="none" rotWithShape="1">
            <a:gsLst>
              <a:gs pos="0">
                <a:srgbClr val="EC1C24">
                  <a:shade val="30000"/>
                  <a:satMod val="115000"/>
                </a:srgbClr>
              </a:gs>
              <a:gs pos="50000">
                <a:srgbClr val="EC1C24">
                  <a:shade val="67500"/>
                  <a:satMod val="115000"/>
                </a:srgbClr>
              </a:gs>
              <a:gs pos="100000">
                <a:srgbClr val="EC1C24">
                  <a:shade val="100000"/>
                  <a:satMod val="115000"/>
                </a:srgbClr>
              </a:gs>
            </a:gsLst>
            <a:lin ang="10800000" scaled="1"/>
            <a:tileRect/>
          </a:gra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pPr>
            <a:endParaRPr lang="en-US" sz="6600">
              <a:solidFill>
                <a:srgbClr val="383838"/>
              </a:solidFill>
              <a:latin typeface="Arial" pitchFamily="34" charset="0"/>
            </a:endParaRPr>
          </a:p>
        </p:txBody>
      </p:sp>
      <p:sp>
        <p:nvSpPr>
          <p:cNvPr id="296" name="Freeform 44"/>
          <p:cNvSpPr>
            <a:spLocks/>
          </p:cNvSpPr>
          <p:nvPr/>
        </p:nvSpPr>
        <p:spPr bwMode="auto">
          <a:xfrm rot="21125315">
            <a:off x="2933687" y="12529792"/>
            <a:ext cx="9301725" cy="8960994"/>
          </a:xfrm>
          <a:custGeom>
            <a:avLst/>
            <a:gdLst/>
            <a:ahLst/>
            <a:cxnLst>
              <a:cxn ang="0">
                <a:pos x="196" y="0"/>
              </a:cxn>
              <a:cxn ang="0">
                <a:pos x="0" y="128"/>
              </a:cxn>
              <a:cxn ang="0">
                <a:pos x="84" y="206"/>
              </a:cxn>
              <a:cxn ang="0">
                <a:pos x="196" y="0"/>
              </a:cxn>
            </a:cxnLst>
            <a:rect l="0" t="0" r="r" b="b"/>
            <a:pathLst>
              <a:path w="196" h="206">
                <a:moveTo>
                  <a:pt x="196" y="0"/>
                </a:moveTo>
                <a:cubicBezTo>
                  <a:pt x="0" y="128"/>
                  <a:pt x="0" y="128"/>
                  <a:pt x="0" y="128"/>
                </a:cubicBezTo>
                <a:cubicBezTo>
                  <a:pt x="0" y="128"/>
                  <a:pt x="36" y="183"/>
                  <a:pt x="84" y="206"/>
                </a:cubicBezTo>
                <a:lnTo>
                  <a:pt x="196" y="0"/>
                </a:lnTo>
                <a:close/>
              </a:path>
            </a:pathLst>
          </a:custGeom>
          <a:gradFill flip="none" rotWithShape="1">
            <a:gsLst>
              <a:gs pos="0">
                <a:srgbClr val="FF0000">
                  <a:lumMod val="60000"/>
                  <a:lumOff val="40000"/>
                  <a:shade val="30000"/>
                  <a:satMod val="115000"/>
                </a:srgbClr>
              </a:gs>
              <a:gs pos="50000">
                <a:srgbClr val="FF0000">
                  <a:lumMod val="60000"/>
                  <a:lumOff val="40000"/>
                  <a:shade val="67500"/>
                  <a:satMod val="115000"/>
                </a:srgbClr>
              </a:gs>
              <a:gs pos="100000">
                <a:srgbClr val="FF0000">
                  <a:lumMod val="60000"/>
                  <a:lumOff val="40000"/>
                  <a:shade val="100000"/>
                  <a:satMod val="115000"/>
                </a:srgbClr>
              </a:gs>
            </a:gsLst>
            <a:lin ang="8100000" scaled="1"/>
            <a:tileRect/>
          </a:gra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83838"/>
              </a:solidFill>
              <a:effectLst/>
              <a:uLnTx/>
              <a:uFillTx/>
              <a:latin typeface="Arial" pitchFamily="34" charset="0"/>
            </a:endParaRPr>
          </a:p>
        </p:txBody>
      </p:sp>
      <p:sp>
        <p:nvSpPr>
          <p:cNvPr id="309" name="Freeform 45"/>
          <p:cNvSpPr>
            <a:spLocks/>
          </p:cNvSpPr>
          <p:nvPr/>
        </p:nvSpPr>
        <p:spPr bwMode="auto">
          <a:xfrm rot="21233268">
            <a:off x="7523737" y="12493266"/>
            <a:ext cx="4892498" cy="10418541"/>
          </a:xfrm>
          <a:custGeom>
            <a:avLst/>
            <a:gdLst/>
            <a:ahLst/>
            <a:cxnLst>
              <a:cxn ang="0">
                <a:pos x="118" y="0"/>
              </a:cxn>
              <a:cxn ang="0">
                <a:pos x="0" y="215"/>
              </a:cxn>
              <a:cxn ang="0">
                <a:pos x="121" y="251"/>
              </a:cxn>
              <a:cxn ang="0">
                <a:pos x="118" y="0"/>
              </a:cxn>
            </a:cxnLst>
            <a:rect l="0" t="0" r="r" b="b"/>
            <a:pathLst>
              <a:path w="121" h="251">
                <a:moveTo>
                  <a:pt x="118" y="0"/>
                </a:moveTo>
                <a:cubicBezTo>
                  <a:pt x="0" y="215"/>
                  <a:pt x="0" y="215"/>
                  <a:pt x="0" y="215"/>
                </a:cubicBezTo>
                <a:cubicBezTo>
                  <a:pt x="0" y="215"/>
                  <a:pt x="30" y="250"/>
                  <a:pt x="121" y="251"/>
                </a:cubicBezTo>
                <a:lnTo>
                  <a:pt x="118" y="0"/>
                </a:lnTo>
                <a:close/>
              </a:path>
            </a:pathLst>
          </a:custGeom>
          <a:gradFill flip="none" rotWithShape="1">
            <a:gsLst>
              <a:gs pos="0">
                <a:srgbClr val="FF0000">
                  <a:lumMod val="40000"/>
                  <a:lumOff val="60000"/>
                  <a:shade val="30000"/>
                  <a:satMod val="115000"/>
                </a:srgbClr>
              </a:gs>
              <a:gs pos="50000">
                <a:srgbClr val="FF0000">
                  <a:lumMod val="40000"/>
                  <a:lumOff val="60000"/>
                  <a:shade val="67500"/>
                  <a:satMod val="115000"/>
                </a:srgbClr>
              </a:gs>
              <a:gs pos="100000">
                <a:srgbClr val="FF0000">
                  <a:lumMod val="40000"/>
                  <a:lumOff val="60000"/>
                  <a:shade val="100000"/>
                  <a:satMod val="115000"/>
                </a:srgbClr>
              </a:gs>
            </a:gsLst>
            <a:lin ang="5400000" scaled="1"/>
            <a:tileRect/>
          </a:gradFill>
          <a:ln w="9525">
            <a:noFill/>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83838"/>
              </a:solidFill>
              <a:effectLst/>
              <a:uLnTx/>
              <a:uFillTx/>
              <a:latin typeface="Arial" pitchFamily="34" charset="0"/>
            </a:endParaRPr>
          </a:p>
        </p:txBody>
      </p:sp>
      <p:sp>
        <p:nvSpPr>
          <p:cNvPr id="310" name="Oval 17"/>
          <p:cNvSpPr/>
          <p:nvPr/>
        </p:nvSpPr>
        <p:spPr>
          <a:xfrm>
            <a:off x="9509871" y="6369807"/>
            <a:ext cx="1058488" cy="1388479"/>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1</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1" name="Oval 18"/>
          <p:cNvSpPr/>
          <p:nvPr/>
        </p:nvSpPr>
        <p:spPr>
          <a:xfrm>
            <a:off x="5528209" y="6973328"/>
            <a:ext cx="1026649" cy="1179737"/>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2</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2" name="Oval 19"/>
          <p:cNvSpPr/>
          <p:nvPr/>
        </p:nvSpPr>
        <p:spPr>
          <a:xfrm>
            <a:off x="2331146" y="10091984"/>
            <a:ext cx="1345330" cy="1453552"/>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3</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3" name="Oval 20"/>
          <p:cNvSpPr/>
          <p:nvPr/>
        </p:nvSpPr>
        <p:spPr>
          <a:xfrm rot="106559">
            <a:off x="2118996" y="14733410"/>
            <a:ext cx="1224566" cy="1275621"/>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4</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4" name="Oval 21"/>
          <p:cNvSpPr/>
          <p:nvPr/>
        </p:nvSpPr>
        <p:spPr>
          <a:xfrm rot="21026365">
            <a:off x="5434850" y="18410450"/>
            <a:ext cx="1484934" cy="1354447"/>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5</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5" name="Oval 22"/>
          <p:cNvSpPr/>
          <p:nvPr/>
        </p:nvSpPr>
        <p:spPr>
          <a:xfrm>
            <a:off x="10152977" y="20573949"/>
            <a:ext cx="1191672" cy="1171384"/>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rgbClr val="000000"/>
                </a:solidFill>
                <a:effectLst/>
                <a:uLnTx/>
                <a:uFillTx/>
                <a:latin typeface="Calibri"/>
                <a:ea typeface="+mn-ea"/>
                <a:cs typeface="+mn-cs"/>
              </a:rPr>
              <a:t>6</a:t>
            </a:r>
            <a:endParaRPr kumimoji="0" lang="en-US" sz="6000" b="0" i="0" u="none" strike="noStrike" kern="0" cap="none" spc="0" normalizeH="0" baseline="0" noProof="0" dirty="0">
              <a:ln>
                <a:noFill/>
              </a:ln>
              <a:solidFill>
                <a:srgbClr val="000000"/>
              </a:solidFill>
              <a:effectLst/>
              <a:uLnTx/>
              <a:uFillTx/>
              <a:latin typeface="Calibri"/>
              <a:ea typeface="+mn-ea"/>
              <a:cs typeface="+mn-cs"/>
            </a:endParaRPr>
          </a:p>
        </p:txBody>
      </p:sp>
      <p:sp>
        <p:nvSpPr>
          <p:cNvPr id="316" name="Oval 23"/>
          <p:cNvSpPr/>
          <p:nvPr/>
        </p:nvSpPr>
        <p:spPr>
          <a:xfrm>
            <a:off x="14676120" y="7041028"/>
            <a:ext cx="1800000" cy="1800000"/>
          </a:xfrm>
          <a:prstGeom prst="ellipse">
            <a:avLst/>
          </a:prstGeom>
          <a:solidFill>
            <a:srgbClr val="C00000">
              <a:lumMod val="5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prstClr val="white"/>
                </a:solidFill>
                <a:effectLst/>
                <a:uLnTx/>
                <a:uFillTx/>
                <a:latin typeface="Calibri"/>
                <a:ea typeface="+mn-ea"/>
                <a:cs typeface="+mn-cs"/>
              </a:rPr>
              <a:t>1</a:t>
            </a:r>
            <a:endParaRPr kumimoji="0" lang="en-US" sz="6000" b="0" i="0" u="none" strike="noStrike" kern="0" cap="none" spc="0" normalizeH="0" baseline="0" noProof="0" dirty="0">
              <a:ln>
                <a:noFill/>
              </a:ln>
              <a:solidFill>
                <a:prstClr val="white"/>
              </a:solidFill>
              <a:effectLst/>
              <a:uLnTx/>
              <a:uFillTx/>
              <a:latin typeface="Calibri"/>
              <a:ea typeface="+mn-ea"/>
              <a:cs typeface="+mn-cs"/>
            </a:endParaRPr>
          </a:p>
        </p:txBody>
      </p:sp>
      <p:sp>
        <p:nvSpPr>
          <p:cNvPr id="317" name="Oval 24"/>
          <p:cNvSpPr/>
          <p:nvPr/>
        </p:nvSpPr>
        <p:spPr>
          <a:xfrm>
            <a:off x="14676120" y="10900886"/>
            <a:ext cx="1800000" cy="1800000"/>
          </a:xfrm>
          <a:prstGeom prst="ellipse">
            <a:avLst/>
          </a:prstGeom>
          <a:solidFill>
            <a:srgbClr val="C00000">
              <a:lumMod val="75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chemeClr val="bg1"/>
                </a:solidFill>
                <a:effectLst/>
                <a:uLnTx/>
                <a:uFillTx/>
                <a:latin typeface="Calibri"/>
                <a:ea typeface="+mn-ea"/>
                <a:cs typeface="+mn-cs"/>
              </a:rPr>
              <a:t>2</a:t>
            </a:r>
            <a:endParaRPr kumimoji="0" lang="en-US" sz="6000" b="0" i="0" u="none" strike="noStrike" kern="0" cap="none" spc="0" normalizeH="0" baseline="0" noProof="0" dirty="0">
              <a:ln>
                <a:noFill/>
              </a:ln>
              <a:solidFill>
                <a:schemeClr val="bg1"/>
              </a:solidFill>
              <a:effectLst/>
              <a:uLnTx/>
              <a:uFillTx/>
              <a:latin typeface="Calibri"/>
              <a:ea typeface="+mn-ea"/>
              <a:cs typeface="+mn-cs"/>
            </a:endParaRPr>
          </a:p>
        </p:txBody>
      </p:sp>
      <p:sp>
        <p:nvSpPr>
          <p:cNvPr id="318" name="Oval 25"/>
          <p:cNvSpPr/>
          <p:nvPr/>
        </p:nvSpPr>
        <p:spPr>
          <a:xfrm>
            <a:off x="14747065" y="15716216"/>
            <a:ext cx="1800000" cy="1800000"/>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chemeClr val="bg1"/>
                </a:solidFill>
                <a:effectLst/>
                <a:uLnTx/>
                <a:uFillTx/>
                <a:latin typeface="Calibri"/>
                <a:ea typeface="+mn-ea"/>
                <a:cs typeface="+mn-cs"/>
              </a:rPr>
              <a:t>3</a:t>
            </a:r>
            <a:endParaRPr kumimoji="0" lang="en-US" sz="6000" b="0" i="0" u="none" strike="noStrike" kern="0" cap="none" spc="0" normalizeH="0" baseline="0" noProof="0" dirty="0">
              <a:ln>
                <a:noFill/>
              </a:ln>
              <a:solidFill>
                <a:schemeClr val="bg1"/>
              </a:solidFill>
              <a:effectLst/>
              <a:uLnTx/>
              <a:uFillTx/>
              <a:latin typeface="Calibri"/>
              <a:ea typeface="+mn-ea"/>
              <a:cs typeface="+mn-cs"/>
            </a:endParaRPr>
          </a:p>
        </p:txBody>
      </p:sp>
      <p:sp>
        <p:nvSpPr>
          <p:cNvPr id="319" name="Oval 26"/>
          <p:cNvSpPr/>
          <p:nvPr/>
        </p:nvSpPr>
        <p:spPr>
          <a:xfrm>
            <a:off x="14676120" y="18978808"/>
            <a:ext cx="1800000" cy="1800000"/>
          </a:xfrm>
          <a:prstGeom prst="ellipse">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chemeClr val="bg1"/>
                </a:solidFill>
                <a:effectLst/>
                <a:uLnTx/>
                <a:uFillTx/>
                <a:latin typeface="Calibri"/>
                <a:ea typeface="+mn-ea"/>
                <a:cs typeface="+mn-cs"/>
              </a:rPr>
              <a:t>4</a:t>
            </a:r>
            <a:endParaRPr kumimoji="0" lang="en-US" sz="6000" b="0" i="0" u="none" strike="noStrike" kern="0" cap="none" spc="0" normalizeH="0" baseline="0" noProof="0" dirty="0">
              <a:ln>
                <a:noFill/>
              </a:ln>
              <a:solidFill>
                <a:schemeClr val="bg1"/>
              </a:solidFill>
              <a:effectLst/>
              <a:uLnTx/>
              <a:uFillTx/>
              <a:latin typeface="Calibri"/>
              <a:ea typeface="+mn-ea"/>
              <a:cs typeface="+mn-cs"/>
            </a:endParaRPr>
          </a:p>
        </p:txBody>
      </p:sp>
      <p:sp>
        <p:nvSpPr>
          <p:cNvPr id="320" name="Oval 27"/>
          <p:cNvSpPr/>
          <p:nvPr/>
        </p:nvSpPr>
        <p:spPr>
          <a:xfrm>
            <a:off x="14764829" y="24357572"/>
            <a:ext cx="1800000" cy="1800000"/>
          </a:xfrm>
          <a:prstGeom prst="ellipse">
            <a:avLst/>
          </a:prstGeom>
          <a:solidFill>
            <a:srgbClr val="FF0000">
              <a:lumMod val="60000"/>
              <a:lumOff val="4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chemeClr val="bg1"/>
                </a:solidFill>
                <a:effectLst/>
                <a:uLnTx/>
                <a:uFillTx/>
                <a:latin typeface="Calibri"/>
                <a:ea typeface="+mn-ea"/>
                <a:cs typeface="+mn-cs"/>
              </a:rPr>
              <a:t>5</a:t>
            </a:r>
            <a:endParaRPr kumimoji="0" lang="en-US" sz="6000" b="0" i="0" u="none" strike="noStrike" kern="0" cap="none" spc="0" normalizeH="0" baseline="0" noProof="0" dirty="0">
              <a:ln>
                <a:noFill/>
              </a:ln>
              <a:solidFill>
                <a:schemeClr val="bg1"/>
              </a:solidFill>
              <a:effectLst/>
              <a:uLnTx/>
              <a:uFillTx/>
              <a:latin typeface="Calibri"/>
              <a:ea typeface="+mn-ea"/>
              <a:cs typeface="+mn-cs"/>
            </a:endParaRPr>
          </a:p>
        </p:txBody>
      </p:sp>
      <p:sp>
        <p:nvSpPr>
          <p:cNvPr id="321" name="Oval 28"/>
          <p:cNvSpPr/>
          <p:nvPr/>
        </p:nvSpPr>
        <p:spPr>
          <a:xfrm>
            <a:off x="14841919" y="27718107"/>
            <a:ext cx="1800000" cy="1800000"/>
          </a:xfrm>
          <a:prstGeom prst="ellipse">
            <a:avLst/>
          </a:prstGeom>
          <a:solidFill>
            <a:srgbClr val="FF0000">
              <a:lumMod val="40000"/>
              <a:lumOff val="6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ru-RU" sz="6000" b="0" i="0" u="none" strike="noStrike" kern="0" cap="none" spc="0" normalizeH="0" baseline="0" noProof="0" dirty="0">
                <a:ln>
                  <a:noFill/>
                </a:ln>
                <a:solidFill>
                  <a:schemeClr val="bg1"/>
                </a:solidFill>
                <a:effectLst/>
                <a:uLnTx/>
                <a:uFillTx/>
                <a:latin typeface="Calibri"/>
                <a:ea typeface="+mn-ea"/>
                <a:cs typeface="+mn-cs"/>
              </a:rPr>
              <a:t>6</a:t>
            </a:r>
            <a:endParaRPr kumimoji="0" lang="en-US" sz="6000" b="0" i="0" u="none" strike="noStrike" kern="0" cap="none" spc="0" normalizeH="0" baseline="0" noProof="0" dirty="0">
              <a:ln>
                <a:noFill/>
              </a:ln>
              <a:solidFill>
                <a:schemeClr val="bg1"/>
              </a:solidFill>
              <a:effectLst/>
              <a:uLnTx/>
              <a:uFillTx/>
              <a:latin typeface="Calibri"/>
              <a:ea typeface="+mn-ea"/>
              <a:cs typeface="+mn-cs"/>
            </a:endParaRPr>
          </a:p>
        </p:txBody>
      </p:sp>
      <p:sp>
        <p:nvSpPr>
          <p:cNvPr id="323" name="Rectangle 29"/>
          <p:cNvSpPr/>
          <p:nvPr/>
        </p:nvSpPr>
        <p:spPr>
          <a:xfrm>
            <a:off x="16905264" y="6806002"/>
            <a:ext cx="15989875" cy="1938992"/>
          </a:xfrm>
          <a:prstGeom prst="rect">
            <a:avLst/>
          </a:prstGeom>
        </p:spPr>
        <p:txBody>
          <a:bodyPr wrap="square">
            <a:spAutoFit/>
          </a:bodyPr>
          <a:lstStyle/>
          <a:p>
            <a:pPr algn="just" defTabSz="914400" fontAlgn="base">
              <a:spcBef>
                <a:spcPct val="0"/>
              </a:spcBef>
              <a:spcAft>
                <a:spcPct val="0"/>
              </a:spcAft>
            </a:pPr>
            <a:r>
              <a:rPr lang="ru-RU" sz="6000" b="1" dirty="0"/>
              <a:t>Цель, задачи и объекты проекта в области здравоохранения и </a:t>
            </a:r>
            <a:r>
              <a:rPr lang="ru-RU" sz="6000" b="1" dirty="0" smtClean="0"/>
              <a:t>сестринской науки</a:t>
            </a:r>
            <a:endParaRPr lang="en-US" sz="6000" b="1" dirty="0">
              <a:cs typeface="Arial" pitchFamily="34" charset="0"/>
            </a:endParaRPr>
          </a:p>
        </p:txBody>
      </p:sp>
      <p:sp>
        <p:nvSpPr>
          <p:cNvPr id="324" name="Rectangle 30"/>
          <p:cNvSpPr/>
          <p:nvPr/>
        </p:nvSpPr>
        <p:spPr>
          <a:xfrm>
            <a:off x="16905265" y="11046625"/>
            <a:ext cx="12826582" cy="1015663"/>
          </a:xfrm>
          <a:prstGeom prst="rect">
            <a:avLst/>
          </a:prstGeom>
        </p:spPr>
        <p:txBody>
          <a:bodyPr wrap="square">
            <a:spAutoFit/>
          </a:bodyPr>
          <a:lstStyle/>
          <a:p>
            <a:pPr defTabSz="914400" fontAlgn="base">
              <a:spcBef>
                <a:spcPct val="0"/>
              </a:spcBef>
              <a:spcAft>
                <a:spcPct val="0"/>
              </a:spcAft>
            </a:pPr>
            <a:r>
              <a:rPr lang="ru-RU" sz="6000" b="1" dirty="0">
                <a:solidFill>
                  <a:srgbClr val="000000"/>
                </a:solidFill>
                <a:cs typeface="Arial" pitchFamily="34" charset="0"/>
              </a:rPr>
              <a:t>Дизайн и методы проекта</a:t>
            </a:r>
            <a:endParaRPr lang="en-US" sz="6000" b="1" dirty="0">
              <a:solidFill>
                <a:srgbClr val="000000"/>
              </a:solidFill>
              <a:cs typeface="Arial" pitchFamily="34" charset="0"/>
            </a:endParaRPr>
          </a:p>
        </p:txBody>
      </p:sp>
      <p:sp>
        <p:nvSpPr>
          <p:cNvPr id="325" name="Rectangle 31"/>
          <p:cNvSpPr/>
          <p:nvPr/>
        </p:nvSpPr>
        <p:spPr>
          <a:xfrm>
            <a:off x="16939230" y="15556918"/>
            <a:ext cx="12824490" cy="1015663"/>
          </a:xfrm>
          <a:prstGeom prst="rect">
            <a:avLst/>
          </a:prstGeom>
        </p:spPr>
        <p:txBody>
          <a:bodyPr wrap="square">
            <a:spAutoFit/>
          </a:bodyPr>
          <a:lstStyle/>
          <a:p>
            <a:pPr defTabSz="914400" fontAlgn="base">
              <a:spcBef>
                <a:spcPct val="0"/>
              </a:spcBef>
              <a:spcAft>
                <a:spcPct val="0"/>
              </a:spcAft>
            </a:pPr>
            <a:r>
              <a:rPr lang="ru-RU" sz="6000" b="1" dirty="0">
                <a:solidFill>
                  <a:srgbClr val="000000"/>
                </a:solidFill>
                <a:cs typeface="Arial" pitchFamily="34" charset="0"/>
              </a:rPr>
              <a:t>Структура научного проекта</a:t>
            </a:r>
            <a:endParaRPr lang="en-US" sz="6000" b="1" dirty="0">
              <a:solidFill>
                <a:srgbClr val="000000"/>
              </a:solidFill>
              <a:cs typeface="Arial" pitchFamily="34" charset="0"/>
            </a:endParaRPr>
          </a:p>
        </p:txBody>
      </p:sp>
      <p:sp>
        <p:nvSpPr>
          <p:cNvPr id="326" name="Rectangle 32"/>
          <p:cNvSpPr/>
          <p:nvPr/>
        </p:nvSpPr>
        <p:spPr>
          <a:xfrm>
            <a:off x="17104013" y="19298838"/>
            <a:ext cx="12492832" cy="1015663"/>
          </a:xfrm>
          <a:prstGeom prst="rect">
            <a:avLst/>
          </a:prstGeom>
        </p:spPr>
        <p:txBody>
          <a:bodyPr wrap="square">
            <a:spAutoFit/>
          </a:bodyPr>
          <a:lstStyle/>
          <a:p>
            <a:pPr defTabSz="914400" fontAlgn="base">
              <a:spcBef>
                <a:spcPct val="0"/>
              </a:spcBef>
              <a:spcAft>
                <a:spcPct val="0"/>
              </a:spcAft>
            </a:pPr>
            <a:r>
              <a:rPr lang="ru-RU" sz="6000" b="1" dirty="0">
                <a:solidFill>
                  <a:srgbClr val="000000"/>
                </a:solidFill>
                <a:cs typeface="Arial" pitchFamily="34" charset="0"/>
              </a:rPr>
              <a:t>Сбор и анализ данных</a:t>
            </a:r>
            <a:endParaRPr lang="en-US" sz="6000" b="1" dirty="0">
              <a:solidFill>
                <a:srgbClr val="000000"/>
              </a:solidFill>
              <a:cs typeface="Arial" pitchFamily="34" charset="0"/>
            </a:endParaRPr>
          </a:p>
        </p:txBody>
      </p:sp>
      <p:sp>
        <p:nvSpPr>
          <p:cNvPr id="327" name="Rectangle 33"/>
          <p:cNvSpPr/>
          <p:nvPr/>
        </p:nvSpPr>
        <p:spPr>
          <a:xfrm>
            <a:off x="17104012" y="24144926"/>
            <a:ext cx="14854268" cy="1938992"/>
          </a:xfrm>
          <a:prstGeom prst="rect">
            <a:avLst/>
          </a:prstGeom>
        </p:spPr>
        <p:txBody>
          <a:bodyPr wrap="square">
            <a:spAutoFit/>
          </a:bodyPr>
          <a:lstStyle/>
          <a:p>
            <a:pPr defTabSz="914400" fontAlgn="base">
              <a:spcBef>
                <a:spcPct val="0"/>
              </a:spcBef>
              <a:spcAft>
                <a:spcPct val="0"/>
              </a:spcAft>
            </a:pPr>
            <a:r>
              <a:rPr lang="ru-RU" sz="6000" b="1" dirty="0">
                <a:solidFill>
                  <a:srgbClr val="000000"/>
                </a:solidFill>
                <a:cs typeface="Arial" pitchFamily="34" charset="0"/>
              </a:rPr>
              <a:t>Этические вопросы в проектах по сестринскому делу</a:t>
            </a:r>
            <a:endParaRPr lang="en-US" sz="6000" b="1" dirty="0">
              <a:solidFill>
                <a:srgbClr val="000000"/>
              </a:solidFill>
              <a:cs typeface="Arial" pitchFamily="34" charset="0"/>
            </a:endParaRPr>
          </a:p>
        </p:txBody>
      </p:sp>
      <p:sp>
        <p:nvSpPr>
          <p:cNvPr id="328" name="Rectangle 34"/>
          <p:cNvSpPr/>
          <p:nvPr/>
        </p:nvSpPr>
        <p:spPr>
          <a:xfrm>
            <a:off x="17104013" y="28159877"/>
            <a:ext cx="12659707" cy="1015663"/>
          </a:xfrm>
          <a:prstGeom prst="rect">
            <a:avLst/>
          </a:prstGeom>
        </p:spPr>
        <p:txBody>
          <a:bodyPr wrap="square">
            <a:spAutoFit/>
          </a:bodyPr>
          <a:lstStyle/>
          <a:p>
            <a:pPr defTabSz="914400" fontAlgn="base">
              <a:spcBef>
                <a:spcPct val="0"/>
              </a:spcBef>
              <a:spcAft>
                <a:spcPct val="0"/>
              </a:spcAft>
            </a:pPr>
            <a:r>
              <a:rPr lang="ru-RU" sz="6000" b="1" dirty="0">
                <a:solidFill>
                  <a:srgbClr val="000000"/>
                </a:solidFill>
                <a:cs typeface="Arial" pitchFamily="34" charset="0"/>
              </a:rPr>
              <a:t>Управление проектом</a:t>
            </a:r>
            <a:endParaRPr lang="en-US" sz="6000" b="1" dirty="0">
              <a:solidFill>
                <a:srgbClr val="000000"/>
              </a:solidFill>
              <a:cs typeface="Arial" pitchFamily="34" charset="0"/>
            </a:endParaRPr>
          </a:p>
        </p:txBody>
      </p:sp>
      <p:sp>
        <p:nvSpPr>
          <p:cNvPr id="329" name="Rectangle 35"/>
          <p:cNvSpPr/>
          <p:nvPr/>
        </p:nvSpPr>
        <p:spPr>
          <a:xfrm>
            <a:off x="16973195" y="8888142"/>
            <a:ext cx="15921944" cy="1754326"/>
          </a:xfrm>
          <a:prstGeom prst="rect">
            <a:avLst/>
          </a:prstGeom>
        </p:spPr>
        <p:txBody>
          <a:bodyPr wrap="square">
            <a:spAutoFit/>
          </a:bodyPr>
          <a:lstStyle/>
          <a:p>
            <a:pPr lvl="0" defTabSz="914400" fontAlgn="base">
              <a:spcBef>
                <a:spcPct val="0"/>
              </a:spcBef>
              <a:spcAft>
                <a:spcPct val="0"/>
              </a:spcAft>
              <a:defRPr/>
            </a:pPr>
            <a:r>
              <a:rPr lang="ru-RU" sz="5400" kern="0" dirty="0"/>
              <a:t>Определение цели и задач в </a:t>
            </a:r>
            <a:r>
              <a:rPr lang="ru-RU" sz="5400" kern="0" dirty="0" smtClean="0"/>
              <a:t>сестринских исследованиях и разработке проектов</a:t>
            </a:r>
            <a:endParaRPr lang="en-US" sz="5400" kern="0" dirty="0"/>
          </a:p>
        </p:txBody>
      </p:sp>
      <p:sp>
        <p:nvSpPr>
          <p:cNvPr id="331" name="Rectangle 36"/>
          <p:cNvSpPr/>
          <p:nvPr/>
        </p:nvSpPr>
        <p:spPr>
          <a:xfrm>
            <a:off x="16937138" y="12115775"/>
            <a:ext cx="15958001" cy="3416320"/>
          </a:xfrm>
          <a:prstGeom prst="rect">
            <a:avLst/>
          </a:prstGeom>
        </p:spPr>
        <p:txBody>
          <a:bodyPr wrap="square">
            <a:spAutoFit/>
          </a:bodyPr>
          <a:lstStyle/>
          <a:p>
            <a:pPr lvl="0" defTabSz="914400" fontAlgn="base">
              <a:spcBef>
                <a:spcPct val="0"/>
              </a:spcBef>
              <a:spcAft>
                <a:spcPct val="0"/>
              </a:spcAft>
              <a:defRPr/>
            </a:pPr>
            <a:r>
              <a:rPr lang="ru-RU" sz="5400" kern="0" dirty="0"/>
              <a:t>Дизайн количественного исследования,</a:t>
            </a:r>
          </a:p>
          <a:p>
            <a:pPr lvl="0" defTabSz="914400" fontAlgn="base">
              <a:spcBef>
                <a:spcPct val="0"/>
              </a:spcBef>
              <a:spcAft>
                <a:spcPct val="0"/>
              </a:spcAft>
              <a:defRPr/>
            </a:pPr>
            <a:r>
              <a:rPr lang="ru-RU" sz="5400" kern="0" dirty="0" smtClean="0"/>
              <a:t>Дизайн качественного исследования</a:t>
            </a:r>
            <a:r>
              <a:rPr lang="ru-RU" sz="5400" kern="0" dirty="0"/>
              <a:t>,</a:t>
            </a:r>
          </a:p>
          <a:p>
            <a:pPr lvl="0" defTabSz="914400" fontAlgn="base">
              <a:spcBef>
                <a:spcPct val="0"/>
              </a:spcBef>
              <a:spcAft>
                <a:spcPct val="0"/>
              </a:spcAft>
              <a:defRPr/>
            </a:pPr>
            <a:r>
              <a:rPr lang="ru-RU" sz="5400" kern="0" dirty="0"/>
              <a:t>Дизайн исследования смешанными методами,</a:t>
            </a:r>
          </a:p>
          <a:p>
            <a:pPr lvl="0" defTabSz="914400" fontAlgn="base">
              <a:spcBef>
                <a:spcPct val="0"/>
              </a:spcBef>
              <a:spcAft>
                <a:spcPct val="0"/>
              </a:spcAft>
              <a:defRPr/>
            </a:pPr>
            <a:r>
              <a:rPr lang="ru-RU" sz="5400" kern="0" dirty="0"/>
              <a:t>Дизайн проекта</a:t>
            </a:r>
            <a:endParaRPr kumimoji="0" lang="en-US" sz="5400" b="0" i="0" u="none" strike="noStrike" kern="0" cap="none" spc="0" normalizeH="0" baseline="0" noProof="0" dirty="0">
              <a:ln>
                <a:noFill/>
              </a:ln>
              <a:effectLst/>
              <a:uLnTx/>
              <a:uFillTx/>
            </a:endParaRPr>
          </a:p>
        </p:txBody>
      </p:sp>
      <p:sp>
        <p:nvSpPr>
          <p:cNvPr id="332" name="Rectangle 37"/>
          <p:cNvSpPr/>
          <p:nvPr/>
        </p:nvSpPr>
        <p:spPr>
          <a:xfrm>
            <a:off x="17016171" y="16506003"/>
            <a:ext cx="12894512" cy="2585323"/>
          </a:xfrm>
          <a:prstGeom prst="rect">
            <a:avLst/>
          </a:prstGeom>
        </p:spPr>
        <p:txBody>
          <a:bodyPr wrap="square">
            <a:spAutoFit/>
          </a:bodyPr>
          <a:lstStyle/>
          <a:p>
            <a:pPr defTabSz="914400" fontAlgn="base">
              <a:spcBef>
                <a:spcPct val="0"/>
              </a:spcBef>
              <a:spcAft>
                <a:spcPct val="0"/>
              </a:spcAft>
            </a:pPr>
            <a:r>
              <a:rPr lang="ru-RU" sz="5400" dirty="0"/>
              <a:t>План количественного исследования</a:t>
            </a:r>
          </a:p>
          <a:p>
            <a:pPr defTabSz="914400" fontAlgn="base">
              <a:spcBef>
                <a:spcPct val="0"/>
              </a:spcBef>
              <a:spcAft>
                <a:spcPct val="0"/>
              </a:spcAft>
            </a:pPr>
            <a:r>
              <a:rPr lang="ru-RU" sz="5400" dirty="0"/>
              <a:t>План качественного исследования</a:t>
            </a:r>
          </a:p>
          <a:p>
            <a:pPr defTabSz="914400" fontAlgn="base">
              <a:spcBef>
                <a:spcPct val="0"/>
              </a:spcBef>
              <a:spcAft>
                <a:spcPct val="0"/>
              </a:spcAft>
            </a:pPr>
            <a:r>
              <a:rPr lang="ru-RU" sz="5400" dirty="0"/>
              <a:t>Структура плана проекта</a:t>
            </a:r>
            <a:endParaRPr lang="en-US" sz="5400" dirty="0"/>
          </a:p>
        </p:txBody>
      </p:sp>
      <p:sp>
        <p:nvSpPr>
          <p:cNvPr id="333" name="Rectangle 38"/>
          <p:cNvSpPr/>
          <p:nvPr/>
        </p:nvSpPr>
        <p:spPr>
          <a:xfrm>
            <a:off x="17104012" y="20441330"/>
            <a:ext cx="14854268" cy="3416320"/>
          </a:xfrm>
          <a:prstGeom prst="rect">
            <a:avLst/>
          </a:prstGeom>
        </p:spPr>
        <p:txBody>
          <a:bodyPr wrap="square">
            <a:spAutoFit/>
          </a:bodyPr>
          <a:lstStyle/>
          <a:p>
            <a:pPr lvl="0" defTabSz="914400" fontAlgn="base">
              <a:spcBef>
                <a:spcPct val="0"/>
              </a:spcBef>
              <a:spcAft>
                <a:spcPct val="0"/>
              </a:spcAft>
              <a:defRPr/>
            </a:pPr>
            <a:r>
              <a:rPr lang="ru-RU" sz="5400" kern="0" dirty="0"/>
              <a:t>Наблюдение,</a:t>
            </a:r>
          </a:p>
          <a:p>
            <a:pPr lvl="0" defTabSz="914400" fontAlgn="base">
              <a:spcBef>
                <a:spcPct val="0"/>
              </a:spcBef>
              <a:spcAft>
                <a:spcPct val="0"/>
              </a:spcAft>
              <a:defRPr/>
            </a:pPr>
            <a:r>
              <a:rPr lang="ru-RU" sz="5400" kern="0" dirty="0" smtClean="0"/>
              <a:t>Опросник,</a:t>
            </a:r>
            <a:endParaRPr lang="ru-RU" sz="5400" kern="0" dirty="0"/>
          </a:p>
          <a:p>
            <a:pPr lvl="0" defTabSz="914400" fontAlgn="base">
              <a:spcBef>
                <a:spcPct val="0"/>
              </a:spcBef>
              <a:spcAft>
                <a:spcPct val="0"/>
              </a:spcAft>
              <a:defRPr/>
            </a:pPr>
            <a:r>
              <a:rPr lang="en-US" sz="5400" kern="0" dirty="0" smtClean="0"/>
              <a:t>Case-study</a:t>
            </a:r>
            <a:r>
              <a:rPr lang="ru-RU" sz="5400" kern="0" dirty="0" smtClean="0"/>
              <a:t> исследование,</a:t>
            </a:r>
            <a:endParaRPr lang="ru-RU" sz="5400" kern="0" dirty="0"/>
          </a:p>
          <a:p>
            <a:pPr lvl="0" defTabSz="914400" fontAlgn="base">
              <a:spcBef>
                <a:spcPct val="0"/>
              </a:spcBef>
              <a:spcAft>
                <a:spcPct val="0"/>
              </a:spcAft>
              <a:defRPr/>
            </a:pPr>
            <a:r>
              <a:rPr lang="ru-RU" sz="5400" kern="0" dirty="0"/>
              <a:t>Планирование сбора и анализа данных</a:t>
            </a:r>
            <a:endParaRPr kumimoji="0" lang="en-US" sz="5400" b="0" i="0" u="none" strike="noStrike" kern="0" cap="none" spc="0" normalizeH="0" baseline="0" noProof="0" dirty="0">
              <a:ln>
                <a:noFill/>
              </a:ln>
              <a:effectLst/>
              <a:uLnTx/>
              <a:uFillTx/>
            </a:endParaRPr>
          </a:p>
        </p:txBody>
      </p:sp>
      <p:sp>
        <p:nvSpPr>
          <p:cNvPr id="334" name="Rectangle 39"/>
          <p:cNvSpPr/>
          <p:nvPr/>
        </p:nvSpPr>
        <p:spPr>
          <a:xfrm>
            <a:off x="17161754" y="26124463"/>
            <a:ext cx="14796526" cy="1754326"/>
          </a:xfrm>
          <a:prstGeom prst="rect">
            <a:avLst/>
          </a:prstGeom>
        </p:spPr>
        <p:txBody>
          <a:bodyPr wrap="square">
            <a:spAutoFit/>
          </a:bodyPr>
          <a:lstStyle/>
          <a:p>
            <a:pPr lvl="0" defTabSz="914400" fontAlgn="base">
              <a:spcBef>
                <a:spcPct val="0"/>
              </a:spcBef>
              <a:spcAft>
                <a:spcPct val="0"/>
              </a:spcAft>
              <a:defRPr/>
            </a:pPr>
            <a:r>
              <a:rPr lang="ru-RU" sz="5400" kern="0" dirty="0"/>
              <a:t>Этические принципы </a:t>
            </a:r>
            <a:r>
              <a:rPr lang="ru-RU" sz="5400" kern="0" dirty="0" smtClean="0"/>
              <a:t>сестринских </a:t>
            </a:r>
            <a:r>
              <a:rPr lang="ru-RU" sz="5400" kern="0" dirty="0"/>
              <a:t>исследований и </a:t>
            </a:r>
            <a:r>
              <a:rPr lang="ru-RU" sz="5400" kern="0" dirty="0" smtClean="0"/>
              <a:t>разработки проектов</a:t>
            </a:r>
            <a:endParaRPr kumimoji="0" lang="en-US" sz="5400" b="0" i="0" u="none" strike="noStrike" kern="0" cap="none" spc="0" normalizeH="0" baseline="0" noProof="0" dirty="0">
              <a:ln>
                <a:noFill/>
              </a:ln>
              <a:effectLst/>
              <a:uLnTx/>
              <a:uFillTx/>
            </a:endParaRPr>
          </a:p>
        </p:txBody>
      </p:sp>
      <p:sp>
        <p:nvSpPr>
          <p:cNvPr id="335" name="Rectangle 40"/>
          <p:cNvSpPr/>
          <p:nvPr/>
        </p:nvSpPr>
        <p:spPr>
          <a:xfrm>
            <a:off x="17058293" y="29314877"/>
            <a:ext cx="12810269" cy="1754326"/>
          </a:xfrm>
          <a:prstGeom prst="rect">
            <a:avLst/>
          </a:prstGeom>
        </p:spPr>
        <p:txBody>
          <a:bodyPr wrap="square">
            <a:spAutoFit/>
          </a:bodyPr>
          <a:lstStyle/>
          <a:p>
            <a:pPr defTabSz="914400" fontAlgn="base">
              <a:spcBef>
                <a:spcPct val="0"/>
              </a:spcBef>
              <a:spcAft>
                <a:spcPct val="0"/>
              </a:spcAft>
              <a:defRPr/>
            </a:pPr>
            <a:r>
              <a:rPr lang="en-US" sz="5400" kern="0" dirty="0" smtClean="0"/>
              <a:t>Project-</a:t>
            </a:r>
            <a:r>
              <a:rPr lang="kk-KZ" sz="5400" kern="0" dirty="0" smtClean="0"/>
              <a:t>менеджмент</a:t>
            </a:r>
            <a:r>
              <a:rPr lang="ru-RU" sz="5400" kern="0" dirty="0" smtClean="0"/>
              <a:t>,</a:t>
            </a:r>
            <a:endParaRPr lang="ru-RU" sz="5400" kern="0" dirty="0"/>
          </a:p>
          <a:p>
            <a:pPr defTabSz="914400" fontAlgn="base">
              <a:spcBef>
                <a:spcPct val="0"/>
              </a:spcBef>
              <a:spcAft>
                <a:spcPct val="0"/>
              </a:spcAft>
              <a:defRPr/>
            </a:pPr>
            <a:r>
              <a:rPr lang="ru-RU" sz="5400" kern="0" dirty="0"/>
              <a:t>Процессы </a:t>
            </a:r>
            <a:r>
              <a:rPr lang="en-US" sz="5400" kern="0" dirty="0" smtClean="0"/>
              <a:t>project-</a:t>
            </a:r>
            <a:r>
              <a:rPr lang="kk-KZ" sz="5400" kern="0" dirty="0" smtClean="0"/>
              <a:t>менеджмента</a:t>
            </a:r>
            <a:endParaRPr kumimoji="0" lang="en-US" sz="5400" b="0" i="0" u="none" strike="noStrike" kern="0" cap="none" spc="0" normalizeH="0" baseline="0" noProof="0" dirty="0">
              <a:ln>
                <a:noFill/>
              </a:ln>
              <a:effectLst/>
              <a:uLnTx/>
              <a:uFillTx/>
            </a:endParaRPr>
          </a:p>
        </p:txBody>
      </p:sp>
      <p:sp>
        <p:nvSpPr>
          <p:cNvPr id="48" name="Tekstiruutu 47">
            <a:extLst>
              <a:ext uri="{FF2B5EF4-FFF2-40B4-BE49-F238E27FC236}">
                <a16:creationId xmlns:a16="http://schemas.microsoft.com/office/drawing/2014/main" xmlns="" id="{9BF18B37-24F7-4166-8ED5-0A465C2EC6B8}"/>
              </a:ext>
            </a:extLst>
          </p:cNvPr>
          <p:cNvSpPr txBox="1"/>
          <p:nvPr/>
        </p:nvSpPr>
        <p:spPr>
          <a:xfrm>
            <a:off x="14676120" y="4327138"/>
            <a:ext cx="18420080" cy="2123658"/>
          </a:xfrm>
          <a:prstGeom prst="rect">
            <a:avLst/>
          </a:prstGeom>
          <a:noFill/>
        </p:spPr>
        <p:txBody>
          <a:bodyPr wrap="square">
            <a:spAutoFit/>
          </a:bodyPr>
          <a:lstStyle/>
          <a:p>
            <a:pPr algn="ctr"/>
            <a:r>
              <a:rPr lang="ru-RU" sz="6600" b="1" dirty="0" smtClean="0"/>
              <a:t>РАЗРАБОТАНЫ </a:t>
            </a:r>
            <a:r>
              <a:rPr lang="ru-RU" sz="6600" b="1" dirty="0"/>
              <a:t>НАБОРЫ УЧЕБНЫХ МАТЕРИАЛОВ ДЛЯ ТЕМАТИЧЕСКИХ ОБЛАСТЕЙ</a:t>
            </a:r>
            <a:endParaRPr lang="en-US" sz="6600" b="1" dirty="0"/>
          </a:p>
        </p:txBody>
      </p:sp>
      <p:sp>
        <p:nvSpPr>
          <p:cNvPr id="2" name="Прямоугольник 1"/>
          <p:cNvSpPr/>
          <p:nvPr/>
        </p:nvSpPr>
        <p:spPr>
          <a:xfrm>
            <a:off x="1864198" y="23694045"/>
            <a:ext cx="10995174" cy="3416320"/>
          </a:xfrm>
          <a:prstGeom prst="rect">
            <a:avLst/>
          </a:prstGeom>
        </p:spPr>
        <p:txBody>
          <a:bodyPr wrap="square">
            <a:spAutoFit/>
          </a:bodyPr>
          <a:lstStyle/>
          <a:p>
            <a:pPr algn="just"/>
            <a:r>
              <a:rPr lang="kk-KZ" sz="5400" dirty="0" smtClean="0"/>
              <a:t>По каждой теме </a:t>
            </a:r>
            <a:r>
              <a:rPr lang="ru-RU" sz="5400" dirty="0" smtClean="0"/>
              <a:t>курса </a:t>
            </a:r>
            <a:r>
              <a:rPr lang="ru-RU" sz="5400" dirty="0"/>
              <a:t>разработаны рекомендации </a:t>
            </a:r>
            <a:r>
              <a:rPr lang="ru-RU" sz="5400" dirty="0" smtClean="0"/>
              <a:t>с целью </a:t>
            </a:r>
            <a:r>
              <a:rPr lang="ru-RU" sz="5400" dirty="0"/>
              <a:t>адаптации для </a:t>
            </a:r>
            <a:r>
              <a:rPr lang="ru-RU" sz="5400" dirty="0" smtClean="0"/>
              <a:t>уровня академического </a:t>
            </a:r>
            <a:r>
              <a:rPr lang="ru-RU" sz="5400" dirty="0"/>
              <a:t>и прикладного </a:t>
            </a:r>
            <a:r>
              <a:rPr lang="ru-RU" sz="5400" dirty="0" err="1" smtClean="0"/>
              <a:t>бакалавриата</a:t>
            </a:r>
            <a:r>
              <a:rPr lang="ru-RU" sz="5400" dirty="0"/>
              <a:t>.</a:t>
            </a: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1801</TotalTime>
  <Words>352</Words>
  <Application>Microsoft Office PowerPoint</Application>
  <PresentationFormat>Произвольный</PresentationFormat>
  <Paragraphs>58</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126</cp:revision>
  <dcterms:created xsi:type="dcterms:W3CDTF">2012-02-03T19:11:35Z</dcterms:created>
  <dcterms:modified xsi:type="dcterms:W3CDTF">2020-12-15T07:58:42Z</dcterms:modified>
  <cp:category>Research poster templates</cp:category>
</cp:coreProperties>
</file>