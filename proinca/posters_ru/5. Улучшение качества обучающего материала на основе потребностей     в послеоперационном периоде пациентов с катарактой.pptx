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6" autoAdjust="0"/>
    <p:restoredTop sz="79073" autoAdjust="0"/>
  </p:normalViewPr>
  <p:slideViewPr>
    <p:cSldViewPr snapToGrid="0" snapToObjects="1" showGuides="1">
      <p:cViewPr varScale="1">
        <p:scale>
          <a:sx n="19" d="100"/>
          <a:sy n="19" d="100"/>
        </p:scale>
        <p:origin x="2646" y="120"/>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smtClean="0"/>
              <a:t>* </a:t>
            </a:r>
            <a:r>
              <a:rPr lang="ru-RU" dirty="0" smtClean="0"/>
              <a:t>Используйте </a:t>
            </a:r>
            <a:r>
              <a:rPr lang="en-US" dirty="0" err="1" smtClean="0"/>
              <a:t>этот</a:t>
            </a:r>
            <a:r>
              <a:rPr lang="en-US" dirty="0" smtClean="0"/>
              <a:t> </a:t>
            </a:r>
            <a:r>
              <a:rPr lang="en-US" dirty="0"/>
              <a:t>шаблон соответствующим образом. </a:t>
            </a:r>
            <a:endParaRPr lang="ru-RU" dirty="0" smtClean="0"/>
          </a:p>
          <a:p>
            <a:pPr marL="0" indent="0" algn="l" rtl="0">
              <a:buFont typeface="Arial" panose="020B0604020202020204" pitchFamily="34" charset="0"/>
              <a:buNone/>
            </a:pPr>
            <a:endParaRPr lang="ru-RU" dirty="0" smtClean="0"/>
          </a:p>
          <a:p>
            <a:pPr marL="0" indent="0" algn="l" rtl="0">
              <a:buFont typeface="Arial" panose="020B0604020202020204" pitchFamily="34" charset="0"/>
              <a:buNone/>
            </a:pPr>
            <a:r>
              <a:rPr lang="en-US" dirty="0" smtClean="0"/>
              <a:t>* </a:t>
            </a:r>
            <a:r>
              <a:rPr lang="en-US" dirty="0" err="1" smtClean="0"/>
              <a:t>Заголовки</a:t>
            </a:r>
            <a:r>
              <a:rPr lang="en-US" dirty="0" smtClean="0"/>
              <a:t> </a:t>
            </a:r>
            <a:r>
              <a:rPr lang="en-US" dirty="0"/>
              <a:t>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en-US" dirty="0" smtClean="0"/>
              <a:t>(</a:t>
            </a:r>
            <a:r>
              <a:rPr lang="ru-RU" b="1" dirty="0" smtClean="0"/>
              <a:t>З</a:t>
            </a:r>
            <a:r>
              <a:rPr lang="en-US" b="1" dirty="0" err="1" smtClean="0"/>
              <a:t>аглавие</a:t>
            </a:r>
            <a:r>
              <a:rPr lang="en-US" dirty="0"/>
              <a:t>, Calibri, жирный, 80; </a:t>
            </a:r>
            <a:r>
              <a:rPr lang="en-US" b="1" dirty="0"/>
              <a:t>Автор</a:t>
            </a:r>
            <a:r>
              <a:rPr lang="en-US" dirty="0"/>
              <a:t>, </a:t>
            </a:r>
            <a:r>
              <a:rPr lang="en-US" dirty="0" smtClean="0"/>
              <a:t>Calibri, </a:t>
            </a:r>
            <a:r>
              <a:rPr lang="en-US" dirty="0"/>
              <a:t>66; </a:t>
            </a:r>
            <a:r>
              <a:rPr lang="ru-RU" b="1" dirty="0" smtClean="0"/>
              <a:t>Место работы</a:t>
            </a:r>
            <a:r>
              <a:rPr lang="en-US" dirty="0" smtClean="0"/>
              <a:t>, Calibri, </a:t>
            </a:r>
            <a:r>
              <a:rPr lang="en-US" dirty="0"/>
              <a:t>44; </a:t>
            </a:r>
            <a:r>
              <a:rPr lang="en-US" b="1" dirty="0"/>
              <a:t>Подзаголовок</a:t>
            </a:r>
            <a:r>
              <a:rPr lang="en-US" dirty="0"/>
              <a:t>, Calibri, все заглавные, жирный, подчеркивание, 60; </a:t>
            </a:r>
            <a:r>
              <a:rPr lang="en-US" b="1" dirty="0"/>
              <a:t>Текст</a:t>
            </a:r>
            <a:r>
              <a:rPr lang="en-US" dirty="0"/>
              <a:t>, </a:t>
            </a:r>
            <a:r>
              <a:rPr lang="en-US" dirty="0" smtClean="0"/>
              <a:t>Calibri, </a:t>
            </a:r>
            <a:r>
              <a:rPr lang="en-US" dirty="0"/>
              <a:t>54; </a:t>
            </a:r>
            <a:r>
              <a:rPr lang="en-US" b="1" dirty="0"/>
              <a:t>Контакты</a:t>
            </a:r>
            <a:r>
              <a:rPr lang="en-US" dirty="0"/>
              <a:t>, Calibri, подчеркивание, 40, текст Calibri, 40) </a:t>
            </a:r>
            <a:endParaRPr lang="ru-RU" dirty="0" smtClean="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smtClean="0"/>
              <a:t>показать </a:t>
            </a:r>
            <a:r>
              <a:rPr lang="en-US" dirty="0" err="1" smtClean="0"/>
              <a:t>ваш</a:t>
            </a:r>
            <a:r>
              <a:rPr lang="en-US" dirty="0" smtClean="0"/>
              <a:t> </a:t>
            </a:r>
            <a:r>
              <a:rPr lang="en-US" b="1" dirty="0" smtClean="0"/>
              <a:t>п</a:t>
            </a:r>
            <a:r>
              <a:rPr lang="ru-RU" b="1" dirty="0" smtClean="0"/>
              <a:t>остер</a:t>
            </a:r>
            <a:r>
              <a:rPr lang="en-US" b="1" dirty="0" smtClean="0"/>
              <a:t> </a:t>
            </a:r>
            <a:r>
              <a:rPr lang="en-US" b="1" dirty="0"/>
              <a:t>и </a:t>
            </a:r>
            <a:r>
              <a:rPr lang="en-US" dirty="0"/>
              <a:t> </a:t>
            </a:r>
            <a:r>
              <a:rPr lang="en-US" b="1" dirty="0" smtClean="0"/>
              <a:t>Zoom</a:t>
            </a:r>
            <a:r>
              <a:rPr lang="en-US" b="1" baseline="0" dirty="0" smtClean="0"/>
              <a:t> </a:t>
            </a:r>
            <a:r>
              <a:rPr lang="ru-RU" b="0" baseline="0" dirty="0" smtClean="0"/>
              <a:t>в</a:t>
            </a:r>
            <a:r>
              <a:rPr lang="en-US" dirty="0" smtClean="0"/>
              <a:t> </a:t>
            </a:r>
            <a:r>
              <a:rPr lang="en-US" b="1" dirty="0" smtClean="0"/>
              <a:t>ПОЛНОЭКРАНН</a:t>
            </a:r>
            <a:r>
              <a:rPr lang="ru-RU" b="1" dirty="0" smtClean="0"/>
              <a:t>ОМ </a:t>
            </a:r>
            <a:r>
              <a:rPr lang="ru-RU" b="0" dirty="0" smtClean="0"/>
              <a:t>режиме</a:t>
            </a:r>
            <a:r>
              <a:rPr lang="en-US" b="0" dirty="0" smtClean="0"/>
              <a:t>. </a:t>
            </a:r>
            <a:endParaRPr lang="en-US" b="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300825" y="12491639"/>
            <a:ext cx="10056813" cy="20426761"/>
          </a:xfrm>
          <a:ln>
            <a:noFill/>
          </a:ln>
        </p:spPr>
        <p:txBody>
          <a:bodyPr/>
          <a:lstStyle/>
          <a:p>
            <a:pPr marL="685800" indent="-685800" defTabSz="3291312" fontAlgn="base">
              <a:lnSpc>
                <a:spcPct val="150000"/>
              </a:lnSpc>
              <a:spcBef>
                <a:spcPts val="3600"/>
              </a:spcBef>
              <a:buFont typeface="Wingdings" panose="05000000000000000000" pitchFamily="2" charset="2"/>
              <a:buChar char="v"/>
            </a:pPr>
            <a:r>
              <a:rPr lang="ru-RU" sz="5400" dirty="0">
                <a:solidFill>
                  <a:srgbClr val="000000"/>
                </a:solidFill>
              </a:rPr>
              <a:t>Определение информационных потребностей пациентов с катарактой и разработка обучающих рекомендаций для пациентов в послеоперационном периоде.</a:t>
            </a:r>
          </a:p>
          <a:p>
            <a:pPr marL="685800" indent="-685800">
              <a:lnSpc>
                <a:spcPct val="150000"/>
              </a:lnSpc>
              <a:buFont typeface="Wingdings" panose="05000000000000000000" pitchFamily="2" charset="2"/>
              <a:buChar char="v"/>
            </a:pPr>
            <a:r>
              <a:rPr lang="ru-RU" sz="5400" dirty="0" smtClean="0">
                <a:solidFill>
                  <a:srgbClr val="000000"/>
                </a:solidFill>
              </a:rPr>
              <a:t>Исследовательский </a:t>
            </a:r>
            <a:r>
              <a:rPr lang="ru-RU" sz="5400" dirty="0">
                <a:solidFill>
                  <a:srgbClr val="000000"/>
                </a:solidFill>
              </a:rPr>
              <a:t>вопрос: Какая информация необходима пациенту с катарактой в послеоперационном периоде для поддержания благоприятного результата?</a:t>
            </a:r>
            <a:endParaRPr lang="ru-RU" sz="5400" dirty="0"/>
          </a:p>
          <a:p>
            <a:pPr algn="l" rtl="0"/>
            <a:r>
              <a:rPr lang="en-US" sz="5400" dirty="0" smtClean="0"/>
              <a:t>. </a:t>
            </a:r>
            <a:endParaRPr lang="en-US" sz="5400" dirty="0"/>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311603" y="10221657"/>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0119749" y="13321964"/>
            <a:ext cx="10048874" cy="8577711"/>
          </a:xfrm>
          <a:ln>
            <a:noFill/>
          </a:ln>
        </p:spPr>
        <p:txBody>
          <a:bodyPr/>
          <a:lstStyle/>
          <a:p>
            <a:pPr marL="685800" lvl="0" indent="-685800" defTabSz="3291312">
              <a:lnSpc>
                <a:spcPct val="90000"/>
              </a:lnSpc>
              <a:spcBef>
                <a:spcPts val="3600"/>
              </a:spcBef>
              <a:buFont typeface="Wingdings" panose="05000000000000000000" pitchFamily="2" charset="2"/>
              <a:buChar char="v"/>
            </a:pPr>
            <a:r>
              <a:rPr lang="ru-RU" sz="5400" dirty="0"/>
              <a:t>Количественный метод.  </a:t>
            </a:r>
          </a:p>
          <a:p>
            <a:pPr marL="685800" lvl="0" indent="-685800" defTabSz="3291312">
              <a:lnSpc>
                <a:spcPct val="90000"/>
              </a:lnSpc>
              <a:spcBef>
                <a:spcPts val="3600"/>
              </a:spcBef>
              <a:buFont typeface="Wingdings" panose="05000000000000000000" pitchFamily="2" charset="2"/>
              <a:buChar char="v"/>
            </a:pPr>
            <a:r>
              <a:rPr lang="ru-RU" sz="5400" dirty="0"/>
              <a:t>Анкетирование 55 пациентов с диагнозом катаракта после операции </a:t>
            </a:r>
          </a:p>
          <a:p>
            <a:pPr marL="685800" lvl="0" indent="-685800" defTabSz="3291312">
              <a:lnSpc>
                <a:spcPct val="90000"/>
              </a:lnSpc>
              <a:spcBef>
                <a:spcPts val="3600"/>
              </a:spcBef>
              <a:buFont typeface="Wingdings" panose="05000000000000000000" pitchFamily="2" charset="2"/>
              <a:buChar char="v"/>
            </a:pPr>
            <a:r>
              <a:rPr lang="ru-RU" sz="5400" dirty="0"/>
              <a:t>Статистические методы</a:t>
            </a:r>
            <a:r>
              <a:rPr lang="ru-RU" sz="5400" b="1" u="sng" dirty="0"/>
              <a:t>.</a:t>
            </a:r>
          </a:p>
          <a:p>
            <a:pPr marL="685800" lvl="0" indent="-685800" defTabSz="3291312">
              <a:lnSpc>
                <a:spcPct val="90000"/>
              </a:lnSpc>
              <a:spcBef>
                <a:spcPts val="3600"/>
              </a:spcBef>
              <a:buFont typeface="Wingdings" panose="05000000000000000000" pitchFamily="2" charset="2"/>
              <a:buChar char="v"/>
            </a:pPr>
            <a:r>
              <a:rPr lang="ru-RU" sz="5400" dirty="0"/>
              <a:t>Проанализировать полученные данные в результате анкетирования пациентов</a:t>
            </a:r>
            <a:endParaRPr lang="en-US" sz="5400" dirty="0"/>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0633457" y="10221657"/>
            <a:ext cx="10048875" cy="1107988"/>
          </a:xfrm>
        </p:spPr>
        <p:txBody>
          <a:bodyPr/>
          <a:lstStyle/>
          <a:p>
            <a:pPr algn="l" rtl="0"/>
            <a:r>
              <a:rPr lang="en-US" sz="6000" dirty="0"/>
              <a:t>МЕТОДЫ</a:t>
            </a:r>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20601017" y="12054094"/>
            <a:ext cx="10048874" cy="15751982"/>
          </a:xfrm>
          <a:ln>
            <a:noFill/>
          </a:ln>
        </p:spPr>
        <p:txBody>
          <a:bodyPr/>
          <a:lstStyle/>
          <a:p>
            <a:pPr lvl="0"/>
            <a:endParaRPr lang="ru-RU" sz="5400" dirty="0">
              <a:solidFill>
                <a:srgbClr val="000000"/>
              </a:solidFill>
              <a:latin typeface="Calibri"/>
            </a:endParaRPr>
          </a:p>
          <a:p>
            <a:pPr marL="685800" indent="-685800">
              <a:buFont typeface="Wingdings" panose="05000000000000000000" pitchFamily="2" charset="2"/>
              <a:buChar char="v"/>
            </a:pPr>
            <a:r>
              <a:rPr lang="ru-RU" sz="5400" dirty="0"/>
              <a:t>Результаты исследования показали, что для предоставления качественного сестринского ухода   и предоставления информации  пациентам с катарактой после операции методом ФЭК с ИОЛ необходимо  разработать и внедрить информационные буклеты, брошюры содержащие все необходимые аспекты и вопросы касаемо послеоперационного этапа.</a:t>
            </a:r>
          </a:p>
          <a:p>
            <a:r>
              <a:rPr lang="ru-RU" sz="5400" dirty="0"/>
              <a:t/>
            </a:r>
            <a:br>
              <a:rPr lang="ru-RU" sz="5400" dirty="0"/>
            </a:br>
            <a:endParaRPr lang="en-US" sz="5400" dirty="0">
              <a:latin typeface="+mn-lt"/>
            </a:endParaRPr>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0682332" y="10202334"/>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1586444" y="10202334"/>
            <a:ext cx="10047018" cy="1107988"/>
          </a:xfrm>
        </p:spPr>
        <p:txBody>
          <a:bodyPr/>
          <a:lstStyle/>
          <a:p>
            <a:pPr algn="l"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0919254" y="12953622"/>
            <a:ext cx="12661637" cy="16783034"/>
          </a:xfrm>
          <a:ln>
            <a:noFill/>
          </a:ln>
        </p:spPr>
        <p:txBody>
          <a:bodyPr/>
          <a:lstStyle/>
          <a:p>
            <a:pPr marL="571500" lvl="0" indent="-571500" defTabSz="3291312">
              <a:lnSpc>
                <a:spcPct val="150000"/>
              </a:lnSpc>
              <a:spcBef>
                <a:spcPts val="3600"/>
              </a:spcBef>
              <a:buFont typeface="Wingdings" panose="05000000000000000000" pitchFamily="2" charset="2"/>
              <a:buChar char="v"/>
            </a:pPr>
            <a:r>
              <a:rPr lang="ru-RU" sz="5400" dirty="0">
                <a:solidFill>
                  <a:srgbClr val="000000"/>
                </a:solidFill>
                <a:latin typeface="+mn-lt"/>
              </a:rPr>
              <a:t>Таким образом, в ходе  нашего исследования, мы пришли к выводу, что пациенты нуждаются в том, чтобы  медицинские работники не только рассказывали об их заболевании, но и в конце беседы им раздавались памятки  брошюры или буклеты. </a:t>
            </a:r>
            <a:endParaRPr lang="ru-RU" sz="5400" dirty="0" smtClean="0">
              <a:solidFill>
                <a:srgbClr val="000000"/>
              </a:solidFill>
              <a:latin typeface="+mn-lt"/>
            </a:endParaRPr>
          </a:p>
          <a:p>
            <a:pPr marL="571500" lvl="0" indent="-571500" defTabSz="3291312">
              <a:lnSpc>
                <a:spcPct val="150000"/>
              </a:lnSpc>
              <a:spcBef>
                <a:spcPts val="3600"/>
              </a:spcBef>
              <a:buFont typeface="Wingdings" panose="05000000000000000000" pitchFamily="2" charset="2"/>
              <a:buChar char="v"/>
            </a:pPr>
            <a:r>
              <a:rPr lang="ru-RU" sz="5400" dirty="0" smtClean="0">
                <a:solidFill>
                  <a:srgbClr val="000000"/>
                </a:solidFill>
                <a:latin typeface="+mn-lt"/>
              </a:rPr>
              <a:t>Цель </a:t>
            </a:r>
            <a:r>
              <a:rPr lang="ru-RU" sz="5400" dirty="0">
                <a:solidFill>
                  <a:srgbClr val="000000"/>
                </a:solidFill>
                <a:latin typeface="+mn-lt"/>
              </a:rPr>
              <a:t>буклета – вложить максимум необходимой информации в соответствии с потребностями пациента.</a:t>
            </a:r>
          </a:p>
          <a:p>
            <a:pPr lvl="0">
              <a:lnSpc>
                <a:spcPct val="150000"/>
              </a:lnSpc>
            </a:pPr>
            <a:endParaRPr lang="ru-RU" sz="4400" dirty="0"/>
          </a:p>
          <a:p>
            <a:pPr algn="l" rtl="0"/>
            <a:endParaRPr lang="en-US" sz="5400" dirty="0"/>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10863745" y="28416867"/>
            <a:ext cx="10047018" cy="800211"/>
          </a:xfrm>
        </p:spPr>
        <p:txBody>
          <a:bodyPr/>
          <a:lstStyle/>
          <a:p>
            <a:pPr rtl="0"/>
            <a:r>
              <a:rPr lang="en-US" sz="4000" b="0" dirty="0"/>
              <a:t>КОНТАКТЫ</a:t>
            </a:r>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4837095" y="1523368"/>
            <a:ext cx="31998968" cy="1359394"/>
          </a:xfrm>
        </p:spPr>
        <p:txBody>
          <a:bodyPr>
            <a:noAutofit/>
          </a:bodyPr>
          <a:lstStyle/>
          <a:p>
            <a:pPr>
              <a:spcAft>
                <a:spcPts val="802"/>
              </a:spcAft>
            </a:pPr>
            <a:r>
              <a:rPr lang="ru-RU" u="sng" dirty="0">
                <a:solidFill>
                  <a:srgbClr val="FF0000"/>
                </a:solidFill>
              </a:rPr>
              <a:t>Улучшение качества обучающего материала на основе потребностей     в послеоперационном периоде пациентов с катарактой </a:t>
            </a:r>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12038741" y="29941527"/>
            <a:ext cx="30548895" cy="1815860"/>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fontAlgn="base"/>
            <a:r>
              <a:rPr lang="en-US" sz="4000" u="sng" dirty="0" smtClean="0"/>
              <a:t>Ferhovavarvara@gmail.com</a:t>
            </a:r>
            <a:r>
              <a:rPr lang="ru-RU" sz="4000" u="sng" dirty="0"/>
              <a:t> </a:t>
            </a:r>
            <a:r>
              <a:rPr lang="en-US" sz="4000" u="sng" dirty="0" smtClean="0"/>
              <a:t>Alena.osetrova.80@gmail.</a:t>
            </a:r>
            <a:r>
              <a:rPr lang="ru-RU" sz="4000" u="sng" dirty="0"/>
              <a:t>с</a:t>
            </a:r>
            <a:r>
              <a:rPr lang="en-US" sz="4000" u="sng" dirty="0" smtClean="0"/>
              <a:t>om</a:t>
            </a:r>
            <a:r>
              <a:rPr lang="ru-RU" sz="4000" u="sng" dirty="0" smtClean="0"/>
              <a:t> </a:t>
            </a:r>
            <a:r>
              <a:rPr lang="en-US" sz="4000" u="sng" dirty="0" smtClean="0"/>
              <a:t>Demidenkoalena1973@gmail.com</a:t>
            </a:r>
            <a:r>
              <a:rPr lang="en-US" sz="4000" u="sng" dirty="0"/>
              <a:t> </a:t>
            </a:r>
            <a:r>
              <a:rPr lang="en-US" sz="4000" u="sng" dirty="0" smtClean="0"/>
              <a:t>Lauram21.06.19722@gmail.com</a:t>
            </a:r>
            <a:endParaRPr lang="en-US" sz="4000" u="sng" dirty="0"/>
          </a:p>
          <a:p>
            <a:pPr fontAlgn="base"/>
            <a:r>
              <a:rPr lang="en-US" sz="4000" u="sng" dirty="0" smtClean="0"/>
              <a:t>Abdibekovameruert777@gmail.com zhamila.sartbaevna@gmail.com</a:t>
            </a:r>
            <a:endParaRPr lang="en-US" sz="4000" u="sng" dirty="0"/>
          </a:p>
        </p:txBody>
      </p:sp>
      <p:sp>
        <p:nvSpPr>
          <p:cNvPr id="4" name="Текст 3"/>
          <p:cNvSpPr>
            <a:spLocks noGrp="1"/>
          </p:cNvSpPr>
          <p:nvPr>
            <p:ph type="body" sz="quarter" idx="151"/>
          </p:nvPr>
        </p:nvSpPr>
        <p:spPr>
          <a:xfrm>
            <a:off x="4156751" y="7580643"/>
            <a:ext cx="31656453" cy="2401904"/>
          </a:xfrm>
        </p:spPr>
        <p:txBody>
          <a:bodyPr>
            <a:normAutofit fontScale="32500" lnSpcReduction="20000"/>
          </a:bodyPr>
          <a:lstStyle/>
          <a:p>
            <a:pPr lvl="0"/>
            <a:r>
              <a:rPr lang="ru-RU" sz="13500" dirty="0" smtClean="0">
                <a:solidFill>
                  <a:schemeClr val="tx1"/>
                </a:solidFill>
                <a:latin typeface="+mn-lt"/>
              </a:rPr>
              <a:t>Республиканский </a:t>
            </a:r>
            <a:r>
              <a:rPr lang="ru-RU" sz="13500" dirty="0">
                <a:solidFill>
                  <a:schemeClr val="tx1"/>
                </a:solidFill>
                <a:latin typeface="+mn-lt"/>
              </a:rPr>
              <a:t>диагностический центр КФ «UMC»</a:t>
            </a:r>
          </a:p>
          <a:p>
            <a:pPr lvl="0"/>
            <a:r>
              <a:rPr lang="ru-RU" sz="13500" dirty="0" err="1">
                <a:solidFill>
                  <a:schemeClr val="tx1"/>
                </a:solidFill>
                <a:latin typeface="+mn-lt"/>
              </a:rPr>
              <a:t>г.Нур</a:t>
            </a:r>
            <a:r>
              <a:rPr lang="ru-RU" sz="13500" dirty="0">
                <a:solidFill>
                  <a:schemeClr val="tx1"/>
                </a:solidFill>
                <a:latin typeface="+mn-lt"/>
              </a:rPr>
              <a:t>-Султан, ул. </a:t>
            </a:r>
            <a:r>
              <a:rPr lang="ru-RU" sz="13500" dirty="0" err="1">
                <a:solidFill>
                  <a:schemeClr val="tx1"/>
                </a:solidFill>
                <a:latin typeface="+mn-lt"/>
              </a:rPr>
              <a:t>Сыганак</a:t>
            </a:r>
            <a:r>
              <a:rPr lang="ru-RU" sz="13500" dirty="0">
                <a:solidFill>
                  <a:schemeClr val="tx1"/>
                </a:solidFill>
                <a:latin typeface="+mn-lt"/>
              </a:rPr>
              <a:t> 2.</a:t>
            </a:r>
          </a:p>
          <a:p>
            <a:r>
              <a:rPr lang="ru-RU" sz="11000" dirty="0">
                <a:latin typeface="+mn-lt"/>
              </a:rPr>
              <a:t/>
            </a:r>
            <a:br>
              <a:rPr lang="ru-RU" sz="11000" dirty="0">
                <a:latin typeface="+mn-lt"/>
              </a:rPr>
            </a:br>
            <a:endParaRPr lang="ru-RU" sz="11000" dirty="0">
              <a:latin typeface="+mn-lt"/>
            </a:endParaRPr>
          </a:p>
          <a:p>
            <a:endParaRPr lang="ru-RU" dirty="0"/>
          </a:p>
        </p:txBody>
      </p:sp>
      <p:sp>
        <p:nvSpPr>
          <p:cNvPr id="11" name="Текст 10"/>
          <p:cNvSpPr>
            <a:spLocks noGrp="1"/>
          </p:cNvSpPr>
          <p:nvPr>
            <p:ph type="body" sz="quarter" idx="150"/>
          </p:nvPr>
        </p:nvSpPr>
        <p:spPr>
          <a:xfrm>
            <a:off x="311603" y="3949705"/>
            <a:ext cx="43694195" cy="2236613"/>
          </a:xfrm>
        </p:spPr>
        <p:txBody>
          <a:bodyPr>
            <a:noAutofit/>
          </a:bodyPr>
          <a:lstStyle/>
          <a:p>
            <a:r>
              <a:rPr lang="ru-RU" sz="6600" dirty="0">
                <a:solidFill>
                  <a:srgbClr val="000000"/>
                </a:solidFill>
              </a:rPr>
              <a:t>Основные  </a:t>
            </a:r>
            <a:r>
              <a:rPr lang="ru-RU" sz="6600" dirty="0" err="1">
                <a:solidFill>
                  <a:srgbClr val="000000"/>
                </a:solidFill>
              </a:rPr>
              <a:t>исследователи:Ферхова</a:t>
            </a:r>
            <a:r>
              <a:rPr lang="ru-RU" sz="6600" dirty="0">
                <a:solidFill>
                  <a:srgbClr val="000000"/>
                </a:solidFill>
              </a:rPr>
              <a:t> Варвара Валериевна, Осетрова Алёна Ивановна. Другие исследователи; Демиденко Алена Анатольевна ,</a:t>
            </a:r>
            <a:r>
              <a:rPr lang="ru-RU" sz="6600" dirty="0" err="1">
                <a:solidFill>
                  <a:srgbClr val="000000"/>
                </a:solidFill>
              </a:rPr>
              <a:t>Муханмеджанова</a:t>
            </a:r>
            <a:r>
              <a:rPr lang="ru-RU" sz="6600" dirty="0">
                <a:solidFill>
                  <a:srgbClr val="000000"/>
                </a:solidFill>
              </a:rPr>
              <a:t> Лаура </a:t>
            </a:r>
            <a:r>
              <a:rPr lang="ru-RU" sz="6600" dirty="0" err="1">
                <a:solidFill>
                  <a:srgbClr val="000000"/>
                </a:solidFill>
              </a:rPr>
              <a:t>Кабдошевна</a:t>
            </a:r>
            <a:r>
              <a:rPr lang="ru-RU" sz="6600" dirty="0">
                <a:solidFill>
                  <a:srgbClr val="000000"/>
                </a:solidFill>
              </a:rPr>
              <a:t>, </a:t>
            </a:r>
            <a:r>
              <a:rPr lang="ru-RU" sz="6600" dirty="0" err="1">
                <a:solidFill>
                  <a:srgbClr val="000000"/>
                </a:solidFill>
              </a:rPr>
              <a:t>Абдибекова</a:t>
            </a:r>
            <a:r>
              <a:rPr lang="ru-RU" sz="6600" dirty="0">
                <a:solidFill>
                  <a:srgbClr val="000000"/>
                </a:solidFill>
              </a:rPr>
              <a:t> </a:t>
            </a:r>
            <a:r>
              <a:rPr lang="ru-RU" sz="6600" dirty="0" err="1">
                <a:solidFill>
                  <a:srgbClr val="000000"/>
                </a:solidFill>
              </a:rPr>
              <a:t>Меруерт</a:t>
            </a:r>
            <a:r>
              <a:rPr lang="ru-RU" sz="6600" dirty="0">
                <a:solidFill>
                  <a:srgbClr val="000000"/>
                </a:solidFill>
              </a:rPr>
              <a:t> </a:t>
            </a:r>
            <a:r>
              <a:rPr lang="ru-RU" sz="6600" dirty="0" err="1">
                <a:solidFill>
                  <a:srgbClr val="000000"/>
                </a:solidFill>
              </a:rPr>
              <a:t>Танаткановна</a:t>
            </a:r>
            <a:r>
              <a:rPr lang="ru-RU" sz="6600" dirty="0">
                <a:solidFill>
                  <a:srgbClr val="000000"/>
                </a:solidFill>
              </a:rPr>
              <a:t>, </a:t>
            </a:r>
            <a:r>
              <a:rPr lang="ru-RU" sz="6600" dirty="0" err="1">
                <a:solidFill>
                  <a:srgbClr val="000000"/>
                </a:solidFill>
              </a:rPr>
              <a:t>Аширбекова</a:t>
            </a:r>
            <a:r>
              <a:rPr lang="ru-RU" sz="6600" dirty="0">
                <a:solidFill>
                  <a:srgbClr val="000000"/>
                </a:solidFill>
              </a:rPr>
              <a:t> </a:t>
            </a:r>
            <a:r>
              <a:rPr lang="ru-RU" sz="6600" dirty="0" err="1">
                <a:solidFill>
                  <a:srgbClr val="000000"/>
                </a:solidFill>
              </a:rPr>
              <a:t>Гульбахрам</a:t>
            </a:r>
            <a:r>
              <a:rPr lang="ru-RU" sz="6600" dirty="0">
                <a:solidFill>
                  <a:srgbClr val="000000"/>
                </a:solidFill>
              </a:rPr>
              <a:t> </a:t>
            </a:r>
            <a:r>
              <a:rPr lang="ru-RU" sz="6600" dirty="0" err="1">
                <a:solidFill>
                  <a:srgbClr val="000000"/>
                </a:solidFill>
              </a:rPr>
              <a:t>Абдрахмановна</a:t>
            </a:r>
            <a:r>
              <a:rPr lang="ru-RU" sz="6600" dirty="0">
                <a:solidFill>
                  <a:srgbClr val="000000"/>
                </a:solidFill>
              </a:rPr>
              <a:t>. Ахметова Жамила Сартбаевна</a:t>
            </a:r>
            <a:endParaRPr lang="ru-RU" sz="6600" dirty="0"/>
          </a:p>
          <a:p>
            <a:endParaRPr lang="ru-RU" sz="6600" b="1" dirty="0"/>
          </a:p>
        </p:txBody>
      </p:sp>
      <p:pic>
        <p:nvPicPr>
          <p:cNvPr id="19" name="Picture 2" descr="https://lh6.googleusercontent.com/ih6qRj_3eruAZzv3QA47zO3cBHLIUDDlTRD_iT3CQTX_Vk_uyZ2aDw3tEdiutnym0nYlQxLbcQESy48bOHZGV5EF40VN1wlyLH-SlTsZY84C3l-DX9bbVODjpLbREIeFR4QVBq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2332" y="293168"/>
            <a:ext cx="15240000" cy="14906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
          <p:cNvSpPr>
            <a:spLocks noChangeArrowheads="1"/>
          </p:cNvSpPr>
          <p:nvPr/>
        </p:nvSpPr>
        <p:spPr bwMode="auto">
          <a:xfrm>
            <a:off x="20707350" y="18627725"/>
            <a:ext cx="438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smtClean="0">
                <a:ln>
                  <a:noFill/>
                </a:ln>
                <a:solidFill>
                  <a:schemeClr val="tx1"/>
                </a:solidFill>
                <a:effectLst/>
                <a:latin typeface="Arial" panose="020B0604020202020204" pitchFamily="34" charset="0"/>
              </a:rPr>
              <a:t/>
            </a:r>
            <a:br>
              <a:rPr kumimoji="0" lang="ru-RU" altLang="ru-RU" sz="1800" b="0" i="0" u="none" strike="noStrike" cap="none" normalizeH="0" baseline="0" dirty="0" smtClean="0">
                <a:ln>
                  <a:noFill/>
                </a:ln>
                <a:solidFill>
                  <a:schemeClr val="tx1"/>
                </a:solidFill>
                <a:effectLst/>
                <a:latin typeface="Arial" panose="020B0604020202020204" pitchFamily="34" charset="0"/>
              </a:rPr>
            </a:b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1556</TotalTime>
  <Words>260</Words>
  <Application>Microsoft Office PowerPoint</Application>
  <PresentationFormat>Произвольный</PresentationFormat>
  <Paragraphs>33</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Trebuchet MS</vt:lpstr>
      <vt:lpstr>Wingdings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99</cp:revision>
  <dcterms:created xsi:type="dcterms:W3CDTF">2012-02-03T19:11:35Z</dcterms:created>
  <dcterms:modified xsi:type="dcterms:W3CDTF">2020-11-30T06:53:50Z</dcterms:modified>
  <cp:category>Research poster templates</cp:category>
</cp:coreProperties>
</file>