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
  </p:notesMasterIdLst>
  <p:handoutMasterIdLst>
    <p:handoutMasterId r:id="rId4"/>
  </p:handoutMasterIdLst>
  <p:sldIdLst>
    <p:sldId id="258" r:id="rId2"/>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76" userDrawn="1">
          <p15:clr>
            <a:srgbClr val="A4A3A4"/>
          </p15:clr>
        </p15:guide>
        <p15:guide id="2" orient="horz" pos="288">
          <p15:clr>
            <a:srgbClr val="A4A3A4"/>
          </p15:clr>
        </p15:guide>
        <p15:guide id="3" orient="horz" pos="19656" userDrawn="1">
          <p15:clr>
            <a:srgbClr val="A4A3A4"/>
          </p15:clr>
        </p15:guide>
        <p15:guide id="4" orient="horz">
          <p15:clr>
            <a:srgbClr val="A4A3A4"/>
          </p15:clr>
        </p15:guide>
        <p15:guide id="5" pos="744" userDrawn="1">
          <p15:clr>
            <a:srgbClr val="A4A3A4"/>
          </p15:clr>
        </p15:guide>
        <p15:guide id="6" pos="270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66" autoAdjust="0"/>
    <p:restoredTop sz="96270" autoAdjust="0"/>
  </p:normalViewPr>
  <p:slideViewPr>
    <p:cSldViewPr snapToGrid="0" snapToObjects="1" showGuides="1">
      <p:cViewPr varScale="1">
        <p:scale>
          <a:sx n="24" d="100"/>
          <a:sy n="24" d="100"/>
        </p:scale>
        <p:origin x="1926" y="36"/>
      </p:cViewPr>
      <p:guideLst>
        <p:guide orient="horz" pos="2976"/>
        <p:guide orient="horz" pos="288"/>
        <p:guide orient="horz" pos="19656"/>
        <p:guide orient="horz"/>
        <p:guide pos="744"/>
        <p:guide pos="2700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11/30/2020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11/30/2020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pPr marL="0" indent="0" algn="l" rtl="0">
              <a:buFont typeface="Arial" panose="020B0604020202020204" pitchFamily="34" charset="0"/>
              <a:buNone/>
            </a:pPr>
            <a:endParaRPr lang="en-US" b="0" dirty="0"/>
          </a:p>
        </p:txBody>
      </p:sp>
      <p:sp>
        <p:nvSpPr>
          <p:cNvPr id="4" name="Slide Number Placeholder 3"/>
          <p:cNvSpPr>
            <a:spLocks noGrp="1"/>
          </p:cNvSpPr>
          <p:nvPr>
            <p:ph type="sldNum" sz="quarter" idx="5"/>
          </p:nvPr>
        </p:nvSpPr>
        <p:spPr/>
        <p:txBody>
          <a:bodyPr/>
          <a:lstStyle/>
          <a:p>
            <a:fld id="{26A1A87D-CAF7-4BDC-A0D3-C0DBEDE81619}" type="slidenum">
              <a:rPr lang="en-US" smtClean="0"/>
              <a:pPr algn="l" rtl="0"/>
              <a:t>1</a:t>
            </a:fld>
            <a:endParaRPr lang="en-US" dirty="0"/>
          </a:p>
        </p:txBody>
      </p:sp>
    </p:spTree>
    <p:extLst>
      <p:ext uri="{BB962C8B-B14F-4D97-AF65-F5344CB8AC3E}">
        <p14:creationId xmlns:p14="http://schemas.microsoft.com/office/powerpoint/2010/main" val="1006920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1148074" y="5966815"/>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1148074" y="510983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1090242" y="14181956"/>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681570"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681569" y="5146225"/>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207127"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215064" y="5146225"/>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2763535" y="514622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2763535" y="5966815"/>
            <a:ext cx="10047018"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2763535" y="1426545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2761019" y="1506797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2763535"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2761019" y="2643344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1083891" y="14995183"/>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2947817"/>
            <a:ext cx="31998968" cy="1280160"/>
          </a:xfrm>
          <a:prstGeom prst="rect">
            <a:avLst/>
          </a:prstGeom>
        </p:spPr>
        <p:txBody>
          <a:bodyPr>
            <a:normAutofit/>
          </a:bodyPr>
          <a:lstStyle>
            <a:lvl1pPr marL="0" indent="0" algn="ctr">
              <a:buFontTx/>
              <a:buNone/>
              <a:defRPr sz="44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1628358"/>
            <a:ext cx="31998968" cy="1280160"/>
          </a:xfrm>
          <a:prstGeom prst="rect">
            <a:avLst/>
          </a:prstGeom>
        </p:spPr>
        <p:txBody>
          <a:bodyPr anchor="t" anchorCtr="1">
            <a:normAutofit/>
          </a:bodyPr>
          <a:lstStyle>
            <a:lvl1pPr marL="0" indent="0" algn="ctr">
              <a:buFontTx/>
              <a:buNone/>
              <a:defRPr sz="66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209782"/>
            <a:ext cx="31998968" cy="1359394"/>
          </a:xfrm>
          <a:prstGeom prst="rect">
            <a:avLst/>
          </a:prstGeom>
        </p:spPr>
        <p:txBody>
          <a:bodyPr anchor="t" anchorCtr="1">
            <a:normAutofit/>
          </a:bodyPr>
          <a:lstStyle>
            <a:lvl1pPr marL="0" indent="0" algn="ctr">
              <a:buFontTx/>
              <a:buNone/>
              <a:defRPr sz="8000" b="1">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3545458512"/>
      </p:ext>
    </p:extLst>
  </p:cSld>
  <p:clrMapOvr>
    <a:masterClrMapping/>
  </p:clrMapOvr>
  <p:extLst>
    <p:ext uri="{DCECCB84-F9BA-43D5-87BE-67443E8EF086}">
      <p15:sldGuideLst xmlns:p15="http://schemas.microsoft.com/office/powerpoint/2012/main">
        <p15:guide id="1" orient="horz" pos="3216">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
        <p:cNvGrpSpPr/>
        <p:nvPr/>
      </p:nvGrpSpPr>
      <p:grpSpPr>
        <a:xfrm>
          <a:off x="0" y="0"/>
          <a:ext cx="0" cy="0"/>
          <a:chOff x="0" y="0"/>
          <a:chExt cx="0" cy="0"/>
        </a:xfrm>
      </p:grpSpPr>
      <p:sp>
        <p:nvSpPr>
          <p:cNvPr id="3" name="Rectangle 36">
            <a:extLst>
              <a:ext uri="{FF2B5EF4-FFF2-40B4-BE49-F238E27FC236}">
                <a16:creationId xmlns="" xmlns:a16="http://schemas.microsoft.com/office/drawing/2014/main" id="{946E5B6B-C0EB-774F-84E6-DB70C1B05BBB}"/>
              </a:ext>
            </a:extLst>
          </p:cNvPr>
          <p:cNvSpPr>
            <a:spLocks noChangeArrowheads="1"/>
          </p:cNvSpPr>
          <p:nvPr userDrawn="1"/>
        </p:nvSpPr>
        <p:spPr bwMode="auto">
          <a:xfrm>
            <a:off x="0" y="31191530"/>
            <a:ext cx="43891200" cy="1726870"/>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4" name="Rectangle 36">
            <a:extLst>
              <a:ext uri="{FF2B5EF4-FFF2-40B4-BE49-F238E27FC236}">
                <a16:creationId xmlns="" xmlns:a16="http://schemas.microsoft.com/office/drawing/2014/main" id="{630A12C4-97F8-4F40-B1A5-92179D7A776E}"/>
              </a:ext>
            </a:extLst>
          </p:cNvPr>
          <p:cNvSpPr>
            <a:spLocks noChangeArrowheads="1"/>
          </p:cNvSpPr>
          <p:nvPr userDrawn="1"/>
        </p:nvSpPr>
        <p:spPr bwMode="auto">
          <a:xfrm>
            <a:off x="0" y="-15834"/>
            <a:ext cx="43891200" cy="5186922"/>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5" name="Rounded Rectangle 4">
            <a:extLst>
              <a:ext uri="{FF2B5EF4-FFF2-40B4-BE49-F238E27FC236}">
                <a16:creationId xmlns="" xmlns:a16="http://schemas.microsoft.com/office/drawing/2014/main" id="{F0E3A844-C1E6-A44D-8098-DA3E856EA7D8}"/>
              </a:ext>
            </a:extLst>
          </p:cNvPr>
          <p:cNvSpPr/>
          <p:nvPr userDrawn="1"/>
        </p:nvSpPr>
        <p:spPr>
          <a:xfrm>
            <a:off x="731517" y="4135663"/>
            <a:ext cx="42428163" cy="27683945"/>
          </a:xfrm>
          <a:prstGeom prst="roundRect">
            <a:avLst>
              <a:gd name="adj" fmla="val 0"/>
            </a:avLst>
          </a:prstGeom>
          <a:solidFill>
            <a:schemeClr val="bg1"/>
          </a:solidFill>
          <a:ln w="19050">
            <a:solidFill>
              <a:schemeClr val="accent1">
                <a:lumMod val="50000"/>
              </a:schemeClr>
            </a:solidFill>
          </a:ln>
          <a:effectLst>
            <a:outerShdw blurRad="355600" sx="101000" sy="101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978"/>
          </a:p>
        </p:txBody>
      </p:sp>
      <p:sp>
        <p:nvSpPr>
          <p:cNvPr id="6" name="Text Box 14">
            <a:extLst>
              <a:ext uri="{FF2B5EF4-FFF2-40B4-BE49-F238E27FC236}">
                <a16:creationId xmlns="" xmlns:a16="http://schemas.microsoft.com/office/drawing/2014/main" id="{D39F7EEB-85E1-AB4C-AFD9-37B035A830F0}"/>
              </a:ext>
            </a:extLst>
          </p:cNvPr>
          <p:cNvSpPr txBox="1">
            <a:spLocks noChangeArrowheads="1"/>
          </p:cNvSpPr>
          <p:nvPr userDrawn="1"/>
        </p:nvSpPr>
        <p:spPr bwMode="auto">
          <a:xfrm>
            <a:off x="731517" y="32054965"/>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F1530E01-B262-B047-951C-9A1F3925E675}"/>
              </a:ext>
            </a:extLst>
          </p:cNvPr>
          <p:cNvSpPr>
            <a:spLocks noGrp="1"/>
          </p:cNvSpPr>
          <p:nvPr>
            <p:ph type="body" sz="quarter" idx="10"/>
          </p:nvPr>
        </p:nvSpPr>
        <p:spPr>
          <a:xfrm>
            <a:off x="1173690" y="5517743"/>
            <a:ext cx="10056813" cy="27053538"/>
          </a:xfrm>
          <a:ln>
            <a:noFill/>
          </a:ln>
        </p:spPr>
        <p:txBody>
          <a:bodyPr/>
          <a:lstStyle/>
          <a:p>
            <a:r>
              <a:rPr lang="ru-RU" sz="5400" dirty="0"/>
              <a:t>Отношение знании и практической деятельности медсестер на профилактику КАИК у педиатрических пациентов в онкологии</a:t>
            </a:r>
            <a:r>
              <a:rPr lang="ru-RU" sz="5400" dirty="0" smtClean="0"/>
              <a:t>.</a:t>
            </a:r>
            <a:endParaRPr lang="en-US" sz="5400" dirty="0"/>
          </a:p>
          <a:p>
            <a:r>
              <a:rPr lang="en-US" sz="5400" dirty="0"/>
              <a:t>1</a:t>
            </a:r>
            <a:r>
              <a:rPr lang="en-US" sz="5400" dirty="0" smtClean="0"/>
              <a:t>.</a:t>
            </a:r>
            <a:r>
              <a:rPr lang="ru-RU" sz="5400" dirty="0"/>
              <a:t> оценка знаний и отношения  медицинских сестер </a:t>
            </a:r>
            <a:r>
              <a:rPr lang="ru-RU" sz="5400" dirty="0" smtClean="0"/>
              <a:t>ННМЦД КФ </a:t>
            </a:r>
            <a:r>
              <a:rPr lang="ru-RU" sz="5400" dirty="0"/>
              <a:t>«UMC</a:t>
            </a:r>
            <a:r>
              <a:rPr lang="ru-RU" sz="5400" dirty="0" smtClean="0"/>
              <a:t>» </a:t>
            </a:r>
            <a:r>
              <a:rPr lang="ru-RU" sz="5400" dirty="0"/>
              <a:t>к проблемам, возникающим во время ухода за пациентами с центральным сосудистым катетером, у педиатрических пациентов с  онкологическими заболеваниями</a:t>
            </a:r>
            <a:endParaRPr lang="en-US" sz="5400" dirty="0"/>
          </a:p>
          <a:p>
            <a:r>
              <a:rPr lang="en-US" sz="5400" dirty="0"/>
              <a:t>2. </a:t>
            </a:r>
            <a:r>
              <a:rPr lang="ru-RU" sz="5400" dirty="0"/>
              <a:t>предоставить рекомендации по обновленным руководящим принципам </a:t>
            </a:r>
            <a:r>
              <a:rPr lang="ru-RU" sz="5400" dirty="0" smtClean="0"/>
              <a:t> </a:t>
            </a:r>
            <a:r>
              <a:rPr lang="ru-RU" sz="5400" dirty="0"/>
              <a:t>снижению заболеваемости катетер-ассоциированными инфекциями кровотока </a:t>
            </a:r>
            <a:r>
              <a:rPr lang="ru-RU" sz="5400" dirty="0" smtClean="0"/>
              <a:t>, </a:t>
            </a:r>
            <a:r>
              <a:rPr lang="ru-RU" sz="5400" dirty="0"/>
              <a:t>которые применяются в мировой практике, с дальнейшим включением в учебные программы профессиональной подготовки медицинских сестер ННЦМД КФ «UMC». </a:t>
            </a:r>
            <a:endParaRPr lang="en-US" sz="5400" dirty="0"/>
          </a:p>
          <a:p>
            <a:pPr algn="l" rtl="0"/>
            <a:endParaRPr lang="en-US" sz="5400" dirty="0"/>
          </a:p>
          <a:p>
            <a:pPr algn="l" rtl="0"/>
            <a:endParaRPr lang="en-US" sz="5400" dirty="0"/>
          </a:p>
          <a:p>
            <a:pPr algn="l" rtl="0"/>
            <a:endParaRPr lang="en-US" sz="5400" dirty="0"/>
          </a:p>
        </p:txBody>
      </p:sp>
      <p:sp>
        <p:nvSpPr>
          <p:cNvPr id="3" name="Text Placeholder 2">
            <a:extLst>
              <a:ext uri="{FF2B5EF4-FFF2-40B4-BE49-F238E27FC236}">
                <a16:creationId xmlns="" xmlns:a16="http://schemas.microsoft.com/office/drawing/2014/main" id="{5670D40C-5BD0-FC47-BDCE-BDE48A160F35}"/>
              </a:ext>
            </a:extLst>
          </p:cNvPr>
          <p:cNvSpPr>
            <a:spLocks noGrp="1"/>
          </p:cNvSpPr>
          <p:nvPr>
            <p:ph type="body" sz="quarter" idx="11"/>
          </p:nvPr>
        </p:nvSpPr>
        <p:spPr>
          <a:xfrm>
            <a:off x="1204542" y="4511042"/>
            <a:ext cx="10048875" cy="1107988"/>
          </a:xfrm>
        </p:spPr>
        <p:txBody>
          <a:bodyPr/>
          <a:lstStyle/>
          <a:p>
            <a:pPr algn="l" rtl="0"/>
            <a:r>
              <a:rPr lang="en-US" sz="6000" dirty="0"/>
              <a:t>ВВЕДЕНИЕ И ЦЕЛИ </a:t>
            </a:r>
          </a:p>
        </p:txBody>
      </p:sp>
      <p:sp>
        <p:nvSpPr>
          <p:cNvPr id="5" name="Text Placeholder 4">
            <a:extLst>
              <a:ext uri="{FF2B5EF4-FFF2-40B4-BE49-F238E27FC236}">
                <a16:creationId xmlns="" xmlns:a16="http://schemas.microsoft.com/office/drawing/2014/main" id="{37463DA4-FC08-CE4D-9DCC-0E2B3981D8B6}"/>
              </a:ext>
            </a:extLst>
          </p:cNvPr>
          <p:cNvSpPr>
            <a:spLocks noGrp="1"/>
          </p:cNvSpPr>
          <p:nvPr>
            <p:ph type="body" sz="quarter" idx="21"/>
          </p:nvPr>
        </p:nvSpPr>
        <p:spPr>
          <a:xfrm>
            <a:off x="11738038" y="5517744"/>
            <a:ext cx="10048874" cy="6278620"/>
          </a:xfrm>
          <a:ln>
            <a:noFill/>
          </a:ln>
        </p:spPr>
        <p:txBody>
          <a:bodyPr/>
          <a:lstStyle/>
          <a:p>
            <a:r>
              <a:rPr lang="ru-RU" sz="5400" dirty="0"/>
              <a:t>Количественное исследование среди медицинских сестер отделений онкологий и детской реанимации (n = 73) в течение августа и сентября 2020 года, работающих в UMC ННЦМД г. </a:t>
            </a:r>
            <a:r>
              <a:rPr lang="ru-RU" sz="5400" dirty="0" err="1"/>
              <a:t>Нур</a:t>
            </a:r>
            <a:r>
              <a:rPr lang="ru-RU" sz="5400" dirty="0"/>
              <a:t>-Султан, Казахстан.</a:t>
            </a:r>
            <a:r>
              <a:rPr lang="en-US" sz="5400" dirty="0" smtClean="0"/>
              <a:t>. </a:t>
            </a:r>
            <a:endParaRPr lang="en-US" sz="5400" dirty="0"/>
          </a:p>
        </p:txBody>
      </p:sp>
      <p:sp>
        <p:nvSpPr>
          <p:cNvPr id="6" name="Text Placeholder 5">
            <a:extLst>
              <a:ext uri="{FF2B5EF4-FFF2-40B4-BE49-F238E27FC236}">
                <a16:creationId xmlns="" xmlns:a16="http://schemas.microsoft.com/office/drawing/2014/main" id="{46B6BEA9-4297-E841-A5DF-3FC5A8689F40}"/>
              </a:ext>
            </a:extLst>
          </p:cNvPr>
          <p:cNvSpPr>
            <a:spLocks noGrp="1"/>
          </p:cNvSpPr>
          <p:nvPr>
            <p:ph type="body" sz="quarter" idx="22"/>
          </p:nvPr>
        </p:nvSpPr>
        <p:spPr>
          <a:xfrm>
            <a:off x="11738037" y="4547430"/>
            <a:ext cx="10048875" cy="1107988"/>
          </a:xfrm>
        </p:spPr>
        <p:txBody>
          <a:bodyPr/>
          <a:lstStyle/>
          <a:p>
            <a:pPr algn="l" rtl="0"/>
            <a:r>
              <a:rPr lang="en-US" sz="6000" dirty="0"/>
              <a:t>МЕТОДЫ</a:t>
            </a:r>
          </a:p>
        </p:txBody>
      </p:sp>
      <p:sp>
        <p:nvSpPr>
          <p:cNvPr id="7" name="Text Placeholder 6">
            <a:extLst>
              <a:ext uri="{FF2B5EF4-FFF2-40B4-BE49-F238E27FC236}">
                <a16:creationId xmlns="" xmlns:a16="http://schemas.microsoft.com/office/drawing/2014/main" id="{675A44F2-261A-4B4F-ADD6-1D08D12764A1}"/>
              </a:ext>
            </a:extLst>
          </p:cNvPr>
          <p:cNvSpPr>
            <a:spLocks noGrp="1"/>
          </p:cNvSpPr>
          <p:nvPr>
            <p:ph type="body" sz="quarter" idx="23"/>
          </p:nvPr>
        </p:nvSpPr>
        <p:spPr>
          <a:xfrm>
            <a:off x="22263595" y="5517744"/>
            <a:ext cx="10048874" cy="5613822"/>
          </a:xfrm>
          <a:ln>
            <a:noFill/>
          </a:ln>
        </p:spPr>
        <p:txBody>
          <a:bodyPr/>
          <a:lstStyle/>
          <a:p>
            <a:r>
              <a:rPr lang="ru-RU" sz="5400" dirty="0" smtClean="0"/>
              <a:t>процент </a:t>
            </a:r>
            <a:r>
              <a:rPr lang="ru-RU" sz="5400" dirty="0"/>
              <a:t>охвата для опроса </a:t>
            </a:r>
            <a:r>
              <a:rPr lang="ru-RU" sz="5400" dirty="0" smtClean="0"/>
              <a:t>составил  </a:t>
            </a:r>
            <a:r>
              <a:rPr lang="ru-RU" sz="5400" dirty="0"/>
              <a:t>(100</a:t>
            </a:r>
            <a:r>
              <a:rPr lang="ru-RU" sz="5400" dirty="0" smtClean="0"/>
              <a:t>%).</a:t>
            </a:r>
          </a:p>
          <a:p>
            <a:r>
              <a:rPr lang="ru-RU" sz="5400" dirty="0" smtClean="0"/>
              <a:t>уход за ЦВК в каждом отделении зависит от профиля отделения и основного заболевания </a:t>
            </a:r>
            <a:endParaRPr lang="en-US" sz="5400" dirty="0"/>
          </a:p>
        </p:txBody>
      </p:sp>
      <p:sp>
        <p:nvSpPr>
          <p:cNvPr id="8" name="Text Placeholder 7">
            <a:extLst>
              <a:ext uri="{FF2B5EF4-FFF2-40B4-BE49-F238E27FC236}">
                <a16:creationId xmlns="" xmlns:a16="http://schemas.microsoft.com/office/drawing/2014/main" id="{B143406A-EFD5-2E42-865D-A4660751CC04}"/>
              </a:ext>
            </a:extLst>
          </p:cNvPr>
          <p:cNvSpPr>
            <a:spLocks noGrp="1"/>
          </p:cNvSpPr>
          <p:nvPr>
            <p:ph type="body" sz="quarter" idx="24"/>
          </p:nvPr>
        </p:nvSpPr>
        <p:spPr>
          <a:xfrm>
            <a:off x="22271532" y="4547430"/>
            <a:ext cx="10058400" cy="1107988"/>
          </a:xfrm>
        </p:spPr>
        <p:txBody>
          <a:bodyPr/>
          <a:lstStyle/>
          <a:p>
            <a:pPr algn="l" rtl="0"/>
            <a:r>
              <a:rPr lang="en-US" sz="6000" dirty="0"/>
              <a:t>ПОЛУЧЕННЫЕ РЕЗУЛЬТАТЫ</a:t>
            </a:r>
          </a:p>
        </p:txBody>
      </p:sp>
      <p:sp>
        <p:nvSpPr>
          <p:cNvPr id="9" name="Text Placeholder 8">
            <a:extLst>
              <a:ext uri="{FF2B5EF4-FFF2-40B4-BE49-F238E27FC236}">
                <a16:creationId xmlns="" xmlns:a16="http://schemas.microsoft.com/office/drawing/2014/main" id="{C386760F-A20B-7F49-9C12-75A6EA2EB5FA}"/>
              </a:ext>
            </a:extLst>
          </p:cNvPr>
          <p:cNvSpPr>
            <a:spLocks noGrp="1"/>
          </p:cNvSpPr>
          <p:nvPr>
            <p:ph type="body" sz="quarter" idx="25"/>
          </p:nvPr>
        </p:nvSpPr>
        <p:spPr>
          <a:xfrm>
            <a:off x="32648401" y="4731315"/>
            <a:ext cx="10047018" cy="1107988"/>
          </a:xfrm>
        </p:spPr>
        <p:txBody>
          <a:bodyPr/>
          <a:lstStyle/>
          <a:p>
            <a:pPr algn="l" rtl="0"/>
            <a:r>
              <a:rPr lang="en-US" sz="6000" dirty="0"/>
              <a:t>ВЫВОДЫ И </a:t>
            </a:r>
            <a:r>
              <a:rPr lang="ru-RU" sz="6000" dirty="0" smtClean="0"/>
              <a:t>ЗНАЧЕНИЯ</a:t>
            </a:r>
            <a:endParaRPr lang="en-US" sz="6000" dirty="0"/>
          </a:p>
        </p:txBody>
      </p:sp>
      <p:sp>
        <p:nvSpPr>
          <p:cNvPr id="10" name="Text Placeholder 9">
            <a:extLst>
              <a:ext uri="{FF2B5EF4-FFF2-40B4-BE49-F238E27FC236}">
                <a16:creationId xmlns="" xmlns:a16="http://schemas.microsoft.com/office/drawing/2014/main" id="{D765487B-6201-6645-A16D-3E0C337F590E}"/>
              </a:ext>
            </a:extLst>
          </p:cNvPr>
          <p:cNvSpPr>
            <a:spLocks noGrp="1"/>
          </p:cNvSpPr>
          <p:nvPr>
            <p:ph type="body" sz="quarter" idx="26"/>
          </p:nvPr>
        </p:nvSpPr>
        <p:spPr>
          <a:xfrm>
            <a:off x="32820003" y="6651750"/>
            <a:ext cx="10047018" cy="12926593"/>
          </a:xfrm>
          <a:ln>
            <a:noFill/>
          </a:ln>
        </p:spPr>
        <p:txBody>
          <a:bodyPr/>
          <a:lstStyle/>
          <a:p>
            <a:r>
              <a:rPr lang="ru-RU" sz="5400" dirty="0"/>
              <a:t>Результаты этого исследования показали, что образовательные мероприятия очень важны и должны быть реализованы для устранения пробелов в знаниях и практике медицинских сестер, а также для обеспечения того, чтобы медицинские сестры использовали в своей практике научно-обоснованные профилактические вмешательства. Для этого надо подготовить единое руководство по КАИК в ННЦМД КФ «UMC». </a:t>
            </a:r>
            <a:endParaRPr lang="en-US" sz="5400" dirty="0"/>
          </a:p>
        </p:txBody>
      </p:sp>
      <p:sp>
        <p:nvSpPr>
          <p:cNvPr id="13" name="Text Placeholder 12">
            <a:extLst>
              <a:ext uri="{FF2B5EF4-FFF2-40B4-BE49-F238E27FC236}">
                <a16:creationId xmlns="" xmlns:a16="http://schemas.microsoft.com/office/drawing/2014/main" id="{AFE1A4CF-366C-A74D-90FE-5ACBD4F9943B}"/>
              </a:ext>
            </a:extLst>
          </p:cNvPr>
          <p:cNvSpPr>
            <a:spLocks noGrp="1"/>
          </p:cNvSpPr>
          <p:nvPr>
            <p:ph type="body" sz="quarter" idx="29"/>
          </p:nvPr>
        </p:nvSpPr>
        <p:spPr>
          <a:xfrm>
            <a:off x="33121220" y="27589464"/>
            <a:ext cx="10047018" cy="800211"/>
          </a:xfrm>
        </p:spPr>
        <p:txBody>
          <a:bodyPr/>
          <a:lstStyle/>
          <a:p>
            <a:pPr rtl="0"/>
            <a:r>
              <a:rPr lang="en-US" sz="4000" b="0" dirty="0"/>
              <a:t>КОНТАКТЫ</a:t>
            </a:r>
          </a:p>
        </p:txBody>
      </p:sp>
      <p:sp>
        <p:nvSpPr>
          <p:cNvPr id="18" name="Text Placeholder 17">
            <a:extLst>
              <a:ext uri="{FF2B5EF4-FFF2-40B4-BE49-F238E27FC236}">
                <a16:creationId xmlns="" xmlns:a16="http://schemas.microsoft.com/office/drawing/2014/main" id="{9FFCC562-221F-8240-980C-DCE8D467C705}"/>
              </a:ext>
            </a:extLst>
          </p:cNvPr>
          <p:cNvSpPr>
            <a:spLocks noGrp="1"/>
          </p:cNvSpPr>
          <p:nvPr>
            <p:ph type="body" sz="quarter" idx="153"/>
          </p:nvPr>
        </p:nvSpPr>
        <p:spPr>
          <a:xfrm>
            <a:off x="2171700" y="209781"/>
            <a:ext cx="40695321" cy="2895254"/>
          </a:xfrm>
        </p:spPr>
        <p:txBody>
          <a:bodyPr>
            <a:noAutofit/>
          </a:bodyPr>
          <a:lstStyle/>
          <a:p>
            <a:r>
              <a:rPr lang="ru-RU" sz="7000" dirty="0">
                <a:latin typeface="Times New Roman" panose="02020603050405020304" pitchFamily="18" charset="0"/>
              </a:rPr>
              <a:t>Независимый сестринский </a:t>
            </a:r>
            <a:r>
              <a:rPr lang="ru-RU" sz="7000" dirty="0" smtClean="0">
                <a:latin typeface="Times New Roman" panose="02020603050405020304" pitchFamily="18" charset="0"/>
              </a:rPr>
              <a:t>уход</a:t>
            </a:r>
            <a:r>
              <a:rPr lang="ru-RU" sz="7000" dirty="0" smtClean="0"/>
              <a:t> </a:t>
            </a:r>
            <a:r>
              <a:rPr lang="ru-RU" sz="7000" dirty="0" smtClean="0">
                <a:latin typeface="Times New Roman" panose="02020603050405020304" pitchFamily="18" charset="0"/>
              </a:rPr>
              <a:t>педиатрическим </a:t>
            </a:r>
            <a:r>
              <a:rPr lang="ru-RU" sz="7000" dirty="0">
                <a:latin typeface="Times New Roman" panose="02020603050405020304" pitchFamily="18" charset="0"/>
              </a:rPr>
              <a:t>пациентам с сосудистыми катетерами</a:t>
            </a:r>
            <a:endParaRPr lang="ru-RU" sz="7000" dirty="0"/>
          </a:p>
        </p:txBody>
      </p:sp>
      <p:sp>
        <p:nvSpPr>
          <p:cNvPr id="24" name="Text Placeholder 9">
            <a:extLst>
              <a:ext uri="{FF2B5EF4-FFF2-40B4-BE49-F238E27FC236}">
                <a16:creationId xmlns="" xmlns:a16="http://schemas.microsoft.com/office/drawing/2014/main" id="{331FCF4F-5A5A-744C-B561-0958FFB80594}"/>
              </a:ext>
            </a:extLst>
          </p:cNvPr>
          <p:cNvSpPr txBox="1">
            <a:spLocks/>
          </p:cNvSpPr>
          <p:nvPr/>
        </p:nvSpPr>
        <p:spPr>
          <a:xfrm>
            <a:off x="33422437" y="28370970"/>
            <a:ext cx="9444584" cy="3170076"/>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tx1"/>
                </a:solidFill>
                <a:latin typeface="Calibri" panose="020F0502020204030204" pitchFamily="34" charset="0"/>
                <a:ea typeface="+mn-ea"/>
                <a:cs typeface="Calibri" panose="020F0502020204030204" pitchFamily="34"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ru-RU" sz="4000" dirty="0"/>
              <a:t>Руководитель: </a:t>
            </a:r>
            <a:r>
              <a:rPr lang="en-US" sz="4000" dirty="0" err="1"/>
              <a:t>Annina</a:t>
            </a:r>
            <a:r>
              <a:rPr lang="en-US" sz="4000" dirty="0"/>
              <a:t> </a:t>
            </a:r>
            <a:r>
              <a:rPr lang="en-US" sz="4000" dirty="0" err="1"/>
              <a:t>Kangas-Niemi</a:t>
            </a:r>
            <a:r>
              <a:rPr lang="en-US" sz="4000" dirty="0"/>
              <a:t>(JAMK) </a:t>
            </a:r>
          </a:p>
          <a:p>
            <a:r>
              <a:rPr lang="ru-RU" sz="4000" dirty="0"/>
              <a:t>Исследователи: Аханова Л.М, Тау Г.К, </a:t>
            </a:r>
          </a:p>
          <a:p>
            <a:r>
              <a:rPr lang="ru-RU" sz="4000" dirty="0"/>
              <a:t>Мырзаханова В.Ж, </a:t>
            </a:r>
            <a:r>
              <a:rPr lang="ru-RU" sz="4000" dirty="0" err="1"/>
              <a:t>Косалиева</a:t>
            </a:r>
            <a:r>
              <a:rPr lang="ru-RU" sz="4000" dirty="0"/>
              <a:t> А.Ж.</a:t>
            </a:r>
          </a:p>
        </p:txBody>
      </p:sp>
      <p:sp>
        <p:nvSpPr>
          <p:cNvPr id="4" name="Текст 3"/>
          <p:cNvSpPr>
            <a:spLocks noGrp="1"/>
          </p:cNvSpPr>
          <p:nvPr>
            <p:ph type="body" sz="quarter" idx="150"/>
          </p:nvPr>
        </p:nvSpPr>
        <p:spPr>
          <a:xfrm>
            <a:off x="5932593" y="2307725"/>
            <a:ext cx="31998968" cy="1280160"/>
          </a:xfrm>
        </p:spPr>
        <p:txBody>
          <a:bodyPr>
            <a:normAutofit/>
          </a:bodyPr>
          <a:lstStyle/>
          <a:p>
            <a:pPr lvl="0"/>
            <a:r>
              <a:rPr lang="ru-RU" sz="6000" dirty="0"/>
              <a:t>Национальный научный центр  материнства и </a:t>
            </a:r>
            <a:r>
              <a:rPr lang="ru-RU" sz="6000" dirty="0" smtClean="0"/>
              <a:t>детства КФ «</a:t>
            </a:r>
            <a:r>
              <a:rPr lang="en-US" sz="6000" dirty="0" smtClean="0"/>
              <a:t>UMC</a:t>
            </a:r>
            <a:r>
              <a:rPr lang="ru-RU" sz="6000" dirty="0" smtClean="0"/>
              <a:t>»</a:t>
            </a:r>
            <a:endParaRPr lang="en-US" sz="6000" dirty="0">
              <a:sym typeface="Arial"/>
            </a:endParaRPr>
          </a:p>
          <a:p>
            <a:endParaRPr lang="ru-RU" dirty="0"/>
          </a:p>
        </p:txBody>
      </p:sp>
    </p:spTree>
    <p:extLst>
      <p:ext uri="{BB962C8B-B14F-4D97-AF65-F5344CB8AC3E}">
        <p14:creationId xmlns:p14="http://schemas.microsoft.com/office/powerpoint/2010/main" val="2699530513"/>
      </p:ext>
    </p:extLst>
  </p:cSld>
  <p:clrMapOvr>
    <a:masterClrMapping/>
  </p:clrMapOvr>
  <p:timing>
    <p:tnLst>
      <p:par>
        <p:cTn id="1" dur="indefinite" restart="never" nodeType="tmRoot"/>
      </p:par>
    </p:tnLst>
  </p:timing>
</p:sld>
</file>

<file path=ppt/theme/theme1.xml><?xml version="1.0" encoding="utf-8"?>
<a:theme xmlns:a="http://schemas.openxmlformats.org/drawingml/2006/main" name="Without guides">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1431</TotalTime>
  <Words>241</Words>
  <Application>Microsoft Office PowerPoint</Application>
  <PresentationFormat>Произвольный</PresentationFormat>
  <Paragraphs>19</Paragraphs>
  <Slides>1</Slides>
  <Notes>1</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vt:i4>
      </vt:variant>
    </vt:vector>
  </HeadingPairs>
  <TitlesOfParts>
    <vt:vector size="6" baseType="lpstr">
      <vt:lpstr>Arial</vt:lpstr>
      <vt:lpstr>Calibri</vt:lpstr>
      <vt:lpstr>Times New Roman</vt:lpstr>
      <vt:lpstr>Trebuchet MS</vt:lpstr>
      <vt:lpstr>Without guides</vt:lpstr>
      <vt:lpstr>Презентация PowerPoint</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Сыздыкова Алма Алибековна</cp:lastModifiedBy>
  <cp:revision>92</cp:revision>
  <dcterms:created xsi:type="dcterms:W3CDTF">2012-02-03T19:11:35Z</dcterms:created>
  <dcterms:modified xsi:type="dcterms:W3CDTF">2020-11-30T02:56:52Z</dcterms:modified>
  <cp:category>Research poster templates</cp:category>
</cp:coreProperties>
</file>