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66" autoAdjust="0"/>
    <p:restoredTop sz="79073" autoAdjust="0"/>
  </p:normalViewPr>
  <p:slideViewPr>
    <p:cSldViewPr snapToGrid="0" snapToObjects="1" showGuides="1">
      <p:cViewPr varScale="1">
        <p:scale>
          <a:sx n="19" d="100"/>
          <a:sy n="19" d="100"/>
        </p:scale>
        <p:origin x="2646" y="120"/>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11/24/2020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11/24/2020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smtClean="0"/>
              <a:t>* </a:t>
            </a:r>
            <a:r>
              <a:rPr lang="ru-RU" dirty="0" smtClean="0"/>
              <a:t>Используйте </a:t>
            </a:r>
            <a:r>
              <a:rPr lang="en-US" dirty="0" err="1" smtClean="0"/>
              <a:t>этот</a:t>
            </a:r>
            <a:r>
              <a:rPr lang="en-US" dirty="0" smtClean="0"/>
              <a:t> </a:t>
            </a:r>
            <a:r>
              <a:rPr lang="en-US" dirty="0"/>
              <a:t>шаблон соответствующим образом. </a:t>
            </a:r>
            <a:endParaRPr lang="ru-RU" dirty="0" smtClean="0"/>
          </a:p>
          <a:p>
            <a:pPr marL="0" indent="0" algn="l" rtl="0">
              <a:buFont typeface="Arial" panose="020B0604020202020204" pitchFamily="34" charset="0"/>
              <a:buNone/>
            </a:pPr>
            <a:endParaRPr lang="ru-RU" dirty="0" smtClean="0"/>
          </a:p>
          <a:p>
            <a:pPr marL="0" indent="0" algn="l" rtl="0">
              <a:buFont typeface="Arial" panose="020B0604020202020204" pitchFamily="34" charset="0"/>
              <a:buNone/>
            </a:pPr>
            <a:r>
              <a:rPr lang="en-US" dirty="0" smtClean="0"/>
              <a:t>* </a:t>
            </a:r>
            <a:r>
              <a:rPr lang="en-US" dirty="0" err="1" smtClean="0"/>
              <a:t>Заголовки</a:t>
            </a:r>
            <a:r>
              <a:rPr lang="en-US" dirty="0" smtClean="0"/>
              <a:t> </a:t>
            </a:r>
            <a:r>
              <a:rPr lang="en-US" dirty="0"/>
              <a:t>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en-US" dirty="0" smtClean="0"/>
              <a:t>(</a:t>
            </a:r>
            <a:r>
              <a:rPr lang="ru-RU" b="1" dirty="0" smtClean="0"/>
              <a:t>З</a:t>
            </a:r>
            <a:r>
              <a:rPr lang="en-US" b="1" dirty="0" err="1" smtClean="0"/>
              <a:t>аглавие</a:t>
            </a:r>
            <a:r>
              <a:rPr lang="en-US" dirty="0"/>
              <a:t>, Calibri, жирный, 80; </a:t>
            </a:r>
            <a:r>
              <a:rPr lang="en-US" b="1" dirty="0"/>
              <a:t>Автор</a:t>
            </a:r>
            <a:r>
              <a:rPr lang="en-US" dirty="0"/>
              <a:t>, </a:t>
            </a:r>
            <a:r>
              <a:rPr lang="en-US" dirty="0" smtClean="0"/>
              <a:t>Calibri, </a:t>
            </a:r>
            <a:r>
              <a:rPr lang="en-US" dirty="0"/>
              <a:t>66; </a:t>
            </a:r>
            <a:r>
              <a:rPr lang="ru-RU" b="1" dirty="0" smtClean="0"/>
              <a:t>Место работы</a:t>
            </a:r>
            <a:r>
              <a:rPr lang="en-US" dirty="0" smtClean="0"/>
              <a:t>, Calibri, </a:t>
            </a:r>
            <a:r>
              <a:rPr lang="en-US" dirty="0"/>
              <a:t>44; </a:t>
            </a:r>
            <a:r>
              <a:rPr lang="en-US" b="1" dirty="0"/>
              <a:t>Подзаголовок</a:t>
            </a:r>
            <a:r>
              <a:rPr lang="en-US" dirty="0"/>
              <a:t>, Calibri, все заглавные, жирный, подчеркивание, 60; </a:t>
            </a:r>
            <a:r>
              <a:rPr lang="en-US" b="1" dirty="0"/>
              <a:t>Текст</a:t>
            </a:r>
            <a:r>
              <a:rPr lang="en-US" dirty="0"/>
              <a:t>, </a:t>
            </a:r>
            <a:r>
              <a:rPr lang="en-US" dirty="0" smtClean="0"/>
              <a:t>Calibri, </a:t>
            </a:r>
            <a:r>
              <a:rPr lang="en-US" dirty="0"/>
              <a:t>54; </a:t>
            </a:r>
            <a:r>
              <a:rPr lang="en-US" b="1" dirty="0"/>
              <a:t>Контакты</a:t>
            </a:r>
            <a:r>
              <a:rPr lang="en-US" dirty="0"/>
              <a:t>, Calibri, подчеркивание, 40, текст Calibri, 40) </a:t>
            </a:r>
            <a:endParaRPr lang="ru-RU" dirty="0" smtClean="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smtClean="0"/>
              <a:t>показать </a:t>
            </a:r>
            <a:r>
              <a:rPr lang="en-US" dirty="0" err="1" smtClean="0"/>
              <a:t>ваш</a:t>
            </a:r>
            <a:r>
              <a:rPr lang="en-US" dirty="0" smtClean="0"/>
              <a:t> </a:t>
            </a:r>
            <a:r>
              <a:rPr lang="en-US" b="1" dirty="0" smtClean="0"/>
              <a:t>п</a:t>
            </a:r>
            <a:r>
              <a:rPr lang="ru-RU" b="1" dirty="0" smtClean="0"/>
              <a:t>остер</a:t>
            </a:r>
            <a:r>
              <a:rPr lang="en-US" b="1" dirty="0" smtClean="0"/>
              <a:t> </a:t>
            </a:r>
            <a:r>
              <a:rPr lang="en-US" b="1" dirty="0"/>
              <a:t>и </a:t>
            </a:r>
            <a:r>
              <a:rPr lang="en-US" dirty="0"/>
              <a:t> </a:t>
            </a:r>
            <a:r>
              <a:rPr lang="en-US" b="1" dirty="0" smtClean="0"/>
              <a:t>Zoom</a:t>
            </a:r>
            <a:r>
              <a:rPr lang="en-US" b="1" baseline="0" dirty="0" smtClean="0"/>
              <a:t> </a:t>
            </a:r>
            <a:r>
              <a:rPr lang="ru-RU" b="0" baseline="0" dirty="0" smtClean="0"/>
              <a:t>в</a:t>
            </a:r>
            <a:r>
              <a:rPr lang="en-US" dirty="0" smtClean="0"/>
              <a:t> </a:t>
            </a:r>
            <a:r>
              <a:rPr lang="en-US" b="1" dirty="0" smtClean="0"/>
              <a:t>ПОЛНОЭКРАНН</a:t>
            </a:r>
            <a:r>
              <a:rPr lang="ru-RU" b="1" dirty="0" smtClean="0"/>
              <a:t>ОМ </a:t>
            </a:r>
            <a:r>
              <a:rPr lang="ru-RU" b="0" dirty="0" smtClean="0"/>
              <a:t>режиме</a:t>
            </a:r>
            <a:r>
              <a:rPr lang="en-US" b="0" dirty="0" smtClean="0"/>
              <a:t>. </a:t>
            </a:r>
            <a:endParaRPr lang="en-US" b="0" dirty="0"/>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 xmlns:a16="http://schemas.microsoft.com/office/drawing/2014/main"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 xmlns:a16="http://schemas.microsoft.com/office/drawing/2014/main"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 xmlns:a16="http://schemas.microsoft.com/office/drawing/2014/main"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 xmlns:a16="http://schemas.microsoft.com/office/drawing/2014/main"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hyperlink" Target="mailto:bekzhd@mail.ru" TargetMode="External"/><Relationship Id="rId7"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1530E01-B262-B047-951C-9A1F3925E675}"/>
              </a:ext>
            </a:extLst>
          </p:cNvPr>
          <p:cNvSpPr>
            <a:spLocks noGrp="1"/>
          </p:cNvSpPr>
          <p:nvPr>
            <p:ph type="body" sz="quarter" idx="10"/>
          </p:nvPr>
        </p:nvSpPr>
        <p:spPr>
          <a:xfrm>
            <a:off x="1117354" y="5433248"/>
            <a:ext cx="10056813" cy="20571763"/>
          </a:xfrm>
          <a:ln>
            <a:noFill/>
          </a:ln>
        </p:spPr>
        <p:txBody>
          <a:bodyPr/>
          <a:lstStyle/>
          <a:p>
            <a:r>
              <a:rPr lang="ru-RU" sz="5400" dirty="0"/>
              <a:t>В современных условиях развития нашего государства большая ответственность за здоровье нации возлагается на всех медицинских работников. Немаловажная роль в этом принадлежит специалистам среднего медицинского звена. В этой связи их подготовка в медицинском колледже имеет существенное значение.</a:t>
            </a:r>
            <a:r>
              <a:rPr lang="en-US" sz="5400" dirty="0" smtClean="0"/>
              <a:t> </a:t>
            </a:r>
            <a:endParaRPr lang="en-US" sz="5400" dirty="0"/>
          </a:p>
          <a:p>
            <a:pPr algn="l" rtl="0"/>
            <a:endParaRPr lang="en-US" sz="5400" dirty="0"/>
          </a:p>
          <a:p>
            <a:pPr algn="l" rtl="0"/>
            <a:r>
              <a:rPr lang="ru-RU" sz="5400" dirty="0" smtClean="0"/>
              <a:t>Цели</a:t>
            </a:r>
            <a:r>
              <a:rPr lang="en-US" sz="5400" dirty="0" smtClean="0"/>
              <a:t>:</a:t>
            </a:r>
            <a:endParaRPr lang="en-US" sz="5400" dirty="0"/>
          </a:p>
          <a:p>
            <a:r>
              <a:rPr lang="en-US" sz="5400" dirty="0" smtClean="0"/>
              <a:t>1</a:t>
            </a:r>
            <a:r>
              <a:rPr lang="en-US" sz="5400" dirty="0"/>
              <a:t>. </a:t>
            </a:r>
            <a:r>
              <a:rPr lang="ru-RU" sz="5400" dirty="0"/>
              <a:t>Анализ образовательной </a:t>
            </a:r>
            <a:r>
              <a:rPr lang="ru-RU" sz="5400" dirty="0" smtClean="0"/>
              <a:t>деятельности.</a:t>
            </a:r>
            <a:endParaRPr lang="en-US" sz="5400" dirty="0"/>
          </a:p>
          <a:p>
            <a:r>
              <a:rPr lang="en-US" sz="5400" dirty="0" smtClean="0"/>
              <a:t>2</a:t>
            </a:r>
            <a:r>
              <a:rPr lang="ru-RU" sz="5400" dirty="0" smtClean="0"/>
              <a:t>. Оценка </a:t>
            </a:r>
            <a:r>
              <a:rPr lang="ru-RU" sz="5400" dirty="0"/>
              <a:t>возможности внедрения новых подходов при обучении будущих средних специальных медработников по квалификации «Медицинская сестра общей практики».</a:t>
            </a:r>
            <a:endParaRPr lang="en-US" sz="5400" dirty="0"/>
          </a:p>
          <a:p>
            <a:pPr algn="l" rtl="0"/>
            <a:endParaRPr lang="en-US" sz="5400" dirty="0"/>
          </a:p>
          <a:p>
            <a:pPr algn="l" rtl="0"/>
            <a:endParaRPr lang="en-US" sz="5400" dirty="0"/>
          </a:p>
        </p:txBody>
      </p:sp>
      <p:sp>
        <p:nvSpPr>
          <p:cNvPr id="3" name="Text Placeholder 2">
            <a:extLst>
              <a:ext uri="{FF2B5EF4-FFF2-40B4-BE49-F238E27FC236}">
                <a16:creationId xmlns="" xmlns:a16="http://schemas.microsoft.com/office/drawing/2014/main"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 xmlns:a16="http://schemas.microsoft.com/office/drawing/2014/main" id="{37463DA4-FC08-CE4D-9DCC-0E2B3981D8B6}"/>
              </a:ext>
            </a:extLst>
          </p:cNvPr>
          <p:cNvSpPr>
            <a:spLocks noGrp="1"/>
          </p:cNvSpPr>
          <p:nvPr>
            <p:ph type="body" sz="quarter" idx="21"/>
          </p:nvPr>
        </p:nvSpPr>
        <p:spPr>
          <a:xfrm>
            <a:off x="11650850" y="5576546"/>
            <a:ext cx="10048874" cy="7940613"/>
          </a:xfrm>
          <a:ln>
            <a:noFill/>
          </a:ln>
        </p:spPr>
        <p:txBody>
          <a:bodyPr/>
          <a:lstStyle/>
          <a:p>
            <a:r>
              <a:rPr lang="ru-RU" sz="5400" dirty="0"/>
              <a:t>Одним из перспективных направлений в образовании будущих </a:t>
            </a:r>
            <a:r>
              <a:rPr lang="ru-RU" sz="5400" dirty="0" smtClean="0"/>
              <a:t>медсестер, </a:t>
            </a:r>
            <a:r>
              <a:rPr lang="ru-RU" sz="5400" dirty="0"/>
              <a:t>на наш </a:t>
            </a:r>
            <a:r>
              <a:rPr lang="ru-RU" sz="5400" dirty="0" smtClean="0"/>
              <a:t>взгляд, </a:t>
            </a:r>
            <a:r>
              <a:rPr lang="ru-RU" sz="5400" dirty="0"/>
              <a:t>является внедрение </a:t>
            </a:r>
            <a:r>
              <a:rPr lang="ru-RU" sz="5400" dirty="0" err="1"/>
              <a:t>компетентностного</a:t>
            </a:r>
            <a:r>
              <a:rPr lang="ru-RU" sz="5400" dirty="0"/>
              <a:t> подхода к обучению, что даст возможность выхода медицинского образования на качественно новый </a:t>
            </a:r>
            <a:r>
              <a:rPr lang="ru-RU" sz="5400" dirty="0" smtClean="0"/>
              <a:t>уровень</a:t>
            </a:r>
            <a:r>
              <a:rPr lang="ru-RU" sz="5400" baseline="30000" dirty="0" smtClean="0"/>
              <a:t>1</a:t>
            </a:r>
            <a:r>
              <a:rPr lang="ru-RU" sz="5400" dirty="0"/>
              <a:t>. </a:t>
            </a:r>
            <a:endParaRPr lang="en-US" sz="5400" dirty="0"/>
          </a:p>
        </p:txBody>
      </p:sp>
      <p:sp>
        <p:nvSpPr>
          <p:cNvPr id="6" name="Text Placeholder 5">
            <a:extLst>
              <a:ext uri="{FF2B5EF4-FFF2-40B4-BE49-F238E27FC236}">
                <a16:creationId xmlns="" xmlns:a16="http://schemas.microsoft.com/office/drawing/2014/main" id="{46B6BEA9-4297-E841-A5DF-3FC5A8689F40}"/>
              </a:ext>
            </a:extLst>
          </p:cNvPr>
          <p:cNvSpPr>
            <a:spLocks noGrp="1"/>
          </p:cNvSpPr>
          <p:nvPr>
            <p:ph type="body" sz="quarter" idx="22"/>
          </p:nvPr>
        </p:nvSpPr>
        <p:spPr>
          <a:xfrm>
            <a:off x="11738037" y="4547430"/>
            <a:ext cx="10048875" cy="1107988"/>
          </a:xfrm>
        </p:spPr>
        <p:txBody>
          <a:bodyPr/>
          <a:lstStyle/>
          <a:p>
            <a:pPr algn="l" rtl="0"/>
            <a:r>
              <a:rPr lang="en-US" sz="6000" dirty="0"/>
              <a:t>МЕТОДЫ</a:t>
            </a:r>
          </a:p>
        </p:txBody>
      </p:sp>
      <p:sp>
        <p:nvSpPr>
          <p:cNvPr id="7" name="Text Placeholder 6">
            <a:extLst>
              <a:ext uri="{FF2B5EF4-FFF2-40B4-BE49-F238E27FC236}">
                <a16:creationId xmlns="" xmlns:a16="http://schemas.microsoft.com/office/drawing/2014/main" id="{675A44F2-261A-4B4F-ADD6-1D08D12764A1}"/>
              </a:ext>
            </a:extLst>
          </p:cNvPr>
          <p:cNvSpPr>
            <a:spLocks noGrp="1"/>
          </p:cNvSpPr>
          <p:nvPr>
            <p:ph type="body" sz="quarter" idx="23"/>
          </p:nvPr>
        </p:nvSpPr>
        <p:spPr>
          <a:xfrm>
            <a:off x="22373696" y="5433248"/>
            <a:ext cx="10048874" cy="17580175"/>
          </a:xfrm>
          <a:ln>
            <a:noFill/>
          </a:ln>
        </p:spPr>
        <p:txBody>
          <a:bodyPr/>
          <a:lstStyle/>
          <a:p>
            <a:r>
              <a:rPr lang="ru-RU" sz="5400" dirty="0"/>
              <a:t>Компетенция – это готовность человека к мобилизации знаний, умений и внешних ресурсов для эффективной деятельности в конкретной жизненной </a:t>
            </a:r>
            <a:r>
              <a:rPr lang="ru-RU" sz="5400" dirty="0" smtClean="0"/>
              <a:t>ситуации</a:t>
            </a:r>
            <a:r>
              <a:rPr lang="ru-RU" sz="5400" baseline="30000" dirty="0" smtClean="0"/>
              <a:t>2</a:t>
            </a:r>
            <a:r>
              <a:rPr lang="ru-RU" sz="5400" dirty="0" smtClean="0"/>
              <a:t>.</a:t>
            </a:r>
          </a:p>
          <a:p>
            <a:r>
              <a:rPr lang="ru-RU" sz="5400" baseline="30000" dirty="0" smtClean="0"/>
              <a:t> </a:t>
            </a:r>
            <a:r>
              <a:rPr lang="ru-RU" sz="5400" dirty="0" smtClean="0"/>
              <a:t>По </a:t>
            </a:r>
            <a:r>
              <a:rPr lang="ru-RU" sz="5400" dirty="0"/>
              <a:t>специальности 0302000 «Сестринское дело», квалификации 0302033 «Медицинская сестра общей практики» студенты обучаются по более чем 40 дисциплинам.</a:t>
            </a:r>
          </a:p>
          <a:p>
            <a:r>
              <a:rPr lang="ru-RU" sz="5400" dirty="0" smtClean="0"/>
              <a:t>Анализ </a:t>
            </a:r>
            <a:r>
              <a:rPr lang="ru-RU" sz="5400" dirty="0"/>
              <a:t>этих дисциплин, выявил, что ряд из них содержат компетенции доказательной </a:t>
            </a:r>
            <a:r>
              <a:rPr lang="ru-RU" sz="5400" dirty="0" smtClean="0"/>
              <a:t>медицины</a:t>
            </a:r>
            <a:r>
              <a:rPr lang="ru-RU" sz="5400" baseline="30000" dirty="0" smtClean="0"/>
              <a:t>3</a:t>
            </a:r>
            <a:r>
              <a:rPr lang="ru-RU" sz="5400" dirty="0" smtClean="0"/>
              <a:t> </a:t>
            </a:r>
            <a:r>
              <a:rPr lang="ru-RU" sz="5400" dirty="0"/>
              <a:t>и доказательной сестринской практики (ДСП</a:t>
            </a:r>
            <a:r>
              <a:rPr lang="ru-RU" sz="5400" dirty="0" smtClean="0"/>
              <a:t>).</a:t>
            </a:r>
          </a:p>
          <a:p>
            <a:pPr algn="ctr"/>
            <a:r>
              <a:rPr lang="ru-RU" sz="5400" b="1" dirty="0" smtClean="0"/>
              <a:t>Дисциплины, содержащие компетенции доказательной медицины</a:t>
            </a:r>
            <a:endParaRPr lang="ru-RU" sz="5400" b="1" dirty="0"/>
          </a:p>
        </p:txBody>
      </p:sp>
      <p:sp>
        <p:nvSpPr>
          <p:cNvPr id="8" name="Text Placeholder 7">
            <a:extLst>
              <a:ext uri="{FF2B5EF4-FFF2-40B4-BE49-F238E27FC236}">
                <a16:creationId xmlns="" xmlns:a16="http://schemas.microsoft.com/office/drawing/2014/main" id="{B143406A-EFD5-2E42-865D-A4660751CC04}"/>
              </a:ext>
            </a:extLst>
          </p:cNvPr>
          <p:cNvSpPr>
            <a:spLocks noGrp="1"/>
          </p:cNvSpPr>
          <p:nvPr>
            <p:ph type="body" sz="quarter" idx="24"/>
          </p:nvPr>
        </p:nvSpPr>
        <p:spPr>
          <a:xfrm>
            <a:off x="22271532" y="4547430"/>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 xmlns:a16="http://schemas.microsoft.com/office/drawing/2014/main" id="{C386760F-A20B-7F49-9C12-75A6EA2EB5FA}"/>
              </a:ext>
            </a:extLst>
          </p:cNvPr>
          <p:cNvSpPr>
            <a:spLocks noGrp="1"/>
          </p:cNvSpPr>
          <p:nvPr>
            <p:ph type="body" sz="quarter" idx="25"/>
          </p:nvPr>
        </p:nvSpPr>
        <p:spPr>
          <a:xfrm>
            <a:off x="32820003" y="4599015"/>
            <a:ext cx="10047018" cy="1107988"/>
          </a:xfrm>
        </p:spPr>
        <p:txBody>
          <a:bodyPr/>
          <a:lstStyle/>
          <a:p>
            <a:pPr algn="l" rtl="0"/>
            <a:r>
              <a:rPr lang="en-US" sz="6000" dirty="0"/>
              <a:t>ВЫВОДЫ И </a:t>
            </a:r>
            <a:r>
              <a:rPr lang="ru-RU" sz="6000" dirty="0" smtClean="0"/>
              <a:t>ЗНАЧЕНИЯ</a:t>
            </a:r>
            <a:endParaRPr lang="en-US" sz="6000" dirty="0"/>
          </a:p>
        </p:txBody>
      </p:sp>
      <p:sp>
        <p:nvSpPr>
          <p:cNvPr id="10" name="Text Placeholder 9">
            <a:extLst>
              <a:ext uri="{FF2B5EF4-FFF2-40B4-BE49-F238E27FC236}">
                <a16:creationId xmlns="" xmlns:a16="http://schemas.microsoft.com/office/drawing/2014/main" id="{D765487B-6201-6645-A16D-3E0C337F590E}"/>
              </a:ext>
            </a:extLst>
          </p:cNvPr>
          <p:cNvSpPr>
            <a:spLocks noGrp="1"/>
          </p:cNvSpPr>
          <p:nvPr>
            <p:ph type="body" sz="quarter" idx="26"/>
          </p:nvPr>
        </p:nvSpPr>
        <p:spPr>
          <a:xfrm>
            <a:off x="32727365" y="5707003"/>
            <a:ext cx="10047018" cy="12819038"/>
          </a:xfrm>
          <a:ln>
            <a:noFill/>
          </a:ln>
        </p:spPr>
        <p:txBody>
          <a:bodyPr/>
          <a:lstStyle/>
          <a:p>
            <a:r>
              <a:rPr lang="ru-RU" sz="5400" dirty="0" smtClean="0"/>
              <a:t>1. В </a:t>
            </a:r>
            <a:r>
              <a:rPr lang="ru-RU" sz="5400" dirty="0"/>
              <a:t>соответствии с потребностями реформы сестринского дела в Казахстане необходимо перестроить на научной основе образовательные учебные программы для подготовки медицинских специалистов среднего звена.</a:t>
            </a:r>
          </a:p>
          <a:p>
            <a:r>
              <a:rPr lang="ru-RU" sz="5400" dirty="0" smtClean="0"/>
              <a:t>2</a:t>
            </a:r>
            <a:r>
              <a:rPr lang="ru-RU" sz="5400" dirty="0"/>
              <a:t>. Следует внести определенные изменения в рабочие учебные программы и </a:t>
            </a:r>
            <a:r>
              <a:rPr lang="ru-RU" sz="5400" dirty="0" err="1"/>
              <a:t>силлабусы</a:t>
            </a:r>
            <a:r>
              <a:rPr lang="ru-RU" sz="5400" dirty="0"/>
              <a:t> ряда дисциплин, изучаемых будущими медсестрами.</a:t>
            </a:r>
            <a:endParaRPr lang="en-US" sz="5400" dirty="0"/>
          </a:p>
        </p:txBody>
      </p:sp>
      <p:sp>
        <p:nvSpPr>
          <p:cNvPr id="13" name="Text Placeholder 12">
            <a:extLst>
              <a:ext uri="{FF2B5EF4-FFF2-40B4-BE49-F238E27FC236}">
                <a16:creationId xmlns="" xmlns:a16="http://schemas.microsoft.com/office/drawing/2014/main" id="{AFE1A4CF-366C-A74D-90FE-5ACBD4F9943B}"/>
              </a:ext>
            </a:extLst>
          </p:cNvPr>
          <p:cNvSpPr>
            <a:spLocks noGrp="1"/>
          </p:cNvSpPr>
          <p:nvPr>
            <p:ph type="body" sz="quarter" idx="29"/>
          </p:nvPr>
        </p:nvSpPr>
        <p:spPr>
          <a:xfrm>
            <a:off x="33121220" y="27589464"/>
            <a:ext cx="10047018" cy="800211"/>
          </a:xfrm>
        </p:spPr>
        <p:txBody>
          <a:bodyPr/>
          <a:lstStyle/>
          <a:p>
            <a:pPr rtl="0"/>
            <a:r>
              <a:rPr lang="en-US" sz="4000" b="0" dirty="0"/>
              <a:t>КОНТАКТЫ</a:t>
            </a:r>
          </a:p>
        </p:txBody>
      </p:sp>
      <p:sp>
        <p:nvSpPr>
          <p:cNvPr id="16" name="Text Placeholder 15">
            <a:extLst>
              <a:ext uri="{FF2B5EF4-FFF2-40B4-BE49-F238E27FC236}">
                <a16:creationId xmlns="" xmlns:a16="http://schemas.microsoft.com/office/drawing/2014/main" id="{778E60CB-0EBD-4049-BFFD-CAB062A6CA0F}"/>
              </a:ext>
            </a:extLst>
          </p:cNvPr>
          <p:cNvSpPr>
            <a:spLocks noGrp="1"/>
          </p:cNvSpPr>
          <p:nvPr>
            <p:ph type="body" sz="quarter" idx="150"/>
          </p:nvPr>
        </p:nvSpPr>
        <p:spPr>
          <a:xfrm>
            <a:off x="5932593" y="3247674"/>
            <a:ext cx="31998968" cy="1140673"/>
          </a:xfrm>
        </p:spPr>
        <p:txBody>
          <a:bodyPr/>
          <a:lstStyle/>
          <a:p>
            <a:r>
              <a:rPr lang="ru-RU" dirty="0"/>
              <a:t>ТОО «Высший медико-стоматологический колледж профессора </a:t>
            </a:r>
            <a:r>
              <a:rPr lang="ru-RU" dirty="0" err="1"/>
              <a:t>Рузуддинова</a:t>
            </a:r>
            <a:r>
              <a:rPr lang="ru-RU" dirty="0"/>
              <a:t>», г. Алматы</a:t>
            </a:r>
            <a:endParaRPr lang="en-US" dirty="0"/>
          </a:p>
        </p:txBody>
      </p:sp>
      <p:sp>
        <p:nvSpPr>
          <p:cNvPr id="17" name="Text Placeholder 16">
            <a:extLst>
              <a:ext uri="{FF2B5EF4-FFF2-40B4-BE49-F238E27FC236}">
                <a16:creationId xmlns="" xmlns:a16="http://schemas.microsoft.com/office/drawing/2014/main" id="{9AAB1BB2-2685-9042-9343-90636A19089C}"/>
              </a:ext>
            </a:extLst>
          </p:cNvPr>
          <p:cNvSpPr>
            <a:spLocks noGrp="1"/>
          </p:cNvSpPr>
          <p:nvPr>
            <p:ph type="body" sz="quarter" idx="151"/>
          </p:nvPr>
        </p:nvSpPr>
        <p:spPr>
          <a:xfrm>
            <a:off x="6145761" y="2200049"/>
            <a:ext cx="31998968" cy="1280160"/>
          </a:xfrm>
        </p:spPr>
        <p:txBody>
          <a:bodyPr/>
          <a:lstStyle/>
          <a:p>
            <a:pPr algn="l"/>
            <a:r>
              <a:rPr lang="ru-RU" dirty="0"/>
              <a:t>Бекмагамбетова </a:t>
            </a:r>
            <a:r>
              <a:rPr lang="ru-RU" dirty="0" err="1"/>
              <a:t>Жамиля</a:t>
            </a:r>
            <a:r>
              <a:rPr lang="ru-RU" dirty="0"/>
              <a:t> </a:t>
            </a:r>
            <a:r>
              <a:rPr lang="ru-RU" dirty="0" err="1"/>
              <a:t>Джатаевна</a:t>
            </a:r>
            <a:endParaRPr lang="en-US" dirty="0"/>
          </a:p>
        </p:txBody>
      </p:sp>
      <p:sp>
        <p:nvSpPr>
          <p:cNvPr id="18" name="Text Placeholder 17">
            <a:extLst>
              <a:ext uri="{FF2B5EF4-FFF2-40B4-BE49-F238E27FC236}">
                <a16:creationId xmlns="" xmlns:a16="http://schemas.microsoft.com/office/drawing/2014/main" id="{9FFCC562-221F-8240-980C-DCE8D467C705}"/>
              </a:ext>
            </a:extLst>
          </p:cNvPr>
          <p:cNvSpPr>
            <a:spLocks noGrp="1"/>
          </p:cNvSpPr>
          <p:nvPr>
            <p:ph type="body" sz="quarter" idx="153"/>
          </p:nvPr>
        </p:nvSpPr>
        <p:spPr>
          <a:xfrm>
            <a:off x="1173690" y="103712"/>
            <a:ext cx="41693331" cy="2503225"/>
          </a:xfrm>
        </p:spPr>
        <p:txBody>
          <a:bodyPr>
            <a:noAutofit/>
          </a:bodyPr>
          <a:lstStyle/>
          <a:p>
            <a:pPr>
              <a:spcBef>
                <a:spcPts val="0"/>
              </a:spcBef>
            </a:pPr>
            <a:r>
              <a:rPr lang="ru-RU" dirty="0"/>
              <a:t>К ВОПРОСУ О РЕФОРМЕ В ОБУЧЕНИИ БУДУЩИХ МЕДИЦИНСКИХ СПЕЦИАЛИСТОВ </a:t>
            </a:r>
            <a:endParaRPr lang="ru-RU" dirty="0" smtClean="0"/>
          </a:p>
          <a:p>
            <a:pPr>
              <a:spcBef>
                <a:spcPts val="0"/>
              </a:spcBef>
            </a:pPr>
            <a:r>
              <a:rPr lang="ru-RU" dirty="0" smtClean="0"/>
              <a:t>СРЕДНЕГО </a:t>
            </a:r>
            <a:r>
              <a:rPr lang="ru-RU" dirty="0"/>
              <a:t>ЗВЕНА СЕСТРИНСКОМУ ДЕЛУ</a:t>
            </a:r>
            <a:endParaRPr lang="en-US" dirty="0"/>
          </a:p>
        </p:txBody>
      </p:sp>
      <p:sp>
        <p:nvSpPr>
          <p:cNvPr id="24" name="Text Placeholder 9">
            <a:extLst>
              <a:ext uri="{FF2B5EF4-FFF2-40B4-BE49-F238E27FC236}">
                <a16:creationId xmlns="" xmlns:a16="http://schemas.microsoft.com/office/drawing/2014/main" id="{331FCF4F-5A5A-744C-B561-0958FFB80594}"/>
              </a:ext>
            </a:extLst>
          </p:cNvPr>
          <p:cNvSpPr txBox="1">
            <a:spLocks/>
          </p:cNvSpPr>
          <p:nvPr/>
        </p:nvSpPr>
        <p:spPr>
          <a:xfrm>
            <a:off x="33422437" y="28370970"/>
            <a:ext cx="9444584" cy="107719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ctr"/>
            <a:r>
              <a:rPr lang="en-US" sz="4000" dirty="0" smtClean="0">
                <a:hlinkClick r:id="rId3"/>
              </a:rPr>
              <a:t>E-mail: bekzhd@mail.ru</a:t>
            </a:r>
            <a:endParaRPr lang="ru-RU" sz="4000" dirty="0" smtClean="0"/>
          </a:p>
        </p:txBody>
      </p:sp>
      <p:pic>
        <p:nvPicPr>
          <p:cNvPr id="15" name="Рисунок 14"/>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081327" y="29171181"/>
            <a:ext cx="2492694" cy="2513308"/>
          </a:xfrm>
          <a:prstGeom prst="rect">
            <a:avLst/>
          </a:prstGeom>
          <a:noFill/>
          <a:ln>
            <a:noFill/>
          </a:ln>
        </p:spPr>
      </p:pic>
      <p:sp>
        <p:nvSpPr>
          <p:cNvPr id="4" name="Прямоугольник 3"/>
          <p:cNvSpPr/>
          <p:nvPr/>
        </p:nvSpPr>
        <p:spPr>
          <a:xfrm>
            <a:off x="33096542" y="18836169"/>
            <a:ext cx="9677841" cy="7337393"/>
          </a:xfrm>
          <a:prstGeom prst="rect">
            <a:avLst/>
          </a:prstGeom>
        </p:spPr>
        <p:txBody>
          <a:bodyPr wrap="square">
            <a:spAutoFit/>
          </a:bodyPr>
          <a:lstStyle/>
          <a:p>
            <a:pPr>
              <a:lnSpc>
                <a:spcPct val="107000"/>
              </a:lnSpc>
              <a:spcAft>
                <a:spcPts val="0"/>
              </a:spcAft>
            </a:pPr>
            <a:r>
              <a:rPr lang="ru-RU" sz="4000" dirty="0">
                <a:latin typeface="Calibri" panose="020F0502020204030204" pitchFamily="34" charset="0"/>
                <a:cs typeface="Calibri" panose="020F0502020204030204" pitchFamily="34" charset="0"/>
              </a:rPr>
              <a:t>Источники</a:t>
            </a:r>
            <a:r>
              <a:rPr lang="en-US" sz="4000" dirty="0">
                <a:latin typeface="Calibri" panose="020F0502020204030204" pitchFamily="34" charset="0"/>
                <a:cs typeface="Calibri" panose="020F0502020204030204" pitchFamily="34" charset="0"/>
              </a:rPr>
              <a:t>:</a:t>
            </a:r>
            <a:endParaRPr lang="ru-RU" sz="4000" dirty="0">
              <a:latin typeface="Calibri" panose="020F0502020204030204" pitchFamily="34" charset="0"/>
              <a:cs typeface="Calibri" panose="020F0502020204030204" pitchFamily="34" charset="0"/>
            </a:endParaRPr>
          </a:p>
          <a:p>
            <a:pPr>
              <a:lnSpc>
                <a:spcPct val="107000"/>
              </a:lnSpc>
              <a:spcAft>
                <a:spcPts val="0"/>
              </a:spcAft>
            </a:pPr>
            <a:r>
              <a:rPr lang="ru-RU" sz="4000" dirty="0">
                <a:latin typeface="Calibri" panose="020F0502020204030204" pitchFamily="34" charset="0"/>
                <a:cs typeface="Calibri" panose="020F0502020204030204" pitchFamily="34" charset="0"/>
              </a:rPr>
              <a:t>1. </a:t>
            </a:r>
            <a:r>
              <a:rPr lang="ru-RU" sz="4000" dirty="0" err="1">
                <a:latin typeface="Calibri" panose="020F0502020204030204" pitchFamily="34" charset="0"/>
                <a:cs typeface="Calibri" panose="020F0502020204030204" pitchFamily="34" charset="0"/>
              </a:rPr>
              <a:t>Аканов</a:t>
            </a:r>
            <a:r>
              <a:rPr lang="ru-RU" sz="4000" dirty="0">
                <a:latin typeface="Calibri" panose="020F0502020204030204" pitchFamily="34" charset="0"/>
                <a:cs typeface="Calibri" panose="020F0502020204030204" pitchFamily="34" charset="0"/>
              </a:rPr>
              <a:t> А.А. и др. Модель медицинского образования </a:t>
            </a:r>
            <a:r>
              <a:rPr lang="ru-RU" sz="4000" dirty="0" err="1">
                <a:latin typeface="Calibri" panose="020F0502020204030204" pitchFamily="34" charset="0"/>
                <a:cs typeface="Calibri" panose="020F0502020204030204" pitchFamily="34" charset="0"/>
              </a:rPr>
              <a:t>КазНМУ</a:t>
            </a:r>
            <a:r>
              <a:rPr lang="ru-RU" sz="4000" dirty="0">
                <a:latin typeface="Calibri" panose="020F0502020204030204" pitchFamily="34" charset="0"/>
                <a:cs typeface="Calibri" panose="020F0502020204030204" pitchFamily="34" charset="0"/>
              </a:rPr>
              <a:t> им. С.Д. </a:t>
            </a:r>
            <a:r>
              <a:rPr lang="ru-RU" sz="4000" dirty="0" err="1">
                <a:latin typeface="Calibri" panose="020F0502020204030204" pitchFamily="34" charset="0"/>
                <a:cs typeface="Calibri" panose="020F0502020204030204" pitchFamily="34" charset="0"/>
              </a:rPr>
              <a:t>Асфендиярова</a:t>
            </a:r>
            <a:r>
              <a:rPr lang="ru-RU" sz="4000" dirty="0">
                <a:latin typeface="Calibri" panose="020F0502020204030204" pitchFamily="34" charset="0"/>
                <a:cs typeface="Calibri" panose="020F0502020204030204" pitchFamily="34" charset="0"/>
              </a:rPr>
              <a:t>. Вып.1. – Алматы: </a:t>
            </a:r>
            <a:r>
              <a:rPr lang="ru-RU" sz="4000" dirty="0" err="1">
                <a:latin typeface="Calibri" panose="020F0502020204030204" pitchFamily="34" charset="0"/>
                <a:cs typeface="Calibri" panose="020F0502020204030204" pitchFamily="34" charset="0"/>
              </a:rPr>
              <a:t>КазНМУ</a:t>
            </a:r>
            <a:r>
              <a:rPr lang="ru-RU" sz="4000" dirty="0">
                <a:latin typeface="Calibri" panose="020F0502020204030204" pitchFamily="34" charset="0"/>
                <a:cs typeface="Calibri" panose="020F0502020204030204" pitchFamily="34" charset="0"/>
              </a:rPr>
              <a:t> им. С.Д. </a:t>
            </a:r>
            <a:r>
              <a:rPr lang="ru-RU" sz="4000" dirty="0" err="1">
                <a:latin typeface="Calibri" panose="020F0502020204030204" pitchFamily="34" charset="0"/>
                <a:cs typeface="Calibri" panose="020F0502020204030204" pitchFamily="34" charset="0"/>
              </a:rPr>
              <a:t>Асфендиярова</a:t>
            </a:r>
            <a:r>
              <a:rPr lang="ru-RU" sz="4000" dirty="0">
                <a:latin typeface="Calibri" panose="020F0502020204030204" pitchFamily="34" charset="0"/>
                <a:cs typeface="Calibri" panose="020F0502020204030204" pitchFamily="34" charset="0"/>
              </a:rPr>
              <a:t>, 2010. – Ч.1. - 103 с.</a:t>
            </a:r>
          </a:p>
          <a:p>
            <a:pPr>
              <a:lnSpc>
                <a:spcPct val="107000"/>
              </a:lnSpc>
              <a:spcAft>
                <a:spcPts val="0"/>
              </a:spcAft>
            </a:pPr>
            <a:r>
              <a:rPr lang="ru-RU" sz="4000" dirty="0" smtClean="0">
                <a:latin typeface="Calibri" panose="020F0502020204030204" pitchFamily="34" charset="0"/>
                <a:cs typeface="Calibri" panose="020F0502020204030204" pitchFamily="34" charset="0"/>
              </a:rPr>
              <a:t>2. Хуторской </a:t>
            </a:r>
            <a:r>
              <a:rPr lang="ru-RU" sz="4000" dirty="0">
                <a:latin typeface="Calibri" panose="020F0502020204030204" pitchFamily="34" charset="0"/>
                <a:cs typeface="Calibri" panose="020F0502020204030204" pitchFamily="34" charset="0"/>
              </a:rPr>
              <a:t>А.В. Образовательные компетенции и методология дидактики.- http://khutorskoy.ru/be/2016/0803/.</a:t>
            </a:r>
          </a:p>
          <a:p>
            <a:pPr>
              <a:lnSpc>
                <a:spcPct val="107000"/>
              </a:lnSpc>
            </a:pPr>
            <a:r>
              <a:rPr lang="ru-RU" sz="4000" dirty="0" smtClean="0">
                <a:latin typeface="Calibri" panose="020F0502020204030204" pitchFamily="34" charset="0"/>
                <a:cs typeface="Calibri" panose="020F0502020204030204" pitchFamily="34" charset="0"/>
              </a:rPr>
              <a:t>3. </a:t>
            </a:r>
            <a:r>
              <a:rPr lang="ru-RU" sz="4000" dirty="0" err="1">
                <a:latin typeface="Calibri" panose="020F0502020204030204" pitchFamily="34" charset="0"/>
                <a:cs typeface="Calibri" panose="020F0502020204030204" pitchFamily="34" charset="0"/>
              </a:rPr>
              <a:t>Гринхальх</a:t>
            </a:r>
            <a:r>
              <a:rPr lang="ru-RU" sz="4000" dirty="0">
                <a:latin typeface="Calibri" panose="020F0502020204030204" pitchFamily="34" charset="0"/>
                <a:cs typeface="Calibri" panose="020F0502020204030204" pitchFamily="34" charset="0"/>
              </a:rPr>
              <a:t> Т. Основы доказательной медицины: </a:t>
            </a:r>
            <a:r>
              <a:rPr lang="ru-RU" sz="4000" dirty="0" err="1">
                <a:latin typeface="Calibri" panose="020F0502020204030204" pitchFamily="34" charset="0"/>
                <a:cs typeface="Calibri" panose="020F0502020204030204" pitchFamily="34" charset="0"/>
              </a:rPr>
              <a:t>Пер.с</a:t>
            </a:r>
            <a:r>
              <a:rPr lang="ru-RU" sz="4000" dirty="0">
                <a:latin typeface="Calibri" panose="020F0502020204030204" pitchFamily="34" charset="0"/>
                <a:cs typeface="Calibri" panose="020F0502020204030204" pitchFamily="34" charset="0"/>
              </a:rPr>
              <a:t> англ.- М.:ГЭОТАР-Медиа, 2006.-</a:t>
            </a:r>
            <a:r>
              <a:rPr lang="ru-RU" sz="4000" dirty="0" smtClean="0">
                <a:latin typeface="Calibri" panose="020F0502020204030204" pitchFamily="34" charset="0"/>
                <a:cs typeface="Calibri" panose="020F0502020204030204" pitchFamily="34" charset="0"/>
              </a:rPr>
              <a:t>240 с</a:t>
            </a:r>
            <a:r>
              <a:rPr lang="ru-RU" sz="4000" dirty="0">
                <a:latin typeface="Calibri" panose="020F0502020204030204" pitchFamily="34" charset="0"/>
                <a:cs typeface="Calibri" panose="020F0502020204030204" pitchFamily="34" charset="0"/>
              </a:rPr>
              <a:t>.: ил.</a:t>
            </a:r>
          </a:p>
        </p:txBody>
      </p:sp>
      <p:pic>
        <p:nvPicPr>
          <p:cNvPr id="21" name="Рисунок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6372" y="23918779"/>
            <a:ext cx="9967795" cy="6930189"/>
          </a:xfrm>
          <a:prstGeom prst="rect">
            <a:avLst/>
          </a:prstGeom>
        </p:spPr>
      </p:pic>
      <p:pic>
        <p:nvPicPr>
          <p:cNvPr id="22" name="Рисунок 2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788535" y="23581895"/>
            <a:ext cx="9045930" cy="7267073"/>
          </a:xfrm>
          <a:prstGeom prst="rect">
            <a:avLst/>
          </a:prstGeom>
        </p:spPr>
      </p:pic>
      <p:pic>
        <p:nvPicPr>
          <p:cNvPr id="14" name="Рисунок 13"/>
          <p:cNvPicPr>
            <a:picLocks noChangeAspect="1"/>
          </p:cNvPicPr>
          <p:nvPr/>
        </p:nvPicPr>
        <p:blipFill>
          <a:blip r:embed="rId7"/>
          <a:stretch>
            <a:fillRect/>
          </a:stretch>
        </p:blipFill>
        <p:spPr>
          <a:xfrm>
            <a:off x="11848139" y="15159789"/>
            <a:ext cx="9177637" cy="6304547"/>
          </a:xfrm>
          <a:prstGeom prst="rect">
            <a:avLst/>
          </a:prstGeom>
        </p:spPr>
      </p:pic>
      <p:pic>
        <p:nvPicPr>
          <p:cNvPr id="11" name="Рисунок 10"/>
          <p:cNvPicPr>
            <a:picLocks noChangeAspect="1"/>
          </p:cNvPicPr>
          <p:nvPr/>
        </p:nvPicPr>
        <p:blipFill>
          <a:blip r:embed="rId8"/>
          <a:stretch>
            <a:fillRect/>
          </a:stretch>
        </p:blipFill>
        <p:spPr>
          <a:xfrm>
            <a:off x="21361967" y="22595305"/>
            <a:ext cx="11623844" cy="9089184"/>
          </a:xfrm>
          <a:prstGeom prst="rect">
            <a:avLst/>
          </a:prstGeom>
        </p:spPr>
      </p:pic>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1748</TotalTime>
  <Words>448</Words>
  <Application>Microsoft Office PowerPoint</Application>
  <PresentationFormat>Произвольный</PresentationFormat>
  <Paragraphs>34</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98</cp:revision>
  <dcterms:created xsi:type="dcterms:W3CDTF">2012-02-03T19:11:35Z</dcterms:created>
  <dcterms:modified xsi:type="dcterms:W3CDTF">2020-11-24T02:17:20Z</dcterms:modified>
  <cp:category>Research poster templates</cp:category>
</cp:coreProperties>
</file>